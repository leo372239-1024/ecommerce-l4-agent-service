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0" Type="http://schemas.openxmlformats.org/officeDocument/2006/relationships/presProps" Target="presProps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4" Type="http://schemas.openxmlformats.org/officeDocument/2006/relationships/slide" Target="slides/slide4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7" Type="http://schemas.openxmlformats.org/officeDocument/2006/relationships/slide" Target="slides/slide17.xml" /><Relationship Id="rId19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21" Type="http://schemas.openxmlformats.org/officeDocument/2006/relationships/tableStyles" Target="tableStyles.xml" /><Relationship Id="rId3" Type="http://schemas.openxmlformats.org/officeDocument/2006/relationships/slide" Target="slides/slide3.xml" /><Relationship Id="rId22" Type="http://schemas.openxmlformats.org/officeDocument/2006/relationships/viewProps" Target="viewProps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28.svg" /><Relationship Id="rId3" Type="http://schemas.openxmlformats.org/officeDocument/2006/relationships/image" Target="media/image2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5.svg" /><Relationship Id="rId5" Type="http://schemas.openxmlformats.org/officeDocument/2006/relationships/image" Target="media/image1.png" /><Relationship Id="rId2" Type="http://schemas.openxmlformats.org/officeDocument/2006/relationships/image" Target="media/image2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9.svg" /><Relationship Id="rId4" Type="http://schemas.openxmlformats.org/officeDocument/2006/relationships/image" Target="media/image28.svg" /><Relationship Id="rId2" Type="http://schemas.openxmlformats.org/officeDocument/2006/relationships/image" Target="media/image30.svg" /><Relationship Id="rId5" Type="http://schemas.openxmlformats.org/officeDocument/2006/relationships/image" Target="media/image1.png" /><Relationship Id="rId3" Type="http://schemas.openxmlformats.org/officeDocument/2006/relationships/image" Target="media/image31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2.svg" /><Relationship Id="rId2" Type="http://schemas.openxmlformats.org/officeDocument/2006/relationships/image" Target="media/image1.pn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1.png" /><Relationship Id="rId1" Type="http://schemas.openxmlformats.org/officeDocument/2006/relationships/image" Target="media/image33.svg" /></Relationships>
</file>

<file path=ppt/slides/_rels/slide10.xml.rels><?xml version="1.0" encoding="UTF-8" standalone="yes"?><Relationships xmlns="http://schemas.openxmlformats.org/package/2006/relationships"><Relationship Id="rId3" Type="http://schemas.openxmlformats.org/officeDocument/2006/relationships/image" Target="media/image1.png" /><Relationship Id="rId1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.svg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5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Relationship Id="rId3" Type="http://schemas.openxmlformats.org/officeDocument/2006/relationships/image" Target="media/image6.svg" /><Relationship Id="rId4" Type="http://schemas.openxmlformats.org/officeDocument/2006/relationships/image" Target="media/image7.svg" /><Relationship Id="rId5" Type="http://schemas.openxmlformats.org/officeDocument/2006/relationships/image" Target="media/image1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0.svg" /><Relationship Id="rId1" Type="http://schemas.openxmlformats.org/officeDocument/2006/relationships/image" Target="media/image8.svg" /><Relationship Id="rId2" Type="http://schemas.openxmlformats.org/officeDocument/2006/relationships/image" Target="media/image9.svg" /><Relationship Id="rId4" Type="http://schemas.openxmlformats.org/officeDocument/2006/relationships/image" Target="media/image11.svg" /><Relationship Id="rId5" Type="http://schemas.openxmlformats.org/officeDocument/2006/relationships/image" Target="media/image1.png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2" Type="http://schemas.openxmlformats.org/officeDocument/2006/relationships/image" Target="media/image13.svg" /></Relationships>
</file>

<file path=ppt/slides/_rels/slide14.xml.rels><?xml version="1.0" encoding="UTF-8" standalone="yes"?><Relationships xmlns="http://schemas.openxmlformats.org/package/2006/relationships"><Relationship Id="rId6" Type="http://schemas.openxmlformats.org/officeDocument/2006/relationships/image" Target="media/image19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Relationship Id="rId3" Type="http://schemas.openxmlformats.org/officeDocument/2006/relationships/image" Target="media/image16.svg" /><Relationship Id="rId2" Type="http://schemas.openxmlformats.org/officeDocument/2006/relationships/image" Target="media/image15.svg" /><Relationship Id="rId5" Type="http://schemas.openxmlformats.org/officeDocument/2006/relationships/image" Target="media/image18.svg" /><Relationship Id="rId4" Type="http://schemas.openxmlformats.org/officeDocument/2006/relationships/image" Target="media/image17.svg" /><Relationship Id="rId7" Type="http://schemas.openxmlformats.org/officeDocument/2006/relationships/image" Target="media/image1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Relationship Id="rId2" Type="http://schemas.openxmlformats.org/officeDocument/2006/relationships/image" Target="media/image1.png" /></Relationships>
</file>

<file path=ppt/slides/_rels/slide16.xml.rels><?xml version="1.0" encoding="UTF-8" standalone="yes"?><Relationships xmlns="http://schemas.openxmlformats.org/package/2006/relationships"><Relationship Id="rId4" Type="http://schemas.openxmlformats.org/officeDocument/2006/relationships/image" Target="media/image1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Relationship Id="rId2" Type="http://schemas.openxmlformats.org/officeDocument/2006/relationships/image" Target="media/image22.svg" /><Relationship Id="rId3" Type="http://schemas.openxmlformats.org/officeDocument/2006/relationships/image" Target="media/image23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4.svg" /><Relationship Id="rId2" Type="http://schemas.openxmlformats.org/officeDocument/2006/relationships/image" Target="media/image1.png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position: 'relative', fontFamily: 'Segoe UI', padding: 0 }}&gt;&#10;    {/* A top dark-blue bar */}&#10;    &lt;Box style={{ position: 'absolute', top: 0, left: 0, width: 1280, height: 64, background: '#0E3F8C', flexDirection: 'row', alignItems: 'center', justifyContent: 'space-between', padding: '0 0 0 40px' }}&gt;&#10;        &lt;Text style={{ fontSize: 18, color: '#FFFFFF', letterSpacing: 2 }}&gt;Network Computing and Edge Intelligence&lt;/Text&gt;&#10;        &lt;Box style={{ flexDirection: 'row', alignItems: 'center' }}&gt;&#10;            &lt;Text style={{ fontSize: 16, color: '#B9CDEA', letterSpacing: 1, marginRight: 22 }}&gt;Course Project Proposal Defens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left vertical accent */}&#10;    &lt;Box style={{ position: 'absolute', top: 64, left: 0, width: 10, height: 568, background: '#1E4FA8' }} /&gt;&#10;    {/* top-right light-blue decorative arc */}&#10;    &lt;Box style={{ position: 'absolute', top: 64, right: 0, width: 300, height: 260, background: '#F0F5FC', borderBottomLeftRadius: 260 }} /&gt;&#10;&#10;    {/* cover body */}&#10;    &lt;Box style={{ position: 'absolute', top: 132, left: 84, width: 1120, flexDirection: 'column' }}&gt;&#10;        &lt;Box style={{ flexDirection: 'row', alignItems: 'center', gap: 12, height: 36 }}&gt;&#10;            &lt;Box style={{ padding: '6px 20px', background: '#E8EFF8', borderRadius: 18, border: '1px solid #C9DCF5' }}&gt;&#10;                &lt;Text style={{ fontSize: 17, color: '#1E4FA8', fontWeight: 'bold', letterSpacing: 1 }}&gt;Course Project Proposal Defense&lt;/Text&gt;&#10;            &lt;/Box&gt;&#10;            &lt;Text style={{ fontSize: 16, color: '#8B97A8' }}&gt;Research Proposal Defense&lt;/Text&gt;&#10;        &lt;/Box&gt;&#10;&#10;        &lt;Text style={{ fontSize: 52, fontWeight: 'bold', color: '#0E3F8C', lineHeight: 1.25, marginTop: 22 }}&gt;L4 Intelligent Customer Service&lt;br /&gt;Agent System for E-Commerce&lt;/Text&gt;&#10;&#10;        &lt;Text style={{ fontFamily: 'Times New Roman', fontSize: 23, color: '#3D7BD9', lineHeight: 1.5, marginTop: 10 }}&gt;A Verifiable Execution Loop for High-Risk After-Sales Tasks&lt;/Text&gt;&#10;&#10;        &lt;Box style={{ width: 140, height: 5, background: '#1E4FA8', borderRadius: 3, marginTop: 26 }} /&gt;&#10;&#10;        &lt;Box style={{ flexDirection: 'row', gap: 56, marginTop: 34 }}&gt;&#10;            &lt;Box style={{ flexDirection: 'column', gap: 18 }}&gt;&#10;                &lt;Box style={{ flexDirection: 'row', gap: 10 }}&gt;&#10;                    &lt;Text style={{ fontSize: 18, color: '#8B97A8', width: 116 }}&gt;Presenter&lt;/Text&gt;&#10;                    &lt;Text style={{ fontSize: 22, color: '#1A2230', fontWeight: 'bold' }}&gt;Zhang Fan&lt;/Text&gt;&#10;                &lt;/Box&gt;&#10;                &lt;Box style={{ flexDirection: 'row', gap: 10 }}&gt;&#10;                    &lt;Text style={{ fontSize: 18, color: '#8B97A8', width: 116 }}&gt;Supervisor&lt;/Text&gt;&#10;                    &lt;Text style={{ fontSize: 22, color: '#1A2230', fontWeight: 'bold' }}&gt;Prof. Gao Bo&lt;/Text&gt;&#10;                &lt;/Box&gt;&#10;            &lt;/Box&gt;&#10;            &lt;Box style={{ flexDirection: 'column', gap: 18 }}&gt;&#10;                &lt;Box style={{ flexDirection: 'row', gap: 10 }}&gt;&#10;                    &lt;Text style={{ fontSize: 18, color: '#8B97A8', width: 116 }}&gt;Team&lt;/Text&gt;&#10;                    &lt;Text style={{ fontSize: 22, color: '#1A2230' }}&gt;Wang Fuxiang · Cao Shutong · Zhang Fan&lt;/Text&gt;&#10;                &lt;/Box&gt;&#10;                &lt;Box style={{ flexDirection: 'row', gap: 10 }}&gt;&#10;                    &lt;Text style={{ fontSize: 18, color: '#8B97A8', width: 116 }}&gt;Program&lt;/Text&gt;&#10;                    &lt;Text style={{ fontSize: 22, color: '#1A2230' }}&gt;Software Engineering (Professional Master)&lt;/Text&gt;&#10;                &lt;/Box&gt;&#10;            &lt;/Box&gt;&#10;        &lt;/Box&gt;&#10;    &lt;/Box&gt;&#10;&#10;    {/* bottom info bar */}&#10;    &lt;Box style={{ position: 'absolute', bottom: 0, left: 0, width: 1280, height: 88, background: '#F7F9FC', borderTop: '1px solid #D6DCE5', flexDirection: 'row', alignItems: 'center', justifyContent: 'space-between', padding: '0 44px' }}&gt;&#10;        &lt;Text style={{ fontSize: 18, color: '#4A5568', letterSpacing: 1 }}&gt;Beijing Jiaotong University · Software Engineering (Professional Master)&lt;/Text&gt;&#10;        &lt;Text style={{ fontSize: 18, color: '#0E3F8C', fontWeight: 'bold', letterSpacing: 1 }}&gt;October 20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381000" y="200025"/>
            <a:ext cx="396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7686675" y="209550"/>
            <a:ext cx="2486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B9CDEA"/>
                </a:solidFill>
                <a:latin typeface="Segoe UI"/>
                <a:ea typeface="Segoe UI"/>
              </a:rPr>
              <a:t>Course Project Proposal Defense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" name=""/>
          <p:cNvSpPr/>
          <p:nvPr/>
        </p:nvSpPr>
        <p:spPr>
          <a:xfrm rot="0" flipH="0" flipV="0">
            <a:off x="0" y="609600"/>
            <a:ext cx="95250" cy="5410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9334500" y="609600"/>
            <a:ext cx="2857500" cy="2476500"/>
          </a:xfrm>
          <a:custGeom>
            <a:pathLst>
              <a:path w="300" h="260">
                <a:moveTo>
                  <a:pt x="0" y="0"/>
                </a:moveTo>
                <a:lnTo>
                  <a:pt x="300" y="0"/>
                </a:lnTo>
                <a:lnTo>
                  <a:pt x="300" y="0"/>
                </a:lnTo>
                <a:lnTo>
                  <a:pt x="300" y="260"/>
                </a:lnTo>
                <a:lnTo>
                  <a:pt x="300" y="260"/>
                </a:lnTo>
                <a:lnTo>
                  <a:pt x="260" y="260"/>
                </a:lnTo>
                <a:cubicBezTo>
                  <a:pt x="117" y="260"/>
                  <a:pt x="0" y="143"/>
                  <a:pt x="0" y="0"/>
                </a:cubicBez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800100" y="1276350"/>
            <a:ext cx="3152775" cy="314325"/>
          </a:xfrm>
          <a:prstGeom prst="roundRect">
            <a:avLst>
              <a:gd name="adj" fmla="val 54545"/>
            </a:avLst>
          </a:prstGeom>
          <a:solidFill>
            <a:srgbClr val="E8EFF8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990600" y="1333500"/>
            <a:ext cx="2771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75">
                <a:solidFill>
                  <a:srgbClr val="1E4FA8"/>
                </a:solidFill>
                <a:latin typeface="Segoe UI"/>
                <a:ea typeface="Segoe UI"/>
              </a:rPr>
              <a:t>Course Project Proposal Defense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067175" y="1333500"/>
            <a:ext cx="1819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8B97A8"/>
                </a:solidFill>
                <a:latin typeface="Segoe UI"/>
                <a:ea typeface="Segoe UI"/>
              </a:rPr>
              <a:t>Research Proposal Defense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00100" y="1809750"/>
            <a:ext cx="10668000" cy="14859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0E3F8C"/>
                </a:solidFill>
                <a:latin typeface="Segoe UI"/>
                <a:ea typeface="Segoe UI"/>
              </a:rPr>
              <a:t>L4 Intelligent Customer Service</a:t>
            </a:r>
            <a:endParaRPr/>
          </a:p>
          <a:p>
            <a:pPr>
              <a:lnSpc>
                <a:spcPct val="125000"/>
              </a:lnSpc>
            </a:pPr>
            <a:r>
              <a:rPr lang="en-US" sz="3900" b="1">
                <a:solidFill>
                  <a:srgbClr val="0E3F8C"/>
                </a:solidFill>
                <a:latin typeface="Segoe UI"/>
                <a:ea typeface="Segoe UI"/>
              </a:rPr>
              <a:t>Agent System for E-Commerce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800100" y="3390900"/>
            <a:ext cx="10668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3D7BD9"/>
                </a:solidFill>
                <a:latin typeface="Times New Roman"/>
                <a:ea typeface="Times New Roman"/>
              </a:rPr>
              <a:t>A Verifiable Execution Loop for High-Risk After-Sales Tasks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800100" y="4038600"/>
            <a:ext cx="1333500" cy="47625"/>
          </a:xfrm>
          <a:prstGeom prst="roundRect">
            <a:avLst>
              <a:gd name="adj" fmla="val 6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00100" y="4410075"/>
            <a:ext cx="110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Segoe UI"/>
                <a:ea typeface="Segoe UI"/>
              </a:rPr>
              <a:t>Presenter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2000250" y="4410075"/>
            <a:ext cx="1028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egoe UI"/>
                <a:ea typeface="Segoe UI"/>
              </a:rPr>
              <a:t>Zhang Fan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00100" y="4838700"/>
            <a:ext cx="110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Segoe UI"/>
                <a:ea typeface="Segoe UI"/>
              </a:rPr>
              <a:t>Supervisor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2000250" y="4838700"/>
            <a:ext cx="1238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egoe UI"/>
                <a:ea typeface="Segoe UI"/>
              </a:rPr>
              <a:t>Prof. Gao Bo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771900" y="4410075"/>
            <a:ext cx="110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Segoe UI"/>
                <a:ea typeface="Segoe UI"/>
              </a:rPr>
              <a:t>Team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4972050" y="4410075"/>
            <a:ext cx="3800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Segoe UI"/>
                <a:ea typeface="Segoe UI"/>
              </a:rPr>
              <a:t>Wang Fuxiang · Cao Shutong · Zhang Fan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771900" y="4838700"/>
            <a:ext cx="110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B97A8"/>
                </a:solidFill>
                <a:latin typeface="Segoe UI"/>
                <a:ea typeface="Segoe UI"/>
              </a:rPr>
              <a:t>Program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4972050" y="4838700"/>
            <a:ext cx="397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1A2230"/>
                </a:solidFill>
                <a:latin typeface="Segoe UI"/>
                <a:ea typeface="Segoe UI"/>
              </a:rPr>
              <a:t>Software Engineering (Professional Master)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6029325"/>
            <a:ext cx="12192000" cy="8286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0" y="6019800"/>
            <a:ext cx="12192000" cy="838200"/>
          </a:xfrm>
          <a:custGeom>
            <a:pathLst>
              <a:path w="1280" h="88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19100" y="6343650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75">
                <a:solidFill>
                  <a:srgbClr val="4A556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0563225" y="6343650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75">
                <a:solidFill>
                  <a:srgbClr val="0E3F8C"/>
                </a:solidFill>
                <a:latin typeface="Segoe UI"/>
                <a:ea typeface="Segoe UI"/>
              </a:rPr>
              <a:t>October 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28" name="" descr="&lt;Slide style={{ width: 1280, height: 720, background: '#FFFFFF', fontFamily: 'Segoe UI', padding: 0, flexDirection: 'row' }}&gt;&#10;    {/* left dark-blue navigation panel */}&#10;    &lt;Box style={{ width: 380, height: 720, background: '#0E3F8C', flexDirection: 'column', justifyContent: 'center', padding: '0 48px' }}&gt;&#10;        &lt;Text style={{ fontSize: 46, fontWeight: 'bold', color: '#FFFFFF', letterSpacing: 8 }}&gt;Contents&lt;/Text&gt;&#10;        &lt;Text style={{ fontFamily: 'Times New Roman', fontSize: 18, color: '#B9CDEA', letterSpacing: 3, marginTop: 12 }}&gt;CONTENTS&lt;/Text&gt;&#10;        &lt;Box style={{ width: 64, height: 4, background: '#3D7BD9', borderRadius: 2, marginTop: 24 }} /&gt;&#10;        &lt;Text style={{ fontSize: 17, color: '#B9CDEA', lineHeight: 1.9, marginTop: 30 }}&gt;Starting from the rationale&lt;br /&gt;and the core ideas, we present&lt;br /&gt;content, approach, outcomes&lt;br /&gt;and the implementation plan.&lt;/Text&gt;&#10;        &lt;Text style={{ fontFamily: 'Times New Roman', fontSize: 14, color: '#7FA3D6', letterSpacing: 1, marginTop: 46 }}&gt;E-Commerce L4 Agent · 2026&lt;/Text&gt;&#10;    &lt;/Box&gt;&#10;&#10;    {/* right six navigation cards */}&#10;    &lt;Box style={{ flex: 1, height: 720, position: 'relative', padding: '92px 44px 0 72px' }}&gt;&#10;        &lt;Box style={{ flexDirection: 'row', flexWrap: 'wrap', gap: 20, height: 540 }}&gt;&#10;            &lt;Box style={{ width: 382, height: 166, background: '#F7F9FC', border: '1px solid #E5E7EB', borderRadius: 10, padding: '16px 20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1&lt;/Text&gt;&#10;                    &lt;/Box&gt;&#10;                    &lt;Text style={{ fontSize: 19, fontWeight: 'bold', color: '#0E3F8C' }}&gt;Project Rationale&lt;/Text&gt;&#10;                &lt;/Box&gt;&#10;                &lt;Text style={{ fontSize: 15, color: '#4A5568', lineHeight: 1.6, marginTop: 12 }}&gt;Market scale and demand growth; capability gaps and the engineering pain points to be solved&lt;/Text&gt;&#10;            &lt;/Box&gt;&#10;&#10;            &lt;Box style={{ width: 382, height: 166, background: '#F7F9FC', border: '1px solid #E5E7EB', borderRadius: 10, padding: '16px 20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2&lt;/Text&gt;&#10;                    &lt;/Box&gt;&#10;                    &lt;Text style={{ fontSize: 19, fontWeight: 'bold', color: '#0E3F8C' }}&gt;Theme and Core Ideas&lt;/Text&gt;&#10;                &lt;/Box&gt;&#10;                &lt;Text style={{ fontSize: 15, color: '#4A5568', lineHeight: 1.6, marginTop: 12 }}&gt;Project positioning, core ideas and differentiators; research goals and content breakdown&lt;/Text&gt;&#10;            &lt;/Box&gt;&#10;&#10;            &lt;Box style={{ width: 382, height: 166, background: '#F7F9FC', border: '1px solid #E5E7EB', borderRadius: 10, padding: '16px 20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3&lt;/Text&gt;&#10;                    &lt;/Box&gt;&#10;                    &lt;Text style={{ fontSize: 19, fontWeight: 'bold', color: '#0E3F8C' }}&gt;Research Content and Approach&lt;/Text&gt;&#10;                &lt;/Box&gt;&#10;                &lt;Text style={{ fontSize: 15, color: '#4A5568', lineHeight: 1.6, marginTop: 12 }}&gt;Overall architecture, process design, technology selection and deployment shape&lt;/Text&gt;&#10;            &lt;/Box&gt;&#10;&#10;            &lt;Box style={{ width: 382, height: 166, background: '#F7F9FC', border: '1px solid #E5E7EB', borderRadius: 10, padding: '16px 20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4&lt;/Text&gt;&#10;                    &lt;/Box&gt;&#10;                    &lt;Text style={{ fontSize: 19, fontWeight: 'bold', color: '#0E3F8C' }}&gt;Key Technologies and Security&lt;/Text&gt;&#10;                &lt;/Box&gt;&#10;                &lt;Text style={{ fontSize: 15, color: '#4A5568', lineHeight: 1.6, marginTop: 12 }}&gt;Four key technical directions, plus permission, isolation and trust-boundary design&lt;/Text&gt;&#10;            &lt;/Box&gt;&#10;&#10;            &lt;Box style={{ width: 382, height: 166, background: '#F7F9FC', border: '1px solid #E5E7EB', borderRadius: 10, padding: '16px 20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5&lt;/Text&gt;&#10;                    &lt;/Box&gt;&#10;                    &lt;Text style={{ fontSize: 19, fontWeight: 'bold', color: '#0E3F8C' }}&gt;Expected Outcomes and Metrics&lt;/Text&gt;&#10;                &lt;/Box&gt;&#10;                &lt;Text style={{ fontSize: 15, color: '#4A5568', lineHeight: 1.6, marginTop: 12 }}&gt;Expected technical outcomes, quantified targets and controlled-experiment design&lt;/Text&gt;&#10;            &lt;/Box&gt;&#10;&#10;            &lt;Box style={{ width: 382, height: 166, background: '#F7F9FC', border: '1px solid #E5E7EB', borderRadius: 10, padding: '16px 20px', flexDirection: 'column' }}&gt;&#10;                &lt;Box style={{ flexDirection: 'row', alignItems: 'center', gap: 12 }}&gt;&#10;                    &lt;Box style={{ width: 38, height: 38, borderRadius: 8, background: '#1E4FA8', justifyContent: 'center', alignItems: 'center' }}&gt;&#10;                        &lt;Text style={{ fontSize: 19, fontWeight: 'bold', color: '#FFFFFF' }}&gt;06&lt;/Text&gt;&#10;                    &lt;/Box&gt;&#10;                    &lt;Text style={{ fontSize: 19, fontWeight: 'bold', color: '#0E3F8C' }}&gt;Feasibility and Plan&lt;/Text&gt;&#10;                &lt;/Box&gt;&#10;                &lt;Text style={{ fontSize: 15, color: '#4A5568', lineHeight: 1.6, marginTop: 12 }}&gt;Technical and resource feasibility, phased plan, milestones and team roles&lt;/Text&gt;&#10;            &lt;/Box&gt;&#10;        &lt;/Box&gt;&#10;&#10;        &lt;Box style={{ position: 'absolute', top: 20, right: 44 }}&gt;&#10;            &lt;Image src=&quot;assets/bjtu_logo.png&quot; style={{ width: 158, height: 46, objectFit: 'contain' }} /&gt;&#10;        &lt;/Box&gt;&#10;&#10;        &lt;Box style={{ position: 'absolute', bottom: 24, right: 44 }}&gt;&#10;            &lt;Text style={{ fontSize: 15, color: '#0E3F8C', fontWeight: 'bold' }}&gt;02 / 18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0" y="0"/>
            <a:ext cx="3619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457200" y="1685925"/>
            <a:ext cx="27051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 spc="600">
                <a:solidFill>
                  <a:srgbClr val="FFFFFF"/>
                </a:solidFill>
                <a:latin typeface="Segoe UI"/>
                <a:ea typeface="Segoe UI"/>
              </a:rPr>
              <a:t>Contents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457200" y="2333625"/>
            <a:ext cx="2705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225">
                <a:solidFill>
                  <a:srgbClr val="B9CDEA"/>
                </a:solidFill>
                <a:latin typeface="Times New Roman"/>
                <a:ea typeface="Times New Roman"/>
              </a:rPr>
              <a:t>CONTENTS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457200" y="2771775"/>
            <a:ext cx="609600" cy="38100"/>
          </a:xfrm>
          <a:prstGeom prst="roundRect">
            <a:avLst>
              <a:gd name="adj" fmla="val 5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57200" y="3095625"/>
            <a:ext cx="2705100" cy="148590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75">
                <a:solidFill>
                  <a:srgbClr val="B9CDEA"/>
                </a:solidFill>
                <a:latin typeface="Segoe UI"/>
                <a:ea typeface="Segoe UI"/>
              </a:rPr>
              <a:t>Starting from the rationale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B9CDEA"/>
                </a:solidFill>
                <a:latin typeface="Segoe UI"/>
                <a:ea typeface="Segoe UI"/>
              </a:rPr>
              <a:t>and the core ideas, we present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B9CDEA"/>
                </a:solidFill>
                <a:latin typeface="Segoe UI"/>
                <a:ea typeface="Segoe UI"/>
              </a:rPr>
              <a:t>content, approach, outcomes</a:t>
            </a:r>
            <a:endParaRPr/>
          </a:p>
          <a:p>
            <a:pPr>
              <a:lnSpc>
                <a:spcPct val="190000"/>
              </a:lnSpc>
            </a:pPr>
            <a:r>
              <a:rPr lang="en-US" sz="1275">
                <a:solidFill>
                  <a:srgbClr val="B9CDEA"/>
                </a:solidFill>
                <a:latin typeface="Segoe UI"/>
                <a:ea typeface="Segoe UI"/>
              </a:rPr>
              <a:t>and the implementation plan.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57200" y="5019675"/>
            <a:ext cx="2705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7FA3D6"/>
                </a:solidFill>
                <a:latin typeface="Times New Roman"/>
                <a:ea typeface="Times New Roman"/>
              </a:rPr>
              <a:t>E-Commerce L4 Agent · 2026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305300" y="876300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4495800" y="10287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4572000" y="1104900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egoe UI"/>
                <a:ea typeface="Segoe UI"/>
              </a:rPr>
              <a:t>01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972050" y="1104900"/>
            <a:ext cx="1457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egoe UI"/>
                <a:ea typeface="Segoe UI"/>
              </a:rPr>
              <a:t>Project Rationale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4495800" y="1504950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Market scale and demand growth; capability gaps and the engineering pain points to be solved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8134350" y="876300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2" name=""/>
          <p:cNvSpPr/>
          <p:nvPr/>
        </p:nvSpPr>
        <p:spPr>
          <a:xfrm rot="0" flipH="0" flipV="0">
            <a:off x="8324850" y="1028700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8401050" y="1104900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egoe UI"/>
                <a:ea typeface="Segoe UI"/>
              </a:rPr>
              <a:t>02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8801100" y="1104900"/>
            <a:ext cx="1885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egoe UI"/>
                <a:ea typeface="Segoe UI"/>
              </a:rPr>
              <a:t>Theme and Core Ideas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24850" y="1504950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Project positioning, core ideas and differentiators; research goals and content breakdown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305300" y="265747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47" name=""/>
          <p:cNvSpPr/>
          <p:nvPr/>
        </p:nvSpPr>
        <p:spPr>
          <a:xfrm rot="0" flipH="0" flipV="0">
            <a:off x="4495800" y="280987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4572000" y="288607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egoe UI"/>
                <a:ea typeface="Segoe UI"/>
              </a:rPr>
              <a:t>03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972050" y="2886075"/>
            <a:ext cx="2733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egoe UI"/>
                <a:ea typeface="Segoe UI"/>
              </a:rPr>
              <a:t>Research Content and Approach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4495800" y="3286125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Overall architecture, process design, technology selection and deployment shape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8134350" y="265747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2" name=""/>
          <p:cNvSpPr/>
          <p:nvPr/>
        </p:nvSpPr>
        <p:spPr>
          <a:xfrm rot="0" flipH="0" flipV="0">
            <a:off x="8324850" y="280987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401050" y="288607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egoe UI"/>
                <a:ea typeface="Segoe UI"/>
              </a:rPr>
              <a:t>04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801100" y="2886075"/>
            <a:ext cx="2581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egoe UI"/>
                <a:ea typeface="Segoe UI"/>
              </a:rPr>
              <a:t>Key Technologies and Security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24850" y="3286125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Four key technical directions, plus permission, isolation and trust-boundary design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4305300" y="442912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7" name=""/>
          <p:cNvSpPr/>
          <p:nvPr/>
        </p:nvSpPr>
        <p:spPr>
          <a:xfrm rot="0" flipH="0" flipV="0">
            <a:off x="4495800" y="45815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572000" y="46577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egoe UI"/>
                <a:ea typeface="Segoe UI"/>
              </a:rPr>
              <a:t>05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4972050" y="4657725"/>
            <a:ext cx="2733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egoe UI"/>
                <a:ea typeface="Segoe UI"/>
              </a:rPr>
              <a:t>Expected Outcomes and Metrics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495800" y="5057775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Expected technical outcomes, quantified targets and controlled-experiment design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8134350" y="4429125"/>
            <a:ext cx="3638550" cy="1581150"/>
          </a:xfrm>
          <a:prstGeom prst="roundRect">
            <a:avLst>
              <a:gd name="adj" fmla="val 602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62" name=""/>
          <p:cNvSpPr/>
          <p:nvPr/>
        </p:nvSpPr>
        <p:spPr>
          <a:xfrm rot="0" flipH="0" flipV="0">
            <a:off x="8324850" y="4581525"/>
            <a:ext cx="361950" cy="361950"/>
          </a:xfrm>
          <a:prstGeom prst="roundRect">
            <a:avLst>
              <a:gd name="adj" fmla="val 21053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401050" y="46577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egoe UI"/>
                <a:ea typeface="Segoe UI"/>
              </a:rPr>
              <a:t>06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8801100" y="4657725"/>
            <a:ext cx="16478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E3F8C"/>
                </a:solidFill>
                <a:latin typeface="Segoe UI"/>
                <a:ea typeface="Segoe UI"/>
              </a:rPr>
              <a:t>Feasibility and Plan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324850" y="5057775"/>
            <a:ext cx="32575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Technical and resource feasibility, phased plan, milestones and team roles</a:t>
            </a:r>
            <a:endParaRPr/>
          </a:p>
        </p:txBody>
      </p:sp>
      <p:pic>
        <p:nvPicPr>
          <p:cNvPr id="466" name=""/>
          <p:cNvPicPr>
            <a:picLocks noChangeAspect="1"/>
          </p:cNvPicPr>
          <p:nvPr/>
        </p:nvPicPr>
        <p:blipFill>
          <a:blip r:embed="rId1"/>
          <a:srcRect l="141" t="0" r="141" b="0"/>
          <a:stretch>
            <a:fillRect/>
          </a:stretch>
        </p:blipFill>
        <p:spPr>
          <a:xfrm rot="0" flipH="0" flipV="0">
            <a:off x="10267950" y="190500"/>
            <a:ext cx="1504950" cy="438150"/>
          </a:xfrm>
          <a:prstGeom prst="rect">
            <a:avLst/>
          </a:prstGeom>
          <a:ln/>
        </p:spPr>
      </p:pic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296650" y="645795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68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Project Rationale: Market Demand and Capability Gaps&lt;/Text&gt;&#10;        &lt;Text style={{ fontSize: 15, color: '#8B97A8', marginLeft: 'auto' }}&gt;01 / 06&lt;/Text&gt;&#10;    &lt;/Box&gt;&#10;&#10;    {/* C content */}&#10;    &lt;Box style={{ flexDirection: 'column', gap: 20, marginTop: 16, height: 520 }}&gt;&#10;        &lt;Box style={{ flexDirection: 'row', gap: 20, height: 400 }}&gt;&#10;            {/* left: market background */}&#10;            &lt;Box style={{ width: 480, background: '#F7F9FC', border: '1px solid #D6DCE5', borderRadius: 10, padding: '22px 26px', flexDirection: 'column' }}&gt;&#10;                &lt;Box style={{ flexDirection: 'row', alignItems: 'center', gap: 10 }}&gt;&#10;                    &lt;Box style={{ width: 4, height: 20, background: '#1E4FA8', borderRadius: 2 }} /&gt;&#10;                    &lt;Text style={{ fontSize: 25, fontWeight: 'bold', color: '#0E3F8C' }}&gt;Industry Background&lt;/Text&gt;&#10;                    &lt;Text style={{ fontSize: 14, color: '#8B97A8', marginLeft: 'auto' }}&gt;Demand growth&lt;/Text&gt;&#10;                &lt;/Box&gt;&#10;                &lt;Text style={{ fontSize: 17, color: '#4A5568', lineHeight: 1.7, marginTop: 10 }}&gt;Enterprise-grade customer service is now procured at scale; market size and growth are both high.&lt;/Text&gt;&#10;&#10;                &lt;Box style={{ marginTop: 12 }}&gt;&#10;                    &lt;Text style={{ fontSize: 74, fontWeight: 'bold', color: '#1E4FA8', lineHeight: 1 }}&gt;71.9&lt;/Text&gt;&#10;                    &lt;Text style={{ fontSize: 22, color: '#1A2230', fontWeight: 'bold', marginTop: 6 }}&gt;× 100M RMB&lt;/Text&gt;&#10;                    &lt;Text style={{ fontSize: 15, color: '#8B97A8', marginTop: 4 }}&gt;China enterprise customer service market, 2025&lt;/Text&gt;&#10;                &lt;/Box&gt;&#10;&#10;                &lt;Box style={{ flexDirection: 'row', alignItems: 'baseline', gap: 12, marginTop: 12 }}&gt;&#10;                    &lt;Text style={{ fontSize: 44, fontWeight: 'bold', color: '#D9534F', lineHeight: 1 }}&gt;+55.3%&lt;/Text&gt;&#10;                    &lt;Text style={{ fontSize: 17, color: '#4A5568' }}&gt;year on year&lt;/Text&gt;&#10;                &lt;/Box&gt;&#10;                &lt;Text style={{ fontSize: 14, color: '#8B97A8', marginTop: 'auto' }}&gt;Source: IDC data (reported 2026)&lt;/Text&gt;&#10;            &lt;/Box&gt;&#10;&#10;            {/* right: problem redefinition */}&#10;            &lt;Box style={{ width: 700, background: '#FFFFFF', border: '1px solid #D6DCE5', borderRadius: 10, padding: '22px 26px', flexDirection: 'column' }}&gt;&#10;                &lt;Box style={{ flexDirection: 'row', alignItems: 'center', gap: 10 }}&gt;&#10;                    &lt;Box style={{ width: 4, height: 20, background: '#1E4FA8', borderRadius: 2 }} /&gt;&#10;                    &lt;Text style={{ fontSize: 25, fontWeight: 'bold', color: '#0E3F8C' }}&gt;Problem Redefinition&lt;/Text&gt;&#10;                    &lt;Text style={{ fontSize: 14, color: '#8B97A8', marginLeft: 'auto' }}&gt;Capability gap&lt;/Text&gt;&#10;                &lt;/Box&gt;&#10;                &lt;Text style={{ fontSize: 17, color: '#4A5568', lineHeight: 1.7, marginTop: 12 }}&gt;Mature vendors have solved “the agent can answer”; “the agent can complete the task” still shows an engineering gap.&lt;/Text&gt;&#10;&#10;                &lt;Box style={{ flexDirection: 'row', gap: 14, marginTop: 16 }}&gt;&#10;                    &lt;Box style={{ flex: 1, background: '#F0F5FC', borderRadius: 8, padding: '14px 16px', borderLeft: '4px solid #3D7BD9' }}&gt;&#10;                        &lt;Text style={{ fontSize: 18, fontWeight: 'bold', color: '#1E4FA8' }}&gt;Largely solved&lt;/Text&gt;&#10;                        &lt;Text style={{ fontSize: 16, color: '#4A5568', lineHeight: 1.6, marginTop: 6 }}&gt;FAQ answering, retrieval,&lt;br /&gt;single-turn queries — can answer&lt;/Text&gt;&#10;                    &lt;/Box&gt;&#10;                    &lt;Box style={{ flex: 1, background: '#FDF3F3', borderRadius: 8, padding: '14px 16px', borderLeft: '4px solid #D9534F' }}&gt;&#10;                        &lt;Text style={{ fontSize: 18, fontWeight: 'bold', color: '#D9534F' }}&gt;Still a gap&lt;/Text&gt;&#10;                        &lt;Text style={{ fontSize: 16, color: '#4A5568', lineHeight: 1.6, marginTop: 6 }}&gt;Refunds, cancellations, other&lt;br /&gt;high-risk writes — cannot verify&lt;/Text&gt;&#10;                    &lt;/Box&gt;&#10;                &lt;/Box&gt;&#10;&#10;                &lt;Box style={{ background: '#F7F9FC', borderRadius: 8, padding: '12px 16px', marginTop: 16, border: '1px solid #E5E7EB' }}&gt;&#10;                    &lt;Text style={{ fontSize: 16, color: '#4A5568', lineHeight: 1.6 }}&gt;CAICT's Agent Technology and Application Research Report (2025) lists cognitive planning, scenario innovation and security governance as open challenges.&lt;/Text&gt;&#10;                &lt;/Box&gt;&#10;            &lt;/Box&gt;&#10;        &lt;/Box&gt;&#10;&#10;        {/* bottom conclusion bar */}&#10;        &lt;Box style={{ height: 100, background: '#0E3F8C', borderRadius: 10, padding: '0 28px', flexDirection: 'row', alignItems: 'center', gap: 20 }}&gt;&#10;            &lt;Text style={{ fontSize: 40, fontWeight: 'bold', color: '#3D7BD9', fontFamily: 'Times New Roman', lineHeight: 1 }}&gt;Q&lt;/Text&gt;&#10;            &lt;Text style={{ fontSize: 17, color: '#FFFFFF', lineHeight: 1.65 }}&gt;Research question: how to organize &lt;b&gt;identity permissions, current evidence, customer authorization, supervisor approval, transactional idempotency and receipt reconciliation&lt;/b&gt; into a verifiable, auditable and recoverable execution loop for high-risk after-sales tasks.&lt;/Text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3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0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835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Project Rationale: Market Demand and Capability Gaps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01 / 06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81000" y="1371600"/>
            <a:ext cx="457200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74" name=""/>
          <p:cNvSpPr/>
          <p:nvPr/>
        </p:nvSpPr>
        <p:spPr>
          <a:xfrm rot="0" flipH="0" flipV="0">
            <a:off x="628650" y="1628775"/>
            <a:ext cx="381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762000" y="1581150"/>
            <a:ext cx="23622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3F8C"/>
                </a:solidFill>
                <a:latin typeface="Segoe UI"/>
                <a:ea typeface="Segoe UI"/>
              </a:rPr>
              <a:t>Industry Background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743325" y="1647825"/>
            <a:ext cx="9620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Demand growth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628650" y="1962150"/>
            <a:ext cx="40767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Segoe UI"/>
                <a:ea typeface="Segoe UI"/>
              </a:rPr>
              <a:t>Enterprise-grade customer service is now procured at scale; market size and growth are both high.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28650" y="2743200"/>
            <a:ext cx="4076700" cy="8477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550" b="1">
                <a:solidFill>
                  <a:srgbClr val="1E4FA8"/>
                </a:solidFill>
                <a:latin typeface="Segoe UI"/>
                <a:ea typeface="Segoe UI"/>
              </a:rPr>
              <a:t>71.9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628650" y="3648075"/>
            <a:ext cx="4076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A2230"/>
                </a:solidFill>
                <a:latin typeface="Segoe UI"/>
                <a:ea typeface="Segoe UI"/>
              </a:rPr>
              <a:t>× 100M RMB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628650" y="3943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China enterprise customer service market, 2025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28650" y="4229100"/>
            <a:ext cx="150495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534F"/>
                </a:solidFill>
                <a:latin typeface="Segoe UI"/>
                <a:ea typeface="Segoe UI"/>
              </a:rPr>
              <a:t>+55.3%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2247900" y="4229100"/>
            <a:ext cx="8858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4A5568"/>
                </a:solidFill>
                <a:latin typeface="Segoe UI"/>
                <a:ea typeface="Segoe UI"/>
              </a:rPr>
              <a:t>year on year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28650" y="481012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Source: IDC data (reported 2026)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5143500" y="1371600"/>
            <a:ext cx="6667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5391150" y="1628775"/>
            <a:ext cx="38100" cy="1905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5524500" y="1581150"/>
            <a:ext cx="23907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0E3F8C"/>
                </a:solidFill>
                <a:latin typeface="Segoe UI"/>
                <a:ea typeface="Segoe UI"/>
              </a:rPr>
              <a:t>Problem Redefinition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0715625" y="164782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Capability gap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5391150" y="1981200"/>
            <a:ext cx="61722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4A5568"/>
                </a:solidFill>
                <a:latin typeface="Segoe UI"/>
                <a:ea typeface="Segoe UI"/>
              </a:rPr>
              <a:t>Mature vendors have solved “the agent can answer”; “the agent can complete the task” still shows an engineering gap.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5429250" y="2800350"/>
            <a:ext cx="3019425" cy="1123950"/>
          </a:xfrm>
          <a:prstGeom prst="roundRect">
            <a:avLst>
              <a:gd name="adj" fmla="val 678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90" name=""/>
          <p:cNvSpPr/>
          <p:nvPr/>
        </p:nvSpPr>
        <p:spPr>
          <a:xfrm rot="0" flipH="0" flipV="0">
            <a:off x="5429250" y="2800350"/>
            <a:ext cx="3019425" cy="1123950"/>
          </a:xfrm>
          <a:custGeom>
            <a:pathLst>
              <a:path w="317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5581650" y="2933700"/>
            <a:ext cx="2676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Segoe UI"/>
                <a:ea typeface="Segoe UI"/>
              </a:rPr>
              <a:t>Largely solved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5581650" y="3200400"/>
            <a:ext cx="26765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FAQ answering, retrieval,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single-turn queries — can answer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8582025" y="2800350"/>
            <a:ext cx="3019425" cy="1123950"/>
          </a:xfrm>
          <a:prstGeom prst="roundRect">
            <a:avLst>
              <a:gd name="adj" fmla="val 6780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494" name=""/>
          <p:cNvSpPr/>
          <p:nvPr/>
        </p:nvSpPr>
        <p:spPr>
          <a:xfrm rot="0" flipH="0" flipV="0">
            <a:off x="8582025" y="2800350"/>
            <a:ext cx="3019425" cy="1123950"/>
          </a:xfrm>
          <a:custGeom>
            <a:pathLst>
              <a:path w="317" h="118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114"/>
                </a:lnTo>
                <a:cubicBezTo>
                  <a:pt x="4" y="116"/>
                  <a:pt x="5" y="118"/>
                  <a:pt x="7" y="118"/>
                </a:cubicBezTo>
                <a:cubicBezTo>
                  <a:pt x="3" y="118"/>
                  <a:pt x="0" y="114"/>
                  <a:pt x="0" y="110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734425" y="2933700"/>
            <a:ext cx="2676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D9534F"/>
                </a:solidFill>
                <a:latin typeface="Segoe UI"/>
                <a:ea typeface="Segoe UI"/>
              </a:rPr>
              <a:t>Still a gap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8734425" y="3200400"/>
            <a:ext cx="2676525" cy="5905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Refunds, cancellations, other</a:t>
            </a:r>
            <a:endParaRPr/>
          </a:p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high-risk writes — cannot verify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5391150" y="4076700"/>
            <a:ext cx="6172200" cy="819150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5543550" y="4191000"/>
            <a:ext cx="586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CAICT's Agent Technology and Application Research Report (2025) lists cognitive planning, scenario innovation and security governance as open challenges.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47700" y="5619750"/>
            <a:ext cx="2952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3D7BD9"/>
                </a:solidFill>
                <a:latin typeface="Times New Roman"/>
                <a:ea typeface="Times New Roman"/>
              </a:rPr>
              <a:t>Q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133475" y="5524500"/>
            <a:ext cx="1041082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FFFFFF"/>
                </a:solidFill>
                <a:latin typeface="Segoe UI"/>
                <a:ea typeface="Segoe UI"/>
              </a:rPr>
              <a:t xml:space="preserve">Research question: how to organize </a:t>
            </a:r>
            <a:r>
              <a:rPr lang="en-US" sz="1275">
                <a:solidFill>
                  <a:srgbClr val="FFFFFF"/>
                </a:solidFill>
                <a:latin typeface="Segoe UI"/>
                <a:ea typeface="Segoe UI"/>
              </a:rPr>
              <a:t>identity permissions, current evidence, customer authorization, supervisor approval, transactional idempotency and receipt reconciliation</a:t>
            </a:r>
            <a:r>
              <a:rPr lang="en-US" sz="1275">
                <a:solidFill>
                  <a:srgbClr val="FFFFFF"/>
                </a:solidFill>
                <a:latin typeface="Segoe UI"/>
                <a:ea typeface="Segoe UI"/>
              </a:rPr>
              <a:t xml:space="preserve"> into a verifiable, auditable and recoverable execution loop for high-risk after-sales tasks.</a:t>
            </a:r>
            <a:endParaRPr/>
          </a:p>
        </p:txBody>
      </p:sp>
      <p:sp>
        <p:nvSpPr>
          <p:cNvPr id="50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06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50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10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Related Work and the Engineering Capability Gap&lt;/Text&gt;&#10;        &lt;Text style={{ fontSize: 15, color: '#8B97A8', marginLeft: 'auto' }}&gt;01 / 06&lt;/Text&gt;&#10;    &lt;/Box&gt;&#10;&#10;    {/* C content */}&#10;    &lt;Box style={{ flexDirection: 'column', gap: 20, marginTop: 16, height: 520 }}&gt;&#10;        &lt;Box style={{ flexDirection: 'row', gap: 20, height: 400 }}&gt;&#10;            {/* left: existing stack */}&#10;            &lt;Box style={{ width: 590, background: '#F7F9FC', border: '1px solid #D6DCE5', borderRadius: 10, padding: '20px 24px', flexDirection: 'column' }}&gt;&#10;                &lt;Box style={{ flexDirection: 'row', alignItems: 'center', gap: 10 }}&gt;&#10;                    &lt;FAIcon name='layer-group' style={{ fill: '#3D7BD9', width: 20, height: 20 }} /&gt;&#10;                    &lt;Text style={{ fontSize: 22, fontWeight: 'bold', color: '#0E3F8C' }}&gt;Existing Stack: Components Are Mature&lt;/Text&gt;&#10;                &lt;/Box&gt;&#10;                &lt;Text style={{ fontSize: 15, color: '#4A5568', lineHeight: 1.6, marginTop: 8 }}&gt;Open frameworks already make “call tools and answer” standard.&lt;/Text&gt;&#10;&#10;                &lt;Box style={{ flexDirection: 'column', marginTop: 10 }}&gt;&#10;                    &lt;Box style={{ flexDirection: 'row', gap: 12, alignItems: 'flex-start', paddingBottom: 8, borderBottom: '1px solid #E5E7EB' }}&gt;&#10;                        &lt;FAIcon name='check-circle' style={{ fill: '#1E4FA8', width: 18, height: 18, marginTop: 2 }} /&gt;&#10;                        &lt;Box style={{ flex: 1 }}&gt;&#10;                            &lt;Text style={{ fontSize: 17, fontWeight: 'bold', color: '#1A2230' }}&gt;Planning &amp;amp; Execution&lt;/Text&gt;&#10;                            &lt;Text style={{ fontSize: 14, color: '#4A5568', lineHeight: 1.45, marginTop: 2 }}&gt;ReAct tool calling, function calling, LangGraph checkpoints&lt;/Text&gt;&#10;                        &lt;/Box&gt;&#10;                    &lt;/Box&gt;&#10;                    &lt;Box style={{ flexDirection: 'row', gap: 12, alignItems: 'flex-start', paddingVertical: 8, borderBottom: '1px solid #E5E7EB' }}&gt;&#10;                        &lt;FAIcon name='check-circle' style={{ fill: '#1E4FA8', width: 18, height: 18, marginTop: 2 }} /&gt;&#10;                        &lt;Box style={{ flex: 1 }}&gt;&#10;                            &lt;Text style={{ fontSize: 17, fontWeight: 'bold', color: '#1A2230' }}&gt;Retrieval Augmentation&lt;/Text&gt;&#10;                            &lt;Text style={{ fontSize: 14, color: '#4A5568', lineHeight: 1.45, marginTop: 2 }}&gt;BM25 lexical + vector semantic recall, RRF fusion, reranking&lt;/Text&gt;&#10;                        &lt;/Box&gt;&#10;                    &lt;/Box&gt;&#10;                    &lt;Box style={{ flexDirection: 'row', gap: 12, alignItems: 'flex-start', paddingVertical: 8, borderBottom: '1px solid #E5E7EB' }}&gt;&#10;                        &lt;FAIcon name='check-circle' style={{ fill: '#1E4FA8', width: 18, height: 18, marginTop: 2 }} /&gt;&#10;                        &lt;Box style={{ flex: 1 }}&gt;&#10;                            &lt;Text style={{ fontSize: 17, fontWeight: 'bold', color: '#1A2230' }}&gt;Memory Mechanisms&lt;/Text&gt;&#10;                            &lt;Text style={{ fontSize: 14, color: '#4A5568', lineHeight: 1.45, marginTop: 2 }}&gt;Episodic / semantic / procedural memory, AWM templates&lt;/Text&gt;&#10;                        &lt;/Box&gt;&#10;                    &lt;/Box&gt;&#10;                    &lt;Box style={{ flexDirection: 'row', gap: 12, alignItems: 'flex-start', paddingVertical: 8, borderBottom: '1px solid #E5E7EB' }}&gt;&#10;                        &lt;FAIcon name='check-circle' style={{ fill: '#1E4FA8', width: 18, height: 18, marginTop: 2 }} /&gt;&#10;                        &lt;Box style={{ flex: 1 }}&gt;&#10;                            &lt;Text style={{ fontSize: 17, fontWeight: 'bold', color: '#1A2230' }}&gt;Tool Protocol &amp;amp; Gateway&lt;/Text&gt;&#10;                            &lt;Text style={{ fontSize: 14, color: '#4A5568', lineHeight: 1.45, marginTop: 2 }}&gt;MCP merchant interfaces; gateway authorization and validation&lt;/Text&gt;&#10;                        &lt;/Box&gt;&#10;                    &lt;/Box&gt;&#10;                    &lt;Box style={{ flexDirection: 'row', gap: 12, alignItems: 'flex-start', paddingTop: 8 }}&gt;&#10;                        &lt;FAIcon name='check-circle' style={{ fill: '#1E4FA8', width: 18, height: 18, marginTop: 2 }} /&gt;&#10;                        &lt;Box style={{ flex: 1 }}&gt;&#10;                            &lt;Text style={{ fontSize: 17, fontWeight: 'bold', color: '#1A2230' }}&gt;Observability&lt;/Text&gt;&#10;                            &lt;Text style={{ fontSize: 14, color: '#4A5568', lineHeight: 1.45, marginTop: 2 }}&gt;OpenTelemetry → Jaeger / Prometheus / Grafana traces&lt;/Text&gt;&#10;                        &lt;/Box&gt;&#10;                    &lt;/Box&gt;&#10;                &lt;/Box&gt;&#10;            &lt;/Box&gt;&#10;&#10;            {/* right: capability gap */}&#10;            &lt;Box style={{ width: 590, background: '#FFFFFF', border: '1px solid #D6DCE5', borderRadius: 10, padding: '20px 24px', flexDirection: 'column' }}&gt;&#10;                &lt;Box style={{ flexDirection: 'row', alignItems: 'center', gap: 10 }}&gt;&#10;                    &lt;FAIcon name='exclamation-triangle' style={{ fill: '#D9534F', width: 20, height: 20 }} /&gt;&#10;                    &lt;Text style={{ fontSize: 22, fontWeight: 'bold', color: '#0E3F8C' }}&gt;Capability Gap: Missing Write Loop&lt;/Text&gt;&#10;                &lt;/Box&gt;&#10;                &lt;Text style={{ fontSize: 15, color: '#4A5568', lineHeight: 1.6, marginTop: 8 }}&gt;For refunds and cancellations, mature defaults break down.&lt;/Text&gt;&#10;&#10;                &lt;Box style={{ flexDirection: 'column', gap: 10, marginTop: 14 }}&gt;&#10;                    &lt;Box style={{ background: '#FDF3F3', borderLeft: '4px solid #D9534F', borderRadius: 8, padding: '10px 16px' }}&gt;&#10;                        &lt;Text style={{ fontSize: 18, fontWeight: 'bold', color: '#C0392B' }}&gt;Evidence and authorization are not linked&lt;/Text&gt;&#10;                        &lt;Text style={{ fontSize: 15, color: '#4A5568', lineHeight: 1.6, marginTop: 4 }}&gt;Stale summaries treated as current facts; old approvals persist.&lt;/Text&gt;&#10;                    &lt;/Box&gt;&#10;                    &lt;Box style={{ background: '#FDF3F3', borderLeft: '4px solid #D9534F', borderRadius: 8, padding: '10px 16px' }}&gt;&#10;                        &lt;Text style={{ fontSize: 18, fontWeight: 'bold', color: '#C0392B' }}&gt;Writes lack an idempotency boundary&lt;/Text&gt;&#10;                        &lt;Text style={{ fontSize: 15, color: '#4A5568', lineHeight: 1.6, marginTop: 4 }}&gt;On timeout, commit status is unknown — duplicate refund risk.&lt;/Text&gt;&#10;                    &lt;/Box&gt;&#10;                    &lt;Box style={{ background: '#FDF3F3', borderLeft: '4px solid #D9534F', borderRadius: 8, padding: '10px 16px' }}&gt;&#10;                        &lt;Text style={{ fontSize: 18, fontWeight: 'bold', color: '#C0392B' }}&gt;Evaluation only checks the terminal state&lt;/Text&gt;&#10;                        &lt;Text style={{ fontSize: 15, color: '#4A5568', lineHeight: 1.6, marginTop: 4 }}&gt;SUCCEEDED ≠ order scope, evidence and receipt all correct.&lt;/Text&gt;&#10;                    &lt;/Box&gt;&#10;                &lt;/Box&gt;&#10;            &lt;/Box&gt;&#10;        &lt;/Box&gt;&#10;&#10;        {/* bottom positioning statement */}&#10;        &lt;Box style={{ height: 100, background: '#F0F5FC', border: '1px solid #C9DCF5', borderRadius: 10, padding: '0 28px', flexDirection: 'row', alignItems: 'center', gap: 18 }}&gt;&#10;            &lt;Box style={{ width: 44, height: 44, borderRadius: 10, background: '#1E4FA8', justifyContent: 'center', alignItems: 'center' }}&gt;&#10;                &lt;FAIcon name='bullseye' style={{ fill: '#FFFFFF', width: 22, height: 22 }} /&gt;&#10;            &lt;/Box&gt;&#10;            &lt;Box style={{ flex: 1 }}&gt;&#10;                &lt;Text style={{ fontSize: 18, fontWeight: 'bold', color: '#0E3F8C' }}&gt;How this project is positioned&lt;/Text&gt;&#10;                &lt;Text style={{ fontSize: 16, color: '#1A2230', lineHeight: 1.6, marginTop: 2 }}&gt;We claim neither a domestic market void nor superiority over commercial products. The focus is to build the &lt;span style={{ color: '#1E4FA8', fontWeight: 'bold' }}&gt;verifiable execution loop&lt;/span&gt; for high-risk after-sales tasks and to &lt;span style={{ color: '#1E4FA8', fontWeight: 'bold' }}&gt;quantify&lt;/span&gt; its effects and limits item by item with a frozen simulated evaluation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753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Related Work and the Engineering Capability Gap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01 / 06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81000" y="1371600"/>
            <a:ext cx="561975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90500" cy="190500"/>
          </a:xfrm>
          <a:prstGeom prst="rect">
            <a:avLst/>
          </a:prstGeom>
          <a:ln/>
        </p:spPr>
      </p:pic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391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Existing Stack: Components Are Mature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609600" y="1895475"/>
            <a:ext cx="5162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Open frameworks already make “call tools and answer” standard.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609600" y="2266950"/>
            <a:ext cx="5162550" cy="552450"/>
          </a:xfrm>
          <a:custGeom>
            <a:pathLst>
              <a:path w="542" h="58">
                <a:moveTo>
                  <a:pt x="0" y="57"/>
                </a:moveTo>
                <a:lnTo>
                  <a:pt x="542" y="57"/>
                </a:lnTo>
                <a:lnTo>
                  <a:pt x="542" y="58"/>
                </a:lnTo>
                <a:lnTo>
                  <a:pt x="0" y="5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2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2286000"/>
            <a:ext cx="171450" cy="171450"/>
          </a:xfrm>
          <a:prstGeom prst="rect">
            <a:avLst/>
          </a:prstGeom>
          <a:ln/>
        </p:spPr>
      </p:pic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895350" y="22669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egoe UI"/>
                <a:ea typeface="Segoe UI"/>
              </a:rPr>
              <a:t>Planning &amp; Execution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895350" y="2486025"/>
            <a:ext cx="4876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ReAct tool calling, function calling, LangGraph checkpoints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609600" y="2809875"/>
            <a:ext cx="5162550" cy="476250"/>
          </a:xfrm>
          <a:custGeom>
            <a:pathLst>
              <a:path w="542" h="50">
                <a:moveTo>
                  <a:pt x="0" y="49"/>
                </a:moveTo>
                <a:lnTo>
                  <a:pt x="542" y="49"/>
                </a:lnTo>
                <a:lnTo>
                  <a:pt x="54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2828925"/>
            <a:ext cx="171450" cy="171450"/>
          </a:xfrm>
          <a:prstGeom prst="rect">
            <a:avLst/>
          </a:prstGeom>
          <a:ln/>
        </p:spPr>
      </p:pic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95350" y="2809875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egoe UI"/>
                <a:ea typeface="Segoe UI"/>
              </a:rPr>
              <a:t>Retrieval Augmentation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95350" y="3028950"/>
            <a:ext cx="4876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BM25 lexical + vector semantic recall, RRF fusion, reranking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3276600"/>
            <a:ext cx="5162550" cy="476250"/>
          </a:xfrm>
          <a:custGeom>
            <a:pathLst>
              <a:path w="542" h="50">
                <a:moveTo>
                  <a:pt x="0" y="49"/>
                </a:moveTo>
                <a:lnTo>
                  <a:pt x="542" y="49"/>
                </a:lnTo>
                <a:lnTo>
                  <a:pt x="54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295650"/>
            <a:ext cx="171450" cy="171450"/>
          </a:xfrm>
          <a:prstGeom prst="rect">
            <a:avLst/>
          </a:prstGeom>
          <a:ln/>
        </p:spPr>
      </p:pic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95350" y="327660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egoe UI"/>
                <a:ea typeface="Segoe UI"/>
              </a:rPr>
              <a:t>Memory Mechanisms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95350" y="3495675"/>
            <a:ext cx="4876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Episodic / semantic / procedural memory, AWM templates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09600" y="3743325"/>
            <a:ext cx="5162550" cy="476250"/>
          </a:xfrm>
          <a:custGeom>
            <a:pathLst>
              <a:path w="542" h="50">
                <a:moveTo>
                  <a:pt x="0" y="49"/>
                </a:moveTo>
                <a:lnTo>
                  <a:pt x="542" y="49"/>
                </a:lnTo>
                <a:lnTo>
                  <a:pt x="542" y="50"/>
                </a:lnTo>
                <a:lnTo>
                  <a:pt x="0" y="5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pic>
        <p:nvPicPr>
          <p:cNvPr id="5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762375"/>
            <a:ext cx="171450" cy="171450"/>
          </a:xfrm>
          <a:prstGeom prst="rect">
            <a:avLst/>
          </a:prstGeom>
          <a:ln/>
        </p:spPr>
      </p:pic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95350" y="3743325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egoe UI"/>
                <a:ea typeface="Segoe UI"/>
              </a:rPr>
              <a:t>Tool Protocol &amp; Gateway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95350" y="3962400"/>
            <a:ext cx="4876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MCP merchant interfaces; gateway authorization and validation</a:t>
            </a:r>
            <a:endParaRPr/>
          </a:p>
        </p:txBody>
      </p:sp>
      <p:pic>
        <p:nvPicPr>
          <p:cNvPr id="5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305300"/>
            <a:ext cx="171450" cy="171450"/>
          </a:xfrm>
          <a:prstGeom prst="rect">
            <a:avLst/>
          </a:prstGeom>
          <a:ln/>
        </p:spPr>
      </p:pic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895350" y="4286250"/>
            <a:ext cx="4876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A2230"/>
                </a:solidFill>
                <a:latin typeface="Segoe UI"/>
                <a:ea typeface="Segoe UI"/>
              </a:rPr>
              <a:t>Observability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895350" y="4505325"/>
            <a:ext cx="48768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OpenTelemetry → Jaeger / Prometheus / Grafana traces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6191250" y="1371600"/>
            <a:ext cx="561975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5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419850" y="1600200"/>
            <a:ext cx="190500" cy="190500"/>
          </a:xfrm>
          <a:prstGeom prst="rect">
            <a:avLst/>
          </a:prstGeom>
          <a:ln/>
        </p:spPr>
      </p:pic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705600" y="1562100"/>
            <a:ext cx="34766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Capability Gap: Missing Write Loop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419850" y="1895475"/>
            <a:ext cx="5162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For refunds and cancellations, mature defaults break down.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457950" y="2305050"/>
            <a:ext cx="5162550" cy="714375"/>
          </a:xfrm>
          <a:prstGeom prst="roundRect">
            <a:avLst>
              <a:gd name="adj" fmla="val 10667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6457950" y="2305050"/>
            <a:ext cx="5162550" cy="714375"/>
          </a:xfrm>
          <a:custGeom>
            <a:pathLst>
              <a:path w="542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610350" y="240030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0392B"/>
                </a:solidFill>
                <a:latin typeface="Segoe UI"/>
                <a:ea typeface="Segoe UI"/>
              </a:rPr>
              <a:t>Evidence and authorization are not linked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610350" y="264795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Stale summaries treated as current facts; old approvals persist.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457950" y="3114675"/>
            <a:ext cx="5162550" cy="714375"/>
          </a:xfrm>
          <a:prstGeom prst="roundRect">
            <a:avLst>
              <a:gd name="adj" fmla="val 10667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6457950" y="3114675"/>
            <a:ext cx="5162550" cy="714375"/>
          </a:xfrm>
          <a:custGeom>
            <a:pathLst>
              <a:path w="542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610350" y="3209925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0392B"/>
                </a:solidFill>
                <a:latin typeface="Segoe UI"/>
                <a:ea typeface="Segoe UI"/>
              </a:rPr>
              <a:t>Writes lack an idempotency boundary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6610350" y="3457575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On timeout, commit status is unknown — duplicate refund risk.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6457950" y="3924300"/>
            <a:ext cx="5162550" cy="714375"/>
          </a:xfrm>
          <a:prstGeom prst="roundRect">
            <a:avLst>
              <a:gd name="adj" fmla="val 10667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551" name=""/>
          <p:cNvSpPr/>
          <p:nvPr/>
        </p:nvSpPr>
        <p:spPr>
          <a:xfrm rot="0" flipH="0" flipV="0">
            <a:off x="6457950" y="3924300"/>
            <a:ext cx="5162550" cy="714375"/>
          </a:xfrm>
          <a:custGeom>
            <a:pathLst>
              <a:path w="542" h="75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71"/>
                </a:lnTo>
                <a:cubicBezTo>
                  <a:pt x="4" y="73"/>
                  <a:pt x="5" y="75"/>
                  <a:pt x="7" y="75"/>
                </a:cubicBezTo>
                <a:cubicBezTo>
                  <a:pt x="3" y="75"/>
                  <a:pt x="0" y="71"/>
                  <a:pt x="0" y="6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6610350" y="4019550"/>
            <a:ext cx="481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C0392B"/>
                </a:solidFill>
                <a:latin typeface="Segoe UI"/>
                <a:ea typeface="Segoe UI"/>
              </a:rPr>
              <a:t>Evaluation only checks the terminal state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6610350" y="4267200"/>
            <a:ext cx="48196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SUCCEEDED ≠ order scope, evidence and receipt all correct.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555" name=""/>
          <p:cNvSpPr/>
          <p:nvPr/>
        </p:nvSpPr>
        <p:spPr>
          <a:xfrm rot="0" flipH="0" flipV="0">
            <a:off x="64770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52475" y="5743575"/>
            <a:ext cx="209550" cy="209550"/>
          </a:xfrm>
          <a:prstGeom prst="rect">
            <a:avLst/>
          </a:prstGeom>
          <a:ln/>
        </p:spPr>
      </p:pic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1238250" y="5438775"/>
            <a:ext cx="1030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How this project is positioned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238250" y="5667375"/>
            <a:ext cx="10306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 xml:space="preserve">We claim neither a domestic market void nor superiority over commercial products. The focus is to build the </a:t>
            </a: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verifiable execution loop</a:t>
            </a: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 xml:space="preserve"> for high-risk after-sales tasks and to </a:t>
            </a: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quantify</a:t>
            </a: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 xml:space="preserve"> its effects and limits item by item with a frozen simulated evaluation.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562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563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564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04 / 18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67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Theme and Core Ideas&lt;/Text&gt;&#10;        &lt;Text style={{ fontSize: 15, color: '#8B97A8', marginLeft: 'auto' }}&gt;02 / 06&lt;/Text&gt;&#10;    &lt;/Box&gt;&#10;&#10;    {/* C content */}&#10;    &lt;Box style={{ flexDirection: 'column', gap: 12, marginTop: 16, height: 520 }}&gt;&#10;        {/* theme bar */}&#10;        &lt;Box style={{ height: 80, background: '#0E3F8C', borderRadius: 10, padding: '0 26px', flexDirection: 'row', alignItems: 'center', gap: 20 }}&gt;&#10;            &lt;Box style={{ height: 30, padding: '0 12px', background: '#3D7BD9', borderRadius: 6, justifyContent: 'center', alignItems: 'center' }}&gt;&#10;                &lt;Text style={{ fontSize: 15, fontWeight: 'bold', color: '#FFFFFF', lineHeight: 1.2 }}&gt;Theme&lt;/Text&gt;&#10;            &lt;/Box&gt;&#10;            &lt;Text style={{ fontSize: 20, color: '#FFFFFF', lineHeight: 1.5 }}&gt;A &lt;span style={{ color: '#FFC107', fontWeight: 'bold' }}&gt;verifiable execution loop&lt;/span&gt; for high-risk e-commerce after-sales tasks — a Chinese single-agent customer service system&lt;/Text&gt;&#10;        &lt;/Box&gt;&#10;&#10;        {/* three core ideas */}&#10;        &lt;Box style={{ flexDirection: 'row', gap: 15, height: 320 }}&gt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clipboard-check' style={{ fill: '#1E4FA8', width: 22, height: 22 }} /&gt;&#10;                &lt;/Box&gt;&#10;                &lt;Text style={{ fontSize: 21, fontWeight: 'bold', color: '#0E3F8C', marginTop: 12 }}&gt;From “Answering”&lt;br /&gt;to “Completing”&lt;/Text&gt;&#10;                &lt;Text style={{ fontSize: 16, color: '#4A5568', lineHeight: 1.6, marginTop: 10 }}&gt;Treat the task, not the conversation turn, as the unit of work: parse goal and entities, compile a dependency-aware plan, then close on the business outcome.&lt;/Text&gt;&#10;                &lt;Box style={{ marginTop: 'auto', paddingTop: 12, borderTop: '1px solid #E5E7EB' }}&gt;&#10;                    &lt;Text style={{ fontSize: 15, fontWeight: 'bold', color: '#1E4FA8' }}&gt;Unit of work = task&lt;/Text&gt;&#10;                &lt;/Box&gt;&#10;            &lt;/Box&gt;&#10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fingerprint' style={{ fill: '#1E4FA8', width: 22, height: 22 }} /&gt;&#10;                &lt;/Box&gt;&#10;                &lt;Text style={{ fontSize: 21, fontWeight: 'bold', color: '#0E3F8C', marginTop: 12 }}&gt;From “Trusting the Model”&lt;br /&gt;to “Trusting the Evidence”&lt;/Text&gt;&#10;                &lt;Text style={{ fontSize: 16, color: '#4A5568', lineHeight: 1.6, marginTop: 10 }}&gt;Memory only resolves references. Order, logistics, amount and eligibility are re-read from the merchant system before each execution, with source and version attached.&lt;/Text&gt;&#10;                &lt;Box style={{ marginTop: 'auto', paddingTop: 12, borderTop: '1px solid #E5E7EB' }}&gt;&#10;                    &lt;Text style={{ fontSize: 15, fontWeight: 'bold', color: '#1E4FA8' }}&gt;Memory grants no facts or authorization&lt;/Text&gt;&#10;                &lt;/Box&gt;&#10;            &lt;/Box&gt;&#10;&#10;            &lt;Box style={{ flex: 1, background: '#FFFFFF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file-signature' style={{ fill: '#1E4FA8', width: 22, height: 22 }} /&gt;&#10;                &lt;/Box&gt;&#10;                &lt;Text style={{ fontSize: 21, fontWeight: 'bold', color: '#0E3F8C', marginTop: 12 }}&gt;From “Calling APIs”&lt;br /&gt;to “Controlled Transactions”&lt;/Text&gt;&#10;                &lt;Text style={{ fontSize: 16, color: '#4A5568', lineHeight: 1.6, marginTop: 10 }}&gt;Writes advance through five stages: proposal → customer confirmation → supervisor approval → idempotent execution → receipt reconciliation; missing any one means not done.&lt;/Text&gt;&#10;                &lt;Box style={{ marginTop: 'auto', paddingTop: 12, borderTop: '1px solid #E5E7EB' }}&gt;&#10;                    &lt;Text style={{ fontSize: 15, fontWeight: 'bold', color: '#1E4FA8' }}&gt;Five-stage controlled write&lt;/Text&gt;&#10;                &lt;/Box&gt;&#10;            &lt;/Box&gt;&#10;        &lt;/Box&gt;&#10;&#10;        {/* differentiation bar */}&#10;        &lt;Box style={{ height: 96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bullseye' style={{ fill: '#FFFFFF', width: 22, height: 22 }} /&gt;&#10;            &lt;/Box&gt;&#10;            &lt;Box style={{ flex: 1 }}&gt;&#10;                &lt;Text style={{ fontSize: 18, fontWeight: 'bold', color: '#0E3F8C' }}&gt;Differentiation&lt;/Text&gt;&#10;                &lt;Text style={{ fontSize: 16, color: '#1A2230', lineHeight: 1.55, marginTop: 2 }}&gt;We claim neither a domestic market void nor superiority over commercial products; the focus is the &lt;span style={{ color: '#1E4FA8', fontWeight: 'bold' }}&gt;verifiable execution loop&lt;/span&gt; for high-risk after-sales tasks, quantified item by item with a frozen simulated evaluation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9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371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Theme and Core Ideas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02 / 06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381000" y="1371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73" name=""/>
          <p:cNvSpPr/>
          <p:nvPr/>
        </p:nvSpPr>
        <p:spPr>
          <a:xfrm rot="0" flipH="0" flipV="0">
            <a:off x="628650" y="1609725"/>
            <a:ext cx="676275" cy="285750"/>
          </a:xfrm>
          <a:prstGeom prst="roundRect">
            <a:avLst>
              <a:gd name="adj" fmla="val 20000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42950" y="1647825"/>
            <a:ext cx="4572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Theme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495425" y="1581150"/>
            <a:ext cx="10067925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/>
                </a:solidFill>
                <a:latin typeface="Segoe UI"/>
                <a:ea typeface="Segoe UI"/>
              </a:rPr>
              <a:t xml:space="preserve">A </a:t>
            </a:r>
            <a:r>
              <a:rPr lang="en-US" sz="1500" b="1">
                <a:solidFill>
                  <a:srgbClr val="FFC107"/>
                </a:solidFill>
                <a:latin typeface="Segoe UI"/>
                <a:ea typeface="Segoe UI"/>
              </a:rPr>
              <a:t>verifiable execution loop</a:t>
            </a:r>
            <a:r>
              <a:rPr lang="en-US" sz="1500">
                <a:solidFill>
                  <a:srgbClr val="FFFFFF"/>
                </a:solidFill>
                <a:latin typeface="Segoe UI"/>
                <a:ea typeface="Segoe UI"/>
              </a:rPr>
              <a:t xml:space="preserve"> for high-risk e-commerce after-sales tasks — a Chinese single-agent customer service system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381000" y="2247900"/>
            <a:ext cx="371475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77" name=""/>
          <p:cNvSpPr/>
          <p:nvPr/>
        </p:nvSpPr>
        <p:spPr>
          <a:xfrm rot="0" flipH="0" flipV="0">
            <a:off x="590550" y="2438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2543175"/>
            <a:ext cx="209550" cy="209550"/>
          </a:xfrm>
          <a:prstGeom prst="rect">
            <a:avLst/>
          </a:prstGeom>
          <a:ln/>
        </p:spPr>
      </p:pic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590550" y="2971800"/>
            <a:ext cx="32956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egoe UI"/>
                <a:ea typeface="Segoe UI"/>
              </a:rPr>
              <a:t>From “Answering”</a:t>
            </a:r>
            <a:endParaRPr/>
          </a:p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egoe UI"/>
                <a:ea typeface="Segoe UI"/>
              </a:rPr>
              <a:t>to “Completing”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590550" y="3552825"/>
            <a:ext cx="32956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Treat the task, not the conversation turn, as the unit of work: parse goal and entities, compile a dependency-aware plan, then close on the business outcome.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59055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59055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Unit of work = task</a:t>
            </a:r>
            <a:endParaRPr/>
          </a:p>
        </p:txBody>
      </p:sp>
      <p:sp>
        <p:nvSpPr>
          <p:cNvPr id="583" name=""/>
          <p:cNvSpPr/>
          <p:nvPr/>
        </p:nvSpPr>
        <p:spPr>
          <a:xfrm rot="0" flipH="0" flipV="0">
            <a:off x="4238625" y="2247900"/>
            <a:ext cx="371475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4" name=""/>
          <p:cNvSpPr/>
          <p:nvPr/>
        </p:nvSpPr>
        <p:spPr>
          <a:xfrm rot="0" flipH="0" flipV="0">
            <a:off x="4448175" y="2438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52950" y="2543175"/>
            <a:ext cx="209550" cy="209550"/>
          </a:xfrm>
          <a:prstGeom prst="rect">
            <a:avLst/>
          </a:prstGeom>
          <a:ln/>
        </p:spPr>
      </p:pic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448175" y="2971800"/>
            <a:ext cx="32956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egoe UI"/>
                <a:ea typeface="Segoe UI"/>
              </a:rPr>
              <a:t>From “Trusting the Model”</a:t>
            </a:r>
            <a:endParaRPr/>
          </a:p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egoe UI"/>
                <a:ea typeface="Segoe UI"/>
              </a:rPr>
              <a:t>to “Trusting the Evidence”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4448175" y="3552825"/>
            <a:ext cx="32956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Memory only resolves references. Order, logistics, amount and eligibility are re-read from the merchant system before each execution, with source and version attached.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4448175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4448175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Memory grants no facts or authorization</a:t>
            </a:r>
            <a:endParaRPr/>
          </a:p>
        </p:txBody>
      </p:sp>
      <p:sp>
        <p:nvSpPr>
          <p:cNvPr id="590" name=""/>
          <p:cNvSpPr/>
          <p:nvPr/>
        </p:nvSpPr>
        <p:spPr>
          <a:xfrm rot="0" flipH="0" flipV="0">
            <a:off x="8096250" y="2247900"/>
            <a:ext cx="371475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91" name=""/>
          <p:cNvSpPr/>
          <p:nvPr/>
        </p:nvSpPr>
        <p:spPr>
          <a:xfrm rot="0" flipH="0" flipV="0">
            <a:off x="8305800" y="2438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5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2543175"/>
            <a:ext cx="209550" cy="209550"/>
          </a:xfrm>
          <a:prstGeom prst="rect">
            <a:avLst/>
          </a:prstGeom>
          <a:ln/>
        </p:spPr>
      </p:pic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8305800" y="2971800"/>
            <a:ext cx="3295650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egoe UI"/>
                <a:ea typeface="Segoe UI"/>
              </a:rPr>
              <a:t>From “Calling APIs”</a:t>
            </a:r>
            <a:endParaRPr/>
          </a:p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0E3F8C"/>
                </a:solidFill>
                <a:latin typeface="Segoe UI"/>
                <a:ea typeface="Segoe UI"/>
              </a:rPr>
              <a:t>to “Controlled Transactions”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05800" y="3552825"/>
            <a:ext cx="329565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4A5568"/>
                </a:solidFill>
                <a:latin typeface="Segoe UI"/>
                <a:ea typeface="Segoe UI"/>
              </a:rPr>
              <a:t>Writes advance through five stages: proposal → customer confirmation → supervisor approval → idempotent execution → receipt reconciliation; missing any one means not done.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830580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830580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Five-stage controlled write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381000" y="54102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628650" y="5657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5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3425" y="5762625"/>
            <a:ext cx="209550" cy="209550"/>
          </a:xfrm>
          <a:prstGeom prst="rect">
            <a:avLst/>
          </a:prstGeom>
          <a:ln/>
        </p:spPr>
      </p:pic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219200" y="54673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Differentiation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219200" y="5695950"/>
            <a:ext cx="103441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 xml:space="preserve">We claim neither a domestic market void nor superiority over commercial products; the focus is the </a:t>
            </a: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verifiable execution loop</a:t>
            </a: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 xml:space="preserve"> for high-risk after-sales tasks, quantified item by item with a frozen simulated evaluation.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60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06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60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10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Research Goals and Content&lt;/Text&gt;&#10;        &lt;Text style={{ fontSize: 15, color: '#8B97A8', marginLeft: 'auto' }}&gt;03 / 06&lt;/Text&gt;&#10;    &lt;/Box&gt;&#10;&#10;    {/* C content */}&#10;    &lt;Box style={{ flexDirection: 'column', gap: 12, marginTop: 16, height: 520 }}&gt;&#10;        {/* overall goal bar */}&#10;        &lt;Box style={{ height: 104, background: '#0E3F8C', borderRadius: 10, padding: '12px 26px', flexDirection: 'column', gap: 6 }}&gt;&#10;            &lt;Box style={{ flexDirection: 'row', alignItems: 'center', gap: 14 }}&gt;&#10;                &lt;Box style={{ height: 26, padding: '0 12px', background: '#3D7BD9', borderRadius: 6, justifyContent: 'center', alignItems: 'center' }}&gt;&#10;                    &lt;Text style={{ fontSize: 14, fontWeight: 'bold', color: '#FFFFFF', lineHeight: 1.2 }}&gt;Overall Goal&lt;/Text&gt;&#10;                &lt;/Box&gt;&#10;                &lt;Text style={{ fontSize: 15, color: '#B9CDEA', letterSpacing: 1 }}&gt;A controlled, auditable after-sales agent loop&lt;/Text&gt;&#10;            &lt;/Box&gt;&#10;            &lt;Text style={{ fontSize: 15, color: '#FFFFFF', lineHeight: 1.5 }}&gt;Build a Chinese single-agent full-stack service system covering query → plan → fact verification → proposal → confirmation / approval → execution → receipt → human handover.&lt;/Text&gt;&#10;        &lt;/Box&gt;&#10;&#10;        {/* four key technologies 2x2 */}&#10;        &lt;Box style={{ flexDirection: 'row', flexWrap: 'wrap', gap: 12, height: 312 }}&gt;&#10;            &lt;Box style={{ width: 594, height: 150, background: '#F7F9FC', border: '1px solid #D6DCE5', borderRadius: 10, padding: '14px 22px', flexDirection: 'column' }}&gt;&#10;                &lt;Box style={{ flexDirection: 'row', alignItems: 'center', gap: 12 }}&gt;&#10;                    &lt;Box style={{ width: 30, height: 30, borderRadius: 8, background: '#1E4FA8', justifyContent: 'center', alignItems: 'center' }}&gt;&#10;                        &lt;Text style={{ fontSize: 16, fontWeight: 'bold', color: '#FFFFFF', lineHeight: 1.2 }}&gt;01&lt;/Text&gt;&#10;                    &lt;/Box&gt;&#10;                    &lt;Text style={{ fontSize: 22, fontWeight: 'bold', color: '#0E3F8C' }}&gt;Verifiable Planning&lt;/Text&gt;&#10;                    &lt;Text style={{ fontSize: 14, color: '#8B97A8', marginLeft: 'auto' }}&gt;Planning&lt;/Text&gt;&#10;                &lt;/Box&gt;&#10;                &lt;Text style={{ fontSize: 15, color: '#4A5568', lineHeight: 1.55, marginTop: 8 }}&gt;Constrain input with a Pydantic TaskSpec, compile a dependency-aware verifiable DAG, and check coverage of published business projections.&lt;/Text&gt;&#10;                &lt;Text style={{ fontSize: 14, color: '#D9534F', fontWeight: 'bold', marginTop: 'auto' }}&gt;A missed goal is rejected as success and enters bounded repair&lt;/Text&gt;&#10;            &lt;/Box&gt;&#10;&#10;            &lt;Box style={{ width: 594, height: 150, background: '#F7F9FC', border: '1px solid #D6DCE5', borderRadius: 10, padding: '14px 22px', flexDirection: 'column' }}&gt;&#10;                &lt;Box style={{ flexDirection: 'row', alignItems: 'center', gap: 12 }}&gt;&#10;                    &lt;Box style={{ width: 30, height: 30, borderRadius: 8, background: '#1E4FA8', justifyContent: 'center', alignItems: 'center' }}&gt;&#10;                        &lt;Text style={{ fontSize: 16, fontWeight: 'bold', color: '#FFFFFF', lineHeight: 1.2 }}&gt;02&lt;/Text&gt;&#10;                    &lt;/Box&gt;&#10;                    &lt;Text style={{ fontSize: 22, fontWeight: 'bold', color: '#0E3F8C' }}&gt;Authorized Tool Routing&lt;/Text&gt;&#10;                    &lt;Text style={{ fontSize: 14, color: '#8B97A8', marginLeft: 'auto' }}&gt;Routing&lt;/Text&gt;&#10;                &lt;/Box&gt;&#10;                &lt;Text style={{ fontSize: 15, color: '#4A5568', lineHeight: 1.55, marginTop: 8 }}&gt;Authorization scope filters before retrieval; 40 real MCP tools; parameters and versions re-validated.&lt;/Text&gt;&#10;                &lt;Text style={{ fontSize: 14, color: '#D9534F', fontWeight: 'bold', marginTop: 'auto' }}&gt;The model cannot expand its own permissions&lt;/Text&gt;&#10;            &lt;/Box&gt;&#10;&#10;            &lt;Box style={{ width: 594, height: 150, background: '#F7F9FC', border: '1px solid #D6DCE5', borderRadius: 10, padding: '14px 22px', flexDirection: 'column' }}&gt;&#10;                &lt;Box style={{ flexDirection: 'row', alignItems: 'center', gap: 12 }}&gt;&#10;                    &lt;Box style={{ width: 30, height: 30, borderRadius: 8, background: '#1E4FA8', justifyContent: 'center', alignItems: 'center' }}&gt;&#10;                        &lt;Text style={{ fontSize: 16, fontWeight: 'bold', color: '#FFFFFF', lineHeight: 1.2 }}&gt;03&lt;/Text&gt;&#10;                    &lt;/Box&gt;&#10;                    &lt;Text style={{ fontSize: 22, fontWeight: 'bold', color: '#0E3F8C' }}&gt;Freshness-Aware Memory&lt;/Text&gt;&#10;                    &lt;Text style={{ fontSize: 14, color: '#8B97A8', marginLeft: 'auto' }}&gt;Memory&lt;/Text&gt;&#10;                &lt;/Box&gt;&#10;                &lt;Text style={{ fontSize: 15, color: '#4A5568', lineHeight: 1.55, marginTop: 8 }}&gt;Owner-isolated entity ledger, a bounded recent window, reference offloading and a token budget; back-references only resolve mentions.&lt;/Text&gt;&#10;                &lt;Text style={{ fontSize: 14, color: '#D9534F', fontWeight: 'bold', marginTop: 'auto' }}&gt;Stale amounts and approvals are never inherited&lt;/Text&gt;&#10;            &lt;/Box&gt;&#10;&#10;            &lt;Box style={{ width: 594, height: 150, background: '#F7F9FC', border: '1px solid #D6DCE5', borderRadius: 10, padding: '14px 22px', flexDirection: 'column' }}&gt;&#10;                &lt;Box style={{ flexDirection: 'row', alignItems: 'center', gap: 12 }}&gt;&#10;                    &lt;Box style={{ width: 30, height: 30, borderRadius: 8, background: '#1E4FA8', justifyContent: 'center', alignItems: 'center' }}&gt;&#10;                        &lt;Text style={{ fontSize: 16, fontWeight: 'bold', color: '#FFFFFF', lineHeight: 1.2 }}&gt;04&lt;/Text&gt;&#10;                    &lt;/Box&gt;&#10;                    &lt;Text style={{ fontSize: 22, fontWeight: 'bold', color: '#0E3F8C' }}&gt;Evidence Reflection &amp;amp; Recovery&lt;/Text&gt;&#10;                    &lt;Text style={{ fontSize: 14, color: '#8B97A8', marginLeft: 'auto' }}&gt;Recovery&lt;/Text&gt;&#10;                &lt;/Box&gt;&#10;                &lt;Text style={{ fontSize: 15, color: '#4A5568', lineHeight: 1.55, marginTop: 8 }}&gt;Observation packets bind source, entity, version and time; deterministic checks first; idempotency keys and receipt reconciliation.&lt;/Text&gt;&#10;                &lt;Text style={{ fontSize: 14, color: '#D9534F', fontWeight: 'bold', marginTop: 'auto' }}&gt;Unbounded loops become safe stops / human handover&lt;/Text&gt;&#10;            &lt;/Box&gt;&#10;        &lt;/Box&gt;&#10;&#10;        {/* deliverable bar */}&#10;        &lt;Box style={{ height: 80, background: '#F0F5FC', border: '1px solid #C9DCF5', borderRadius: 10, padding: '0 26px', flexDirection: 'row', alignItems: 'center', gap: 22 }}&gt;&#10;            &lt;Text style={{ fontSize: 16, fontWeight: 'bold', color: '#0E3F8C', width: 108 }}&gt;Deliverable&lt;/Text&gt;&#10;            &lt;Box style={{ flex: 1, flexDirection: 'row', gap: 20 }}&gt;&#10;                &lt;Text style={{ fontSize: 15, color: '#1A2230' }}&gt;A locally deployable &lt;span style={{ fontWeight: 'bold', color: '#1E4FA8' }}&gt;full-stack MVP&lt;/span&gt;&lt;/Text&gt;&#10;                &lt;Text style={{ fontSize: 15, color: '#1A2230' }}&gt;Single-host Docker Compose orchestration&lt;/Text&gt;&#10;                &lt;Text style={{ fontSize: 15, color: '#1A2230' }}&gt;Real model APIs + an &lt;span style={{ fontWeight: 'bold', color: '#1E4FA8' }}&gt;auditable simulated ledger&lt;/span&gt;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248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Research Goals and Content</a:t>
            </a:r>
            <a:endParaRPr/>
          </a:p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03 / 06</a:t>
            </a:r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381000" y="1371600"/>
            <a:ext cx="11430000" cy="990600"/>
          </a:xfrm>
          <a:prstGeom prst="roundRect">
            <a:avLst>
              <a:gd name="adj" fmla="val 961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16" name=""/>
          <p:cNvSpPr/>
          <p:nvPr/>
        </p:nvSpPr>
        <p:spPr>
          <a:xfrm rot="0" flipH="0" flipV="0">
            <a:off x="628650" y="1485900"/>
            <a:ext cx="1000125" cy="247650"/>
          </a:xfrm>
          <a:prstGeom prst="roundRect">
            <a:avLst>
              <a:gd name="adj" fmla="val 23077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742950" y="1514475"/>
            <a:ext cx="771525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Overall Goal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1762125" y="1524000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75">
                <a:solidFill>
                  <a:srgbClr val="B9CDEA"/>
                </a:solidFill>
                <a:latin typeface="Segoe UI"/>
                <a:ea typeface="Segoe UI"/>
              </a:rPr>
              <a:t>A controlled, auditable after-sales agent loop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28650" y="1790700"/>
            <a:ext cx="10934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FFFFFF"/>
                </a:solidFill>
                <a:latin typeface="Segoe UI"/>
                <a:ea typeface="Segoe UI"/>
              </a:rPr>
              <a:t>Build a Chinese single-agent full-stack service system covering query → plan → fact verification → proposal → confirmation / approval → execution → receipt → human handover.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381000" y="2476500"/>
            <a:ext cx="56578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1" name=""/>
          <p:cNvSpPr/>
          <p:nvPr/>
        </p:nvSpPr>
        <p:spPr>
          <a:xfrm rot="0" flipH="0" flipV="0">
            <a:off x="590550" y="26098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47700" y="2638425"/>
            <a:ext cx="180975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</a:rPr>
              <a:t>01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990600" y="2628900"/>
            <a:ext cx="1876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Verifiable Planning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5314950" y="2676525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Planning</a:t>
            </a:r>
            <a:endParaRPr/>
          </a:p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590550" y="2971800"/>
            <a:ext cx="5238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Constrain input with a Pydantic TaskSpec, compile a dependency-aware verifiable DAG, and check coverage of published business projections.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590550" y="360997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A missed goal is rejected as success and enters bounded repair</a:t>
            </a:r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153150" y="2476500"/>
            <a:ext cx="56578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8" name=""/>
          <p:cNvSpPr/>
          <p:nvPr/>
        </p:nvSpPr>
        <p:spPr>
          <a:xfrm rot="0" flipH="0" flipV="0">
            <a:off x="6362700" y="26098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419850" y="2638425"/>
            <a:ext cx="180975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</a:rPr>
              <a:t>02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762750" y="2628900"/>
            <a:ext cx="2419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Authorized Tool Routing</a:t>
            </a:r>
            <a:endParaRPr/>
          </a:p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11134725" y="2676525"/>
            <a:ext cx="466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Routing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6362700" y="2971800"/>
            <a:ext cx="5238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Authorization scope filters before retrieval; 40 real MCP tools; parameters and versions re-validated.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6362700" y="360997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The model cannot expand its own permissions</a:t>
            </a:r>
            <a:endParaRPr/>
          </a:p>
        </p:txBody>
      </p:sp>
      <p:sp>
        <p:nvSpPr>
          <p:cNvPr id="634" name=""/>
          <p:cNvSpPr/>
          <p:nvPr/>
        </p:nvSpPr>
        <p:spPr>
          <a:xfrm rot="0" flipH="0" flipV="0">
            <a:off x="381000" y="4019550"/>
            <a:ext cx="56578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35" name=""/>
          <p:cNvSpPr/>
          <p:nvPr/>
        </p:nvSpPr>
        <p:spPr>
          <a:xfrm rot="0" flipH="0" flipV="0">
            <a:off x="590550" y="4152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47700" y="4181475"/>
            <a:ext cx="180975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</a:rPr>
              <a:t>03</a:t>
            </a:r>
            <a:endParaRPr/>
          </a:p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990600" y="4171950"/>
            <a:ext cx="2552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Freshness-Aware Memory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334000" y="4219575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Memory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90550" y="4514850"/>
            <a:ext cx="5238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Owner-isolated entity ledger, a bounded recent window, reference offloading and a token budget; back-references only resolve mentions.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90550" y="515302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Stale amounts and approvals are never inherited</a:t>
            </a:r>
            <a:endParaRPr/>
          </a:p>
        </p:txBody>
      </p:sp>
      <p:sp>
        <p:nvSpPr>
          <p:cNvPr id="641" name=""/>
          <p:cNvSpPr/>
          <p:nvPr/>
        </p:nvSpPr>
        <p:spPr>
          <a:xfrm rot="0" flipH="0" flipV="0">
            <a:off x="6153150" y="4019550"/>
            <a:ext cx="5657850" cy="142875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42" name=""/>
          <p:cNvSpPr/>
          <p:nvPr/>
        </p:nvSpPr>
        <p:spPr>
          <a:xfrm rot="0" flipH="0" flipV="0">
            <a:off x="6362700" y="41529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419850" y="4181475"/>
            <a:ext cx="180975" cy="2286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200" b="1">
                <a:solidFill>
                  <a:srgbClr val="FFFFFF"/>
                </a:solidFill>
                <a:latin typeface="Segoe UI"/>
                <a:ea typeface="Segoe UI"/>
              </a:rPr>
              <a:t>04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762750" y="4171950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Evidence Reflection &amp; Recovery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11068050" y="4219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Recovery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362700" y="4514850"/>
            <a:ext cx="52387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Observation packets bind source, entity, version and time; deterministic checks first; idempotency keys and receipt reconciliation.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362700" y="515302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Unbounded loops become safe stops / human handover</a:t>
            </a:r>
            <a:endParaRPr/>
          </a:p>
        </p:txBody>
      </p:sp>
      <p:sp>
        <p:nvSpPr>
          <p:cNvPr id="648" name=""/>
          <p:cNvSpPr/>
          <p:nvPr/>
        </p:nvSpPr>
        <p:spPr>
          <a:xfrm rot="0" flipH="0" flipV="0">
            <a:off x="381000" y="5562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628650" y="5848350"/>
            <a:ext cx="1028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Segoe UI"/>
                <a:ea typeface="Segoe UI"/>
              </a:rPr>
              <a:t>Deliverable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1866900" y="5857875"/>
            <a:ext cx="2286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A locally deployable </a:t>
            </a: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full-stack MVP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4343400" y="5857875"/>
            <a:ext cx="2714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Single-host Docker Compose orchestration</a:t>
            </a:r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7248525" y="5857875"/>
            <a:ext cx="3181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Real model APIs + an </a:t>
            </a: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auditable simulated ledger</a:t>
            </a:r>
            <a:endParaRPr/>
          </a:p>
        </p:txBody>
      </p:sp>
      <p:sp>
        <p:nvSpPr>
          <p:cNvPr id="65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57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65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1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Overall System Architecture&lt;/Text&gt;&#10;        &lt;Text style={{ fontSize: 15, color: '#8B97A8', marginLeft: 'auto' }}&gt;03 / 06&lt;/Text&gt;&#10;    &lt;/Box&gt;&#10;&#10;    {/* C content: layered architecture + conclusion bar */}&#10;    &lt;Box style={{ flexDirection: 'column', gap: 12, marginTop: 16, height: 520 }}&gt;&#10;        &lt;Box style={{ flexDirection: 'column', gap: 10, height: 434, marginTop: 12 }}&gt;&#10;            {/* user layer */}&#10;            &lt;Box style={{ flexDirection: 'row', alignItems: 'center', height: 64, gap: 12 }}&gt;&#10;                &lt;Box style={{ width: 140, height: 64, background: '#0E3F8C', borderRadius: 8, justifyContent: 'center', alignItems: 'center' }}&gt;&#10;                    &lt;Text style={{ fontSize: 14, fontWeight: 'bold', color: '#FFFFFF' }}&gt;User Layer&lt;/Text&gt;&#10;                &lt;/Box&gt;&#10;                &lt;Box style={{ flex: 1, flexDirection: 'row', gap: 12 }}&gt;&#10;                    &lt;Box style={{ flex: 1, height: 46, background: '#FFFFFF', border: '1px solid #C9DCF5', borderRadius: 6, justifyContent: 'center', padding: '0 14px' }}&gt;&#10;                        &lt;Text style={{ fontSize: 15, color: '#1A2230' }}&gt;Customer · Agent · Supervisor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React + Ant Design console&lt;/Text&gt;&#10;                    &lt;/Box&gt;&#10;                    &lt;Box style={{ flex: 1, height: 46, background: '#F0F5FC', border: '1px solid #C9DCF5', borderRadius: 6, justifyContent: 'center', padding: '0 14px' }}&gt;&#10;                        &lt;Text style={{ fontSize: 15, color: '#1E4FA8' }}&gt;REST submit · SSE (AG-UI) events&lt;/Text&gt;&#10;                    &lt;/Box&gt;&#10;                &lt;/Box&gt;&#10;            &lt;/Box&gt;&#10;&#10;            {/* access layer */}&#10;            &lt;Box style={{ flexDirection: 'row', alignItems: 'center', height: 64, gap: 12 }}&gt;&#10;                &lt;Box style={{ width: 140, height: 64, background: '#0E3F8C', borderRadius: 8, justifyContent: 'center', alignItems: 'center' }}&gt;&#10;                    &lt;Text style={{ fontSize: 14, fontWeight: 'bold', color: '#FFFFFF' }}&gt;Access Layer&lt;/Text&gt;&#10;                &lt;/Box&gt;&#10;                &lt;Box style={{ flex: 1, flexDirection: 'row', gap: 12 }}&gt;&#10;                    &lt;Box style={{ flex: 1, height: 46, background: '#FFFFFF', border: '1px solid #C9DCF5', borderRadius: 6, justifyContent: 'center', padding: '0 14px' }}&gt;&#10;                        &lt;Text style={{ fontSize: 15, color: '#1A2230' }}&gt;Nginx entry (dynamic DNS)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FastAPI API (async · OpenAPI)&lt;/Text&gt;&#10;                    &lt;/Box&gt;&#10;                    &lt;Box style={{ flex: 1, height: 46, background: '#F0F5FC', border: '1px solid #C9DCF5', borderRadius: 6, justifyContent: 'center', padding: '0 14px' }}&gt;&#10;                        &lt;Text style={{ fontSize: 15, color: '#1E4FA8' }}&gt;Session auth · CSRF · RBAC + ABAC&lt;/Text&gt;&#10;                    &lt;/Box&gt;&#10;                &lt;/Box&gt;&#10;            &lt;/Box&gt;&#10;&#10;            {/* execution layer */}&#10;            &lt;Box style={{ flexDirection: 'row', alignItems: 'center', height: 64, gap: 12 }}&gt;&#10;                &lt;Box style={{ width: 140, height: 64, background: '#0E3F8C', borderRadius: 8, justifyContent: 'center', alignItems: 'center' }}&gt;&#10;                    &lt;Text style={{ fontSize: 14, fontWeight: 'bold', color: '#FFFFFF' }}&gt;Execution Layer&lt;/Text&gt;&#10;                &lt;/Box&gt;&#10;                &lt;Box style={{ flex: 1, flexDirection: 'row', gap: 12 }}&gt;&#10;                    &lt;Box style={{ flex: 1, height: 46, background: '#FFFFFF', border: '1px solid #C9DCF5', borderRadius: 6, justifyContent: 'center', padding: '0 14px' }}&gt;&#10;                        &lt;Text style={{ fontSize: 15, color: '#1A2230' }}&gt;Redis Pub/Sub task wake-up&lt;/Text&gt;&#10;                    &lt;/Box&gt;&#10;                    &lt;Box style={{ flex: 1, height: 46, background: '#F0F5FC', border: '1px solid #C9DCF5', borderRadius: 6, justifyContent: 'center', padding: '0 14px' }}&gt;&#10;                        &lt;Text style={{ fontSize: 15, color: '#1E4FA8' }}&gt;LangGraph worker (lease, checkpoint)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TaskSpec · validated DAG · budgets&lt;/Text&gt;&#10;                    &lt;/Box&gt;&#10;                &lt;/Box&gt;&#10;            &lt;/Box&gt;&#10;&#10;            {/* capability layer */}&#10;            &lt;Box style={{ flexDirection: 'row', alignItems: 'center', height: 64, gap: 12 }}&gt;&#10;                &lt;Box style={{ width: 140, height: 64, background: '#1E4FA8', borderRadius: 8, justifyContent: 'center', alignItems: 'center' }}&gt;&#10;                    &lt;Text style={{ fontSize: 14, fontWeight: 'bold', color: '#FFFFFF' }}&gt;Capability Layer&lt;/Text&gt;&#10;                &lt;/Box&gt;&#10;                &lt;Box style={{ flex: 1, flexDirection: 'row', gap: 12 }}&gt;&#10;                    &lt;Box style={{ flex: 1, height: 46, background: '#FFFFFF', border: '1px solid #C9DCF5', borderRadius: 6, justifyContent: 'center', padding: '0 14px' }}&gt;&#10;                        &lt;Text style={{ fontSize: 15, color: '#1A2230' }}&gt;Verifiable planning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Authorized tool routing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Context &amp;amp; freshness memory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Reflection &amp;amp; recovery&lt;/Text&gt;&#10;                    &lt;/Box&gt;&#10;                &lt;/Box&gt;&#10;            &lt;/Box&gt;&#10;&#10;            {/* integration layer */}&#10;            &lt;Box style={{ flexDirection: 'row', alignItems: 'center', height: 64, gap: 12 }}&gt;&#10;                &lt;Box style={{ width: 140, height: 64, background: '#0E3F8C', borderRadius: 8, justifyContent: 'center', alignItems: 'center' }}&gt;&#10;                    &lt;Text style={{ fontSize: 14, fontWeight: 'bold', color: '#FFFFFF' }}&gt;Integration Layer&lt;/Text&gt;&#10;                &lt;/Box&gt;&#10;                &lt;Box style={{ flex: 1, flexDirection: 'row', gap: 12 }}&gt;&#10;                    &lt;Box style={{ flex: 1, height: 46, background: '#FFFFFF', border: '1px solid #C9DCF5', borderRadius: 6, justifyContent: 'center', padding: '0 14px' }}&gt;&#10;                        &lt;Text style={{ fontSize: 15, color: '#1A2230' }}&gt;MCP merchant services · 40 tools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Hybrid retrieval: BM25 + vector + RRF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5, color: '#1A2230' }}&gt;Sandbox (no network, read-only)&lt;/Text&gt;&#10;                    &lt;/Box&gt;&#10;                &lt;/Box&gt;&#10;            &lt;/Box&gt;&#10;&#10;            {/* storage and observability layer */}&#10;            &lt;Box style={{ flexDirection: 'row', alignItems: 'center', height: 64, gap: 12 }}&gt;&#10;                &lt;Box style={{ width: 140, height: 64, background: '#0E3F8C', borderRadius: 8, justifyContent: 'center', alignItems: 'center' }}&gt;&#10;                    &lt;Text style={{ fontSize: 13, fontWeight: 'bold', color: '#FFFFFF' }}&gt;Storage &amp;amp; Observability&lt;/Text&gt;&#10;                &lt;/Box&gt;&#10;                &lt;Box style={{ flex: 1, flexDirection: 'row', gap: 12 }}&gt;&#10;                    &lt;Box style={{ flex: 1, height: 46, background: '#F0F5FC', border: '1px solid #C9DCF5', borderRadius: 6, justifyContent: 'center', padding: '0 14px' }}&gt;&#10;                        &lt;Text style={{ fontSize: 14, color: '#1E4FA8', fontWeight: 'bold' }}&gt;PostgreSQL source of truth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4, color: '#1A2230' }}&gt;Redis notification / Outbox poll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4, color: '#1A2230' }}&gt;Jaeger · Prometheus · Grafana&lt;/Text&gt;&#10;                    &lt;/Box&gt;&#10;                    &lt;Box style={{ flex: 1, height: 46, background: '#FFFFFF', border: '1px solid #C9DCF5', borderRadius: 6, justifyContent: 'center', padding: '0 14px' }}&gt;&#10;                        &lt;Text style={{ fontSize: 14, color: '#1A2230' }}&gt;OpenRouter LLM&lt;/Text&gt;&#10;                    &lt;/Box&gt;&#10;                &lt;/Box&gt;&#10;            &lt;/Box&gt;&#10;        &lt;/Box&gt;&#10;&#10;        {/* conclusion bar */}&#10;        &lt;Box style={{ height: 56, background: '#F0F5FC', border: '1px solid #C9DCF5', borderRadius: 10, padding: '0 24px', flexDirection: 'row', alignItems: 'center', gap: 14 }}&gt;&#10;            &lt;Text style={{ fontSize: 16, fontWeight: 'bold', color: '#0E3F8C' }}&gt;Key constraints&lt;/Text&gt;&#10;            &lt;Text style={{ fontSize: 15, color: '#1A2230' }}&gt;PostgreSQL is the single source of truth; Redis only speeds up wake-up and loss is covered by DB polling; Jaeger traces are in-memory and lost on restart, while business events persist.&lt;/Text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3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422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Overall System Architecture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03 / 06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381000" y="14859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723900" y="1714500"/>
            <a:ext cx="657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User Layer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1828800" y="15716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1962150" y="17049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Customer · Agent · Supervisor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191125" y="15716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324475" y="17049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React + Ant Design console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8562975" y="15716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8696325" y="17049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Segoe UI"/>
                <a:ea typeface="Segoe UI"/>
              </a:rPr>
              <a:t>REST submit · SSE (AG-UI) events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381000" y="21907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57225" y="2419350"/>
            <a:ext cx="790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Access Layer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1828800" y="227647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962150" y="240982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Nginx entry (dynamic DNS)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5191125" y="227647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5324475" y="240982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FastAPI API (async · OpenAPI)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8562975" y="227647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696325" y="240982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Segoe UI"/>
                <a:ea typeface="Segoe UI"/>
              </a:rPr>
              <a:t>Session auth · CSRF · RBAC + ABAC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381000" y="28956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552450" y="3124200"/>
            <a:ext cx="99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Execution Layer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1828800" y="29813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1962150" y="31146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Redis Pub/Sub task wake-up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5191125" y="29813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5324475" y="31146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FA8"/>
                </a:solidFill>
                <a:latin typeface="Segoe UI"/>
                <a:ea typeface="Segoe UI"/>
              </a:rPr>
              <a:t>LangGraph worker (lease, checkpoint)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8562975" y="29813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8696325" y="31146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TaskSpec · validated DAG · budgets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381000" y="36004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42925" y="3829050"/>
            <a:ext cx="1009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Capability Layer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1828800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1962150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Verifiable planning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4352925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4486275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Authorized tool routing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877050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7010400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Context &amp; freshness memory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9401175" y="36861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9534525" y="381952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Reflection &amp; recovery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381000" y="430530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04825" y="4533900"/>
            <a:ext cx="1085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Integration Layer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1828800" y="43910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1962150" y="45243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MCP merchant services · 40 tools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5191125" y="4391025"/>
            <a:ext cx="3257550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5324475" y="4524375"/>
            <a:ext cx="2990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Hybrid retrieval: BM25 + vector + RRF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8562975" y="4391025"/>
            <a:ext cx="32480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696325" y="4524375"/>
            <a:ext cx="2981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Sandbox (no network, read-only)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381000" y="5010150"/>
            <a:ext cx="1333500" cy="6096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381000" y="5162550"/>
            <a:ext cx="133350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egoe UI"/>
                <a:ea typeface="Segoe UI"/>
              </a:rPr>
              <a:t>Storage &amp; Observability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1828800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1962150" y="52387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PostgreSQL source of truth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4352925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4486275" y="52387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2230"/>
                </a:solidFill>
                <a:latin typeface="Segoe UI"/>
                <a:ea typeface="Segoe UI"/>
              </a:rPr>
              <a:t>Redis notification / Outbox poll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6877050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7010400" y="52387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2230"/>
                </a:solidFill>
                <a:latin typeface="Segoe UI"/>
                <a:ea typeface="Segoe UI"/>
              </a:rPr>
              <a:t>Jaeger · Prometheus · Grafana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9401175" y="5095875"/>
            <a:ext cx="2409825" cy="43815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9534525" y="5238750"/>
            <a:ext cx="2143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A2230"/>
                </a:solidFill>
                <a:latin typeface="Segoe UI"/>
                <a:ea typeface="Segoe UI"/>
              </a:rPr>
              <a:t>OpenRouter LLM</a:t>
            </a:r>
            <a:endParaRPr/>
          </a:p>
        </p:txBody>
      </p:sp>
      <p:sp>
        <p:nvSpPr>
          <p:cNvPr id="718" name=""/>
          <p:cNvSpPr/>
          <p:nvPr/>
        </p:nvSpPr>
        <p:spPr>
          <a:xfrm rot="0" flipH="0" flipV="0">
            <a:off x="381000" y="573405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19" name="" descr="{&quot;isTemplate&quot;:true,&quot;type&quot;:&quot;text&quot;}"/>
          <p:cNvSpPr txBox="1"/>
          <p:nvPr/>
        </p:nvSpPr>
        <p:spPr>
          <a:xfrm rot="0" flipH="0" flipV="0">
            <a:off x="609600" y="5905500"/>
            <a:ext cx="981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Segoe UI"/>
                <a:ea typeface="Segoe UI"/>
              </a:rPr>
              <a:t>Key constraints</a:t>
            </a:r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724025" y="5829300"/>
            <a:ext cx="985837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PostgreSQL is the single source of truth; Redis only speeds up wake-up and loss is covered by DB polling; Jaeger traces are in-memory and lost on restart, while business events persist.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25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2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29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Core Execution Loop&lt;/Text&gt;&#10;        &lt;Text style={{ fontSize: 15, color: '#8B97A8', marginLeft: 'auto' }}&gt;03 / 06&lt;/Text&gt;&#10;    &lt;/Box&gt;&#10;&#10;    {/* C content */}&#10;    &lt;Box style={{ flexDirection: 'column', gap: 12, marginTop: 16, height: 520 }}&gt;&#10;        {/* lead-in bar */}&#10;        &lt;Box style={{ height: 40, background: '#F0F5FC', border: '1px solid #C9DCF5', borderRadius: 8, padding: '0 22px', flexDirection: 'row', alignItems: 'center', gap: 12 }}&gt;&#10;            &lt;FAIcon name='route' style={{ fill: '#1E4FA8', width: 18, height: 18 }} /&gt;&#10;            &lt;Text style={{ fontSize: 15, color: '#1A2230' }}&gt;A &lt;span style={{ fontWeight: 'bold', color: '#1E4FA8' }}&gt;seven-step controlled process&lt;/span&gt; from task intake to human handover: every step has explicit entry conditions, evidence requirements and exit actions.&lt;/Text&gt;&#10;        &lt;/Box&gt;&#10;&#10;        {/* steps 1-4 */}&#10;        &lt;Box style={{ flexDirection: 'row', gap: 12, height: 190 }}&gt;&#10;            &lt;Box style={{ flex: 1, background: '#F7F9FC', border: '1px solid #D6DCE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1&lt;/Text&gt;&#10;                    &lt;/Box&gt;&#10;                    &lt;Text style={{ fontSize: 20, fontWeight: 'bold', color: '#0E3F8C' }}&gt;Receive task&lt;/Text&gt;&#10;                &lt;/Box&gt;&#10;                &lt;Text style={{ fontSize: 15, color: '#4A5568', lineHeight: 1.55, marginTop: 10 }}&gt;The session fixes customer, tenant and role; the API authorizes the resource and accepts idempotently.&lt;/Text&gt;&#10;            &lt;/Box&gt;&#10;            &lt;Box style={{ flex: 1, background: '#F7F9FC', border: '1px solid #D6DCE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2&lt;/Text&gt;&#10;                    &lt;/Box&gt;&#10;                    &lt;Text style={{ fontSize: 20, fontWeight: 'bold', color: '#0E3F8C' }}&gt;Parse &amp;amp; plan&lt;/Text&gt;&#10;                &lt;/Box&gt;&#10;                &lt;Text style={{ fontSize: 15, color: '#4A5568', lineHeight: 1.55, marginTop: 10 }}&gt;Parse into a TaskSpec, bind order and product entities, compile a verifiable DAG.&lt;/Text&gt;&#10;            &lt;/Box&gt;&#10;            &lt;Box style={{ flex: 1, background: '#F7F9FC', border: '1px solid #D6DCE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3&lt;/Text&gt;&#10;                    &lt;/Box&gt;&#10;                    &lt;Text style={{ fontSize: 20, fontWeight: 'bold', color: '#0E3F8C' }}&gt;Fetch current facts&lt;/Text&gt;&#10;                &lt;/Box&gt;&#10;                &lt;Text style={{ fontSize: 15, color: '#4A5568', lineHeight: 1.55, marginTop: 10 }}&gt;Permission-filtered MCP tools read orders, logistics, policy and eligibility.&lt;/Text&gt;&#10;            &lt;/Box&gt;&#10;            &lt;Box style={{ flex: 1, background: '#F7F9FC', border: '1px solid #D6DCE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4&lt;/Text&gt;&#10;                    &lt;/Box&gt;&#10;                    &lt;Text style={{ fontSize: 20, fontWeight: 'bold', color: '#0E3F8C' }}&gt;Verify &amp;amp; decide&lt;/Text&gt;&#10;                &lt;/Box&gt;&#10;                &lt;Text style={{ fontSize: 15, color: '#4A5568', lineHeight: 1.55, marginTop: 10 }}&gt;Check goal coverage and evidence freshness; continue, refresh or hand over within budget.&lt;/Text&gt;&#10;            &lt;/Box&gt;&#10;        &lt;/Box&gt;&#10;&#10;        {/* steps 5-7 */}&#10;        &lt;Box style={{ flexDirection: 'row', gap: 12, height: 190 }}&gt;&#10;            &lt;Box style={{ flex: 1, background: '#F0F5FC', border: '1px solid #C9DCF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5&lt;/Text&gt;&#10;                    &lt;/Box&gt;&#10;                    &lt;Text style={{ fontSize: 20, fontWeight: 'bold', color: '#0E3F8C' }}&gt;Controlled write&lt;/Text&gt;&#10;                &lt;/Box&gt;&#10;                &lt;Text style={{ fontSize: 15, color: '#4A5568', lineHeight: 1.55, marginTop: 10 }}&gt;Generate a proposal bound to the state version and amount; customer confirmation and supervisor approval are recorded separately, and the current version is re-read before execution.&lt;/Text&gt;&#10;            &lt;/Box&gt;&#10;            &lt;Box style={{ flex: 1, background: '#F0F5FC', border: '1px solid #C9DCF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6&lt;/Text&gt;&#10;                    &lt;/Box&gt;&#10;                    &lt;Text style={{ fontSize: 20, fontWeight: 'bold', color: '#0E3F8C' }}&gt;Receipt reconciliation&lt;/Text&gt;&#10;                &lt;/Box&gt;&#10;                &lt;Text style={{ fontSize: 15, color: '#4A5568', lineHeight: 1.55, marginTop: 10 }}&gt;Transactions carry idempotency keys; a lost response is reconciled via the operation receipt first, and non-idempotent writes are never replayed.&lt;/Text&gt;&#10;            &lt;/Box&gt;&#10;            &lt;Box style={{ flex: 1, background: '#F0F5FC', border: '1px solid #C9DCF5', borderRadius: 10, padding: '16px 18px', flexDirection: 'column' }}&gt;&#10;                &lt;Box style={{ flexDirection: 'row', alignItems: 'center', gap: 10 }}&gt;&#10;                    &lt;Box style={{ width: 30, height: 30, borderRadius: 15, background: '#1E4FA8', justifyContent: 'center', alignItems: 'center' }}&gt;&#10;                        &lt;Text style={{ fontSize: 15, fontWeight: 'bold', color: '#FFFFFF', lineHeight: 1.2 }}&gt;7&lt;/Text&gt;&#10;                    &lt;/Box&gt;&#10;                    &lt;Text style={{ fontSize: 20, fontWeight: 'bold', color: '#0E3F8C' }}&gt;Persist &amp;amp; recover&lt;/Text&gt;&#10;                &lt;/Box&gt;&#10;                &lt;Text style={{ fontSize: 15, color: '#4A5568', lineHeight: 1.55, marginTop: 10 }}&gt;Business events go to PostgreSQL with SSE cursor resume; leases and fencing take over unfinished tasks.&lt;/Text&gt;&#10;            &lt;/Box&gt;&#10;        &lt;/Box&gt;&#10;&#10;        {/* conclusion bar */}&#10;        &lt;Box style={{ height: 56, background: '#0E3F8C', borderRadius: 10, padding: '0 24px', flexDirection: 'row', alignItems: 'center', gap: 14 }}&gt;&#10;            &lt;Text style={{ fontSize: 16, fontWeight: 'bold', color: '#3D7BD9' }}&gt;Write-path principle&lt;/Text&gt;&#10;            &lt;Text style={{ fontSize: 15, color: '#FFFFFF' }}&gt;Success is never inferred from model text — it must match merchant transaction state and the operation receipt; if it cannot be confirmed, hand over to a human.&lt;/Text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8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1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3133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Core Execution Loop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03 / 06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381000" y="1371600"/>
            <a:ext cx="11430000" cy="381000"/>
          </a:xfrm>
          <a:prstGeom prst="roundRect">
            <a:avLst>
              <a:gd name="adj" fmla="val 2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7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476375"/>
            <a:ext cx="171450" cy="171450"/>
          </a:xfrm>
          <a:prstGeom prst="rect">
            <a:avLst/>
          </a:prstGeom>
          <a:ln/>
        </p:spPr>
      </p:pic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876300" y="1476375"/>
            <a:ext cx="9534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A </a:t>
            </a: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seven-step controlled process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 from task intake to human handover: every step has explicit entry conditions, evidence requirements and exit actions.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381000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38" name=""/>
          <p:cNvSpPr/>
          <p:nvPr/>
        </p:nvSpPr>
        <p:spPr>
          <a:xfrm rot="0" flipH="0" flipV="0">
            <a:off x="552450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657225" y="2057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1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933450" y="2047875"/>
            <a:ext cx="1095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Receive task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552450" y="2400300"/>
            <a:ext cx="242887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The session fixes customer, tenant and role; the API authorizes the resource and accepts idempotently.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3267075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3" name=""/>
          <p:cNvSpPr/>
          <p:nvPr/>
        </p:nvSpPr>
        <p:spPr>
          <a:xfrm rot="0" flipH="0" flipV="0">
            <a:off x="3438525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543300" y="2057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2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3819525" y="2047875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Parse &amp; plan</a:t>
            </a:r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3438525" y="2400300"/>
            <a:ext cx="242887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Parse into a TaskSpec, bind order and product entities, compile a verifiable DAG.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6153150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48" name=""/>
          <p:cNvSpPr/>
          <p:nvPr/>
        </p:nvSpPr>
        <p:spPr>
          <a:xfrm rot="0" flipH="0" flipV="0">
            <a:off x="6324600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9" name="" descr="{&quot;isTemplate&quot;:true,&quot;type&quot;:&quot;text&quot;}"/>
          <p:cNvSpPr txBox="1"/>
          <p:nvPr/>
        </p:nvSpPr>
        <p:spPr>
          <a:xfrm rot="0" flipH="0" flipV="0">
            <a:off x="6429375" y="2057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3</a:t>
            </a:r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6705600" y="2047875"/>
            <a:ext cx="1666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Fetch current facts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324600" y="2400300"/>
            <a:ext cx="2428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Permission-filtered MCP tools read orders, logistics, policy and eligibility.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9039225" y="1866900"/>
            <a:ext cx="2771775" cy="1809750"/>
          </a:xfrm>
          <a:prstGeom prst="roundRect">
            <a:avLst>
              <a:gd name="adj" fmla="val 526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3" name=""/>
          <p:cNvSpPr/>
          <p:nvPr/>
        </p:nvSpPr>
        <p:spPr>
          <a:xfrm rot="0" flipH="0" flipV="0">
            <a:off x="9210675" y="201930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4" name="" descr="{&quot;isTemplate&quot;:true,&quot;type&quot;:&quot;text&quot;}"/>
          <p:cNvSpPr txBox="1"/>
          <p:nvPr/>
        </p:nvSpPr>
        <p:spPr>
          <a:xfrm rot="0" flipH="0" flipV="0">
            <a:off x="9315450" y="205740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4</a:t>
            </a:r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591675" y="2047875"/>
            <a:ext cx="139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Verify &amp; decide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9210675" y="2400300"/>
            <a:ext cx="242887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Check goal coverage and evidence freshness; continue, refresh or hand over within budget.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3810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58" name=""/>
          <p:cNvSpPr/>
          <p:nvPr/>
        </p:nvSpPr>
        <p:spPr>
          <a:xfrm rot="0" flipH="0" flipV="0">
            <a:off x="5524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657225" y="39814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5</a:t>
            </a:r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933450" y="3971925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Controlled write</a:t>
            </a:r>
            <a:endParaRPr/>
          </a:p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552450" y="4324350"/>
            <a:ext cx="339090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Generate a proposal bound to the state version and amount; customer confirmation and supervisor approval are recorded separately, and the current version is re-read before execution.</a:t>
            </a:r>
            <a:endParaRPr/>
          </a:p>
        </p:txBody>
      </p:sp>
      <p:sp>
        <p:nvSpPr>
          <p:cNvPr id="762" name=""/>
          <p:cNvSpPr/>
          <p:nvPr/>
        </p:nvSpPr>
        <p:spPr>
          <a:xfrm rot="0" flipH="0" flipV="0">
            <a:off x="42291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63" name=""/>
          <p:cNvSpPr/>
          <p:nvPr/>
        </p:nvSpPr>
        <p:spPr>
          <a:xfrm rot="0" flipH="0" flipV="0">
            <a:off x="44005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4505325" y="39814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6</a:t>
            </a:r>
            <a:endParaRPr/>
          </a:p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4781550" y="3971925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Receipt reconciliation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4400550" y="4324350"/>
            <a:ext cx="33909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Transactions carry idempotency keys; a lost response is reconciled via the operation receipt first, and non-idempotent writes are never replayed.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8077200" y="3790950"/>
            <a:ext cx="3733800" cy="1809750"/>
          </a:xfrm>
          <a:prstGeom prst="roundRect">
            <a:avLst>
              <a:gd name="adj" fmla="val 526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768" name=""/>
          <p:cNvSpPr/>
          <p:nvPr/>
        </p:nvSpPr>
        <p:spPr>
          <a:xfrm rot="0" flipH="0" flipV="0">
            <a:off x="8248650" y="3943350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8353425" y="3981450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7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8629650" y="3971925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Persist &amp; recover</a:t>
            </a:r>
            <a:endParaRPr/>
          </a:p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8248650" y="4324350"/>
            <a:ext cx="33909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Business events go to PostgreSQL with SSE cursor resume; leases and fencing take over unfinished tasks.</a:t>
            </a:r>
            <a:endParaRPr/>
          </a:p>
        </p:txBody>
      </p:sp>
      <p:sp>
        <p:nvSpPr>
          <p:cNvPr id="772" name=""/>
          <p:cNvSpPr/>
          <p:nvPr/>
        </p:nvSpPr>
        <p:spPr>
          <a:xfrm rot="0" flipH="0" flipV="0">
            <a:off x="381000" y="5715000"/>
            <a:ext cx="11430000" cy="533400"/>
          </a:xfrm>
          <a:prstGeom prst="roundRect">
            <a:avLst>
              <a:gd name="adj" fmla="val 1785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73" name="" descr="{&quot;isTemplate&quot;:true,&quot;type&quot;:&quot;text&quot;}"/>
          <p:cNvSpPr txBox="1"/>
          <p:nvPr/>
        </p:nvSpPr>
        <p:spPr>
          <a:xfrm rot="0" flipH="0" flipV="0">
            <a:off x="609600" y="5886450"/>
            <a:ext cx="1362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D7BD9"/>
                </a:solidFill>
                <a:latin typeface="Segoe UI"/>
                <a:ea typeface="Segoe UI"/>
              </a:rPr>
              <a:t>Write-path principle</a:t>
            </a:r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2105025" y="5895975"/>
            <a:ext cx="947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Segoe UI"/>
                <a:ea typeface="Segoe UI"/>
              </a:rPr>
              <a:t>Success is never inferred from model text — it must match merchant transaction state and the operation receipt; if it cannot be confirmed, hand over to a human.</a:t>
            </a:r>
            <a:endParaRPr/>
          </a:p>
        </p:txBody>
      </p:sp>
      <p:sp>
        <p:nvSpPr>
          <p:cNvPr id="775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76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778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79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80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83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Technical Approach: Stack and Deployment&lt;/Text&gt;&#10;        &lt;Text style={{ fontSize: 15, color: '#8B97A8', marginLeft: 'auto' }}&gt;03 / 06&lt;/Text&gt;&#10;    &lt;/Box&gt;&#10;&#10;    {/* C content */}&#10;    &lt;Box style={{ flexDirection: 'column', gap: 12, marginTop: 16, height: 520 }}&gt;&#10;        {/* stack bar */}&#10;        &lt;Box style={{ height: 76, background: '#0E3F8C', borderRadius: 10, padding: '0 22px', flexDirection: 'row', alignItems: 'center', gap: 10 }}&gt;&#10;            &lt;Text style={{ fontSize: 15, fontWeight: 'bold', color: '#3D7BD9', width: 116 }}&gt;Planned Stack&lt;/Text&gt;&#10;            &lt;Box style={{ padding: '6px 14px', background: '#FFFFFF', borderRadius: 14 }}&gt;&#10;                &lt;Text style={{ fontSize: 14, fontWeight: 'bold', color: '#0E3F8C', lineHeight: 1.2 }}&gt;React + Ant Design&lt;/Text&gt;&#10;            &lt;/Box&gt;&#10;            &lt;Box style={{ padding: '6px 14px', background: '#FFFFFF', borderRadius: 14 }}&gt;&#10;                &lt;Text style={{ fontSize: 14, fontWeight: 'bold', color: '#0E3F8C', lineHeight: 1.2 }}&gt;FastAPI&lt;/Text&gt;&#10;            &lt;/Box&gt;&#10;            &lt;Box style={{ padding: '6px 14px', background: '#FFFFFF', borderRadius: 14 }}&gt;&#10;                &lt;Text style={{ fontSize: 14, fontWeight: 'bold', color: '#0E3F8C', lineHeight: 1.2 }}&gt;LangGraph&lt;/Text&gt;&#10;            &lt;/Box&gt;&#10;            &lt;Box style={{ padding: '6px 14px', background: '#FFFFFF', borderRadius: 14 }}&gt;&#10;                &lt;Text style={{ fontSize: 14, fontWeight: 'bold', color: '#0E3F8C', lineHeight: 1.2 }}&gt;MCP&lt;/Text&gt;&#10;            &lt;/Box&gt;&#10;            &lt;Box style={{ padding: '6px 14px', background: '#FFFFFF', borderRadius: 14 }}&gt;&#10;                &lt;Text style={{ fontSize: 14, fontWeight: 'bold', color: '#0E3F8C', lineHeight: 1.2 }}&gt;PostgreSQL&lt;/Text&gt;&#10;            &lt;/Box&gt;&#10;            &lt;Box style={{ padding: '6px 14px', background: '#FFFFFF', borderRadius: 14 }}&gt;&#10;                &lt;Text style={{ fontSize: 14, fontWeight: 'bold', color: '#0E3F8C', lineHeight: 1.2 }}&gt;Redis&lt;/Text&gt;&#10;            &lt;/Box&gt;&#10;            &lt;Box style={{ padding: '6px 14px', background: '#FFFFFF', borderRadius: 14 }}&gt;&#10;                &lt;Text style={{ fontSize: 14, fontWeight: 'bold', color: '#0E3F8C', lineHeight: 1.2 }}&gt;Elasticsearch + pgvector&lt;/Text&gt;&#10;            &lt;/Box&gt;&#10;            &lt;Box style={{ padding: '6px 14px', background: '#3D7BD9', borderRadius: 14 }}&gt;&#10;                &lt;Text style={{ fontSize: 14, fontWeight: 'bold', color: '#FFFFFF', lineHeight: 1.2 }}&gt;Docker Compose&lt;/Text&gt;&#10;            &lt;/Box&gt;&#10;        &lt;/Box&gt;&#10;&#10;        &lt;Box style={{ flexDirection: 'row', gap: 20, height: 320 }}&gt;&#10;            {/* left: selection rationale */}&#10;            &lt;Box style={{ width: 700, background: '#F7F9FC', border: '1px solid #D6DCE5', borderRadius: 10, padding: '20px 24px', flexDirection: 'column' }}&gt;&#10;                &lt;Text style={{ fontSize: 23, fontWeight: 'bold', color: '#0E3F8C' }}&gt;Key Selection Rationale&lt;/Text&gt;&#10;                &lt;Box style={{ flexDirection: 'column', gap: 6, marginTop: 12 }}&gt;&#10;                    &lt;Box style={{ flexDirection: 'row', gap: 12, alignItems: 'flex-start' }}&gt;&#10;                        &lt;Text style={{ fontSize: 14, fontWeight: 'bold', color: '#1E4FA8', width: 96 }}&gt;Execution&lt;br /&gt;orchestration&lt;/Text&gt;&#10;                        &lt;Text style={{ fontSize: 15, color: '#1A2230', lineHeight: 1.5, flex: 1 }}&gt;LangGraph provides durable state, pause and resume; Pydantic contracts make plans statically checkable.&lt;/Text&gt;&#10;                    &lt;/Box&gt;&#10;                    &lt;Box style={{ flexDirection: 'row', gap: 12, alignItems: 'flex-start' }}&gt;&#10;                        &lt;Text style={{ fontSize: 14, fontWeight: 'bold', color: '#1E4FA8', width: 96 }}&gt;Data&lt;br /&gt;consistency&lt;/Text&gt;&#10;                        &lt;Text style={{ fontSize: 15, color: '#1A2230', lineHeight: 1.5, flex: 1 }}&gt;PostgreSQL is the single source of truth for tasks, events, approvals, idempotency records and the business ledger.&lt;/Text&gt;&#10;                    &lt;/Box&gt;&#10;                    &lt;Box style={{ flexDirection: 'row', gap: 12, alignItems: 'flex-start' }}&gt;&#10;                        &lt;Text style={{ fontSize: 14, fontWeight: 'bold', color: '#1E4FA8', width: 96 }}&gt;Retrieval&lt;br /&gt;strategy&lt;/Text&gt;&#10;                        &lt;Text style={{ fontSize: 15, color: '#1A2230', lineHeight: 1.5, flex: 1 }}&gt;BM25 lexical recall + vector semantic recall + RRF fusion + reranking; the two recall paths are complementary.&lt;/Text&gt;&#10;                    &lt;/Box&gt;&#10;                    &lt;Box style={{ flexDirection: 'row', gap: 12, alignItems: 'flex-start' }}&gt;&#10;                        &lt;Text style={{ fontSize: 14, fontWeight: 'bold', color: '#1E4FA8', width: 96 }}&gt;Model&lt;br /&gt;access&lt;/Text&gt;&#10;                        &lt;Text style={{ fontSize: 15, color: '#1A2230', lineHeight: 1.5, flex: 1 }}&gt;Use a compatible API and record the real provider and usage, reducing coupling to a single vendor.&lt;/Text&gt;&#10;                    &lt;/Box&gt;&#10;                &lt;/Box&gt;&#10;            &lt;/Box&gt;&#10;&#10;            {/* right: deployment and observability */}&#10;            &lt;Box style={{ width: 480, background: '#FFFFFF', border: '1px solid #D6DCE5', borderRadius: 10, padding: '20px 24px', flexDirection: 'column' }}&gt;&#10;                &lt;Text style={{ fontSize: 23, fontWeight: 'bold', color: '#0E3F8C' }}&gt;Deployment &amp;amp; Observability&lt;/Text&gt;&#10;                &lt;Box style={{ flexDirection: 'column', gap: 6, marginTop: 10 }}&gt;&#10;                    &lt;Box style={{ flexDirection: 'row', gap: 12, alignItems: 'flex-start' }}&gt;&#10;                        &lt;Text style={{ fontSize: 14, fontWeight: 'bold', color: '#1E4FA8', width: 96 }}&gt;Containers&lt;/Text&gt;&#10;                        &lt;Text style={{ fontSize: 15, color: '#1A2230', lineHeight: 1.5, flex: 1 }}&gt;API / worker / MCP / sandbox / database run as separate processes on one host.&lt;/Text&gt;&#10;                    &lt;/Box&gt;&#10;                    &lt;Box style={{ flexDirection: 'row', gap: 12, alignItems: 'flex-start' }}&gt;&#10;                        &lt;Text style={{ fontSize: 14, fontWeight: 'bold', color: '#1E4FA8', width: 96 }}&gt;Pinned deps&lt;/Text&gt;&#10;                        &lt;Text style={{ fontSize: 15, color: '#1A2230', lineHeight: 1.5, flex: 1 }}&gt;Lock files and image digests are frozen so experiments are reproducible.&lt;/Text&gt;&#10;                    &lt;/Box&gt;&#10;                    &lt;Box style={{ flexDirection: 'row', gap: 12, alignItems: 'flex-start' }}&gt;&#10;                        &lt;Text style={{ fontSize: 14, fontWeight: 'bold', color: '#1E4FA8', width: 96 }}&gt;Fallback&lt;/Text&gt;&#10;                        &lt;Text style={{ fontSize: 15, color: '#1A2230', lineHeight: 1.5, flex: 1 }}&gt;Outbox + Redis wake-up; if a notification is lost, DB polling finds the task.&lt;/Text&gt;&#10;                    &lt;/Box&gt;&#10;                    &lt;Box style={{ flexDirection: 'row', gap: 12, alignItems: 'flex-start' }}&gt;&#10;                        &lt;Text style={{ fontSize: 14, fontWeight: 'bold', color: '#1E4FA8', width: 96 }}&gt;Tracing&lt;/Text&gt;&#10;                        &lt;Text style={{ fontSize: 15, color: '#1A2230', lineHeight: 1.5, flex: 1 }}&gt;OpenTelemetry → Jaeger; Prometheus → Grafana.&lt;/Text&gt;&#10;                    &lt;/Box&gt;&#10;                &lt;/Box&gt;&#10;            &lt;/Box&gt;&#10;        &lt;/Box&gt;&#10;&#10;        {/* selection principle bar */}&#10;        &lt;Box style={{ height: 100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cogs' style={{ fill: '#FFFFFF', width: 22, height: 22 }} /&gt;&#10;            &lt;/Box&gt;&#10;            &lt;Box style={{ flex: 1 }}&gt;&#10;                &lt;Text style={{ fontSize: 18, fontWeight: 'bold', color: '#0E3F8C' }}&gt;Selection Principles&lt;/Text&gt;&#10;                &lt;Text style={{ fontSize: 15, color: '#1A2230', lineHeight: 1.55, marginTop: 2 }}&gt;Components are introduced by an explicit requirement, not by accumulation. This phase &lt;b&gt;does not introduce&lt;/b&gt; Kafka / Kubernetes / Istio, and &lt;b&gt;does not connect&lt;/b&gt; to real merchant systems or an organizational IdP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09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85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65722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Technical Approach: Stack and Deployment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03 / 06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381000" y="1371600"/>
            <a:ext cx="11430000" cy="723900"/>
          </a:xfrm>
          <a:prstGeom prst="roundRect">
            <a:avLst>
              <a:gd name="adj" fmla="val 13158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590550" y="1647825"/>
            <a:ext cx="1104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3D7BD9"/>
                </a:solidFill>
                <a:latin typeface="Segoe UI"/>
                <a:ea typeface="Segoe UI"/>
              </a:rPr>
              <a:t>Planned Stack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1790700" y="1581150"/>
            <a:ext cx="1476375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1" name="" descr="{&quot;isTemplate&quot;:true,&quot;type&quot;:&quot;text&quot;}"/>
          <p:cNvSpPr txBox="1"/>
          <p:nvPr/>
        </p:nvSpPr>
        <p:spPr>
          <a:xfrm rot="0" flipH="0" flipV="0">
            <a:off x="1924050" y="1638300"/>
            <a:ext cx="1209675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React + Ant Design</a:t>
            </a:r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3362325" y="1581150"/>
            <a:ext cx="733425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3" name="" descr="{&quot;isTemplate&quot;:true,&quot;type&quot;:&quot;text&quot;}"/>
          <p:cNvSpPr txBox="1"/>
          <p:nvPr/>
        </p:nvSpPr>
        <p:spPr>
          <a:xfrm rot="0" flipH="0" flipV="0">
            <a:off x="3495675" y="1638300"/>
            <a:ext cx="466725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FastAPI</a:t>
            </a:r>
            <a:endParaRPr/>
          </a:p>
        </p:txBody>
      </p:sp>
      <p:sp>
        <p:nvSpPr>
          <p:cNvPr id="794" name=""/>
          <p:cNvSpPr/>
          <p:nvPr/>
        </p:nvSpPr>
        <p:spPr>
          <a:xfrm rot="0" flipH="0" flipV="0">
            <a:off x="4191000" y="1581150"/>
            <a:ext cx="95250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4324350" y="1638300"/>
            <a:ext cx="6858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LangGraph</a:t>
            </a:r>
            <a:endParaRPr/>
          </a:p>
        </p:txBody>
      </p:sp>
      <p:sp>
        <p:nvSpPr>
          <p:cNvPr id="796" name=""/>
          <p:cNvSpPr/>
          <p:nvPr/>
        </p:nvSpPr>
        <p:spPr>
          <a:xfrm rot="0" flipH="0" flipV="0">
            <a:off x="5238750" y="1581150"/>
            <a:ext cx="561975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5372100" y="1638300"/>
            <a:ext cx="295275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MCP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5895975" y="1581150"/>
            <a:ext cx="99060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6029325" y="1638300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PostgreSQL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6981825" y="1581150"/>
            <a:ext cx="60960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7115175" y="1638300"/>
            <a:ext cx="3429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Redis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7686675" y="1581150"/>
            <a:ext cx="1790700" cy="314325"/>
          </a:xfrm>
          <a:prstGeom prst="roundRect">
            <a:avLst>
              <a:gd name="adj" fmla="val 424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7820025" y="1638300"/>
            <a:ext cx="15240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Elasticsearch + pgvector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9572625" y="1581150"/>
            <a:ext cx="1333500" cy="314325"/>
          </a:xfrm>
          <a:prstGeom prst="roundRect">
            <a:avLst>
              <a:gd name="adj" fmla="val 4242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9705975" y="1638300"/>
            <a:ext cx="1066800" cy="200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050" b="1">
                <a:solidFill>
                  <a:srgbClr val="FFFFFF"/>
                </a:solidFill>
                <a:latin typeface="Segoe UI"/>
                <a:ea typeface="Segoe UI"/>
              </a:rPr>
              <a:t>Docker Compose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381000" y="2209800"/>
            <a:ext cx="6667500" cy="304800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609600" y="2400300"/>
            <a:ext cx="6210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Segoe UI"/>
                <a:ea typeface="Segoe UI"/>
              </a:rPr>
              <a:t>Key Selection Rationale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914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Execution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orchestration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638300" y="2781300"/>
            <a:ext cx="5181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LangGraph provides durable state, pause and resume; Pydantic contracts make plans statically checkable.</a:t>
            </a:r>
            <a:endParaRPr/>
          </a:p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609600" y="3352800"/>
            <a:ext cx="914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Data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consistency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638300" y="3352800"/>
            <a:ext cx="5181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PostgreSQL is the single source of truth for tasks, events, approvals, idempotency records and the business ledger.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609600" y="3924300"/>
            <a:ext cx="914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Retrieval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strategy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1638300" y="3924300"/>
            <a:ext cx="5181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BM25 lexical recall + vector semantic recall + RRF fusion + reranking; the two recall paths are complementary.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914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Model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access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1638300" y="4495800"/>
            <a:ext cx="5181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Use a compatible API and record the real provider and usage, reducing coupling to a single vendor.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7239000" y="2209800"/>
            <a:ext cx="4572000" cy="3048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7467600" y="2400300"/>
            <a:ext cx="41148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Segoe UI"/>
                <a:ea typeface="Segoe UI"/>
              </a:rPr>
              <a:t>Deployment &amp; Observability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7467600" y="27622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Containers</a:t>
            </a:r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8496300" y="27622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API / worker / MCP / sandbox / database run as separate processes on one host.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7467600" y="33337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Pinned deps</a:t>
            </a:r>
            <a:endParaRPr/>
          </a:p>
        </p:txBody>
      </p:sp>
      <p:sp>
        <p:nvSpPr>
          <p:cNvPr id="821" name="" descr="{&quot;isTemplate&quot;:true,&quot;type&quot;:&quot;text&quot;}"/>
          <p:cNvSpPr txBox="1"/>
          <p:nvPr/>
        </p:nvSpPr>
        <p:spPr>
          <a:xfrm rot="0" flipH="0" flipV="0">
            <a:off x="8496300" y="33337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Lock files and image digests are frozen so experiments are reproducible.</a:t>
            </a:r>
            <a:endParaRPr/>
          </a:p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7467600" y="39052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Fallback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8496300" y="39052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Outbox + Redis wake-up; if a notification is lost, DB polling finds the task.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467600" y="44767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Tracing</a:t>
            </a:r>
            <a:endParaRPr/>
          </a:p>
        </p:txBody>
      </p:sp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8496300" y="4476750"/>
            <a:ext cx="30861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OpenTelemetry → Jaeger; Prometheus → Grafana.</a:t>
            </a:r>
            <a:endParaRPr/>
          </a:p>
        </p:txBody>
      </p:sp>
      <p:sp>
        <p:nvSpPr>
          <p:cNvPr id="826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827" name=""/>
          <p:cNvSpPr/>
          <p:nvPr/>
        </p:nvSpPr>
        <p:spPr>
          <a:xfrm rot="0" flipH="0" flipV="0">
            <a:off x="62865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8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" y="5743575"/>
            <a:ext cx="209550" cy="209550"/>
          </a:xfrm>
          <a:prstGeom prst="rect">
            <a:avLst/>
          </a:prstGeom>
          <a:ln/>
        </p:spPr>
      </p:pic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219200" y="54673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Selection Principles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1219200" y="5695950"/>
            <a:ext cx="10344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Components are introduced by an explicit requirement, not by accumulation. This phase 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does not introduce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 Kafka / Kubernetes / Istio, and 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does not connect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 to real merchant systems or an organizational IdP.</a:t>
            </a:r>
            <a:endParaRPr/>
          </a:p>
        </p:txBody>
      </p:sp>
      <p:sp>
        <p:nvSpPr>
          <p:cNvPr id="831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35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83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8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Key Technology ① Verifiable Planning&lt;/Text&gt;&#10;        &lt;Box style={{ marginLeft: 'auto', padding: '4px 12px', background: '#E8EFF8', borderRadius: 12 }}&gt;&lt;Text style={{ fontSize: 13, color: '#1E4FA8', fontWeight: 'bold' }}&gt;Prior-pilot validation included&lt;/Text&gt;&lt;/Box&gt;&lt;Text style={{ fontSize: 15, color: '#8B97A8', marginLeft: 14 }}&gt;04 / 06&lt;/Text&gt;&#10;    &lt;/Box&gt;&#10;&#10;    {/* C content */}&#10;    &lt;Box style={{ flexDirection: 'column', gap: 20, marginTop: 16, height: 520 }}&gt;&#10;        &lt;Box style={{ flexDirection: 'row', gap: 20, height: 400 }}&gt;&#10;            {/* left: mechanism */}&#10;            &lt;Box style={{ width: 720, background: '#F7F9FC', border: '1px solid #D6DCE5', borderRadius: 10, padding: '20px 24px', flexDirection: 'column' }}&gt;&#10;                &lt;Box style={{ flexDirection: 'row', alignItems: 'center', gap: 10 }}&gt;&#10;                    &lt;FAIcon name='sitemap' style={{ fill: '#3D7BD9', width: 20, height: 20 }} /&gt;&#10;                    &lt;Text style={{ fontSize: 22, fontWeight: 'bold', color: '#0E3F8C' }}&gt;TaskSpec Constraints + Validated DAG Compilation&lt;/Text&gt;&#10;                &lt;/Box&gt;&#10;                &lt;Text style={{ fontSize: 15, color: '#4A5568', lineHeight: 1.6, marginTop: 6 }}&gt;Turn the user goal into a statically checkable structure instead of free-generated actions.&lt;/Text&gt;&#10;&#10;                &lt;Box style={{ flexDirection: 'column', gap: 6, marginTop: 12 }}&gt;&#10;                    &lt;Box style={{ flexDirection: 'row', gap: 12, alignItems: 'flex-start' }}&gt;&#10;                        &lt;Text style={{ fontSize: 14, fontWeight: 'bold', color: '#1E4FA8', width: 92 }}&gt;Input&lt;br /&gt;constraints&lt;/Text&gt;&#10;                        &lt;Text style={{ fontSize: 15, color: '#1A2230', lineHeight: 1.5, flex: 1 }}&gt;A Pydantic TaskSpec explicitly declares goals, entities, read/write types and budget ceilings.&lt;/Text&gt;&#10;                    &lt;/Box&gt;&#10;                    &lt;Box style={{ flexDirection: 'row', gap: 12, alignItems: 'flex-start' }}&gt;&#10;                        &lt;Text style={{ fontSize: 14, fontWeight: 'bold', color: '#1E4FA8', width: 92 }}&gt;Dependency&lt;br /&gt;compilation&lt;/Text&gt;&#10;                        &lt;Text style={{ fontSize: 15, color: '#1A2230', lineHeight: 1.5, flex: 1 }}&gt;Nodes, dependencies, read/write order and bound entities are statically checkable; read-before-write is verifiable.&lt;/Text&gt;&#10;                    &lt;/Box&gt;&#10;                    &lt;Box style={{ flexDirection: 'row', gap: 12, alignItems: 'flex-start' }}&gt;&#10;                        &lt;Text style={{ fontSize: 14, fontWeight: 'bold', color: '#1E4FA8', width: 92 }}&gt;Coverage&lt;br /&gt;check&lt;/Text&gt;&#10;                        &lt;Text style={{ fontSize: 15, color: '#1A2230', lineHeight: 1.5, flex: 1 }}&gt;If an attribute identified in the source text is missing from the parsed query, the plan is rejected, preventing partial completion of composite requests.&lt;/Text&gt;&#10;                    &lt;/Box&gt;&#10;                    &lt;Box style={{ flexDirection: 'row', gap: 12, alignItems: 'flex-start' }}&gt;&#10;                        &lt;Text style={{ fontSize: 14, fontWeight: 'bold', color: '#1E4FA8', width: 92 }}&gt;Bounded&lt;br /&gt;repair&lt;/Text&gt;&#10;                        &lt;Text style={{ fontSize: 15, color: '#1A2230', lineHeight: 1.5, flex: 1 }}&gt;Failed validation enters bounded replanning; attempts, tokens, tool calls and wall-clock time are all capped.&lt;/Text&gt;&#10;                    &lt;/Box&gt;&#10;                &lt;/Box&gt;&#10;&#10;                &lt;Box style={{ marginTop: 'auto', background: '#FFFFFF', border: '1px solid #E5E7EB', borderRadius: 8, padding: '10px 16px' }}&gt;&#10;                    &lt;Text style={{ fontSize: 15, color: '#4A5568', lineHeight: 1.5 }}&gt;Negation keeps its semantic path; unknown attributes are not claimed as covered.&lt;/Text&gt;&#10;                &lt;/Box&gt;&#10;            &lt;/Box&gt;&#10;&#10;            {/* right: measured comparison */}&#10;            &lt;Box style={{ width: 460, background: '#FFFFFF', border: '1px solid #D6DCE5', borderRadius: 10, padding: '16px 22px', flexDirection: 'column' }}&gt;&#10;                &lt;Text style={{ fontSize: 22, fontWeight: 'bold', color: '#0E3F8C' }}&gt;Prior-Pilot Validation&lt;/Text&gt;&#10;                &lt;Text style={{ fontSize: 14, color: '#8B97A8', marginTop: 4 }}&gt;36 scenarios × 5 trials = 180 units / 29 families&lt;/Text&gt;&#10;&#10;                &lt;Box style={{ marginTop: 12 }}&gt;&#10;                    &lt;Text style={{ fontSize: 48, fontWeight: 'bold', color: '#1E4FA8', lineHeight: 1 }}&gt;88.33%&lt;/Text&gt;&#10;                    &lt;Text style={{ fontSize: 15, color: '#4A5568', marginTop: 4 }}&gt;Our approach P: 159 / 180 strict success&lt;/Text&gt;&#10;                &lt;/Box&gt;&#10;&#10;                &lt;Box style={{ marginTop: 10 }}&gt;&#10;                    &lt;Text style={{ fontSize: 34, fontWeight: 'bold', color: '#8B97A8', lineHeight: 1 }}&gt;65.00%&lt;/Text&gt;&#10;                    &lt;Text style={{ fontSize: 15, color: '#4A5568', marginTop: 4 }}&gt;Baseline B2 (native ReAct + hybrid retrieval): 117 / 180&lt;/Text&gt;&#10;                &lt;/Box&gt;&#10;&#10;                &lt;Box style={{ flexDirection: 'row', alignItems: 'baseline', gap: 10, marginTop: 12 }}&gt;&#10;                    &lt;Text style={{ fontSize: 28, fontWeight: 'bold', color: '#D9534F', lineHeight: 1 }}&gt;+9.14pp&lt;/Text&gt;&#10;                    &lt;Text style={{ fontSize: 15, color: '#4A5568' }}&gt;family-balanced gap&lt;/Text&gt;&#10;                &lt;/Box&gt;&#10;                &lt;Text style={{ fontSize: 15, color: '#4A5568', marginTop: 6 }}&gt;95% clustered CI [−4.66, +23.45]pp&lt;/Text&gt;&#10;&#10;                &lt;Box style={{ marginTop: 'auto', background: '#FDF3F3', borderLeft: '4px solid #D9534F', borderRadius: 8, padding: '10px 14px' }}&gt;&#10;                    &lt;Text style={{ fontSize: 14, color: '#C0392B', lineHeight: 1.5 }}&gt;The interval includes 0, so a positive effect is not statistically supported; P fell short of the pre-registered ≥90% threshold.&lt;/Text&gt;&#10;                &lt;/Box&gt;&#10;            &lt;/Box&gt;&#10;        &lt;/Box&gt;&#10;&#10;        {/* conclusion bar */}&#10;        &lt;Box style={{ height: 100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clipboard-check' style={{ fill: '#FFFFFF', width: 22, height: 22 }} /&gt;&#10;            &lt;/Box&gt;&#10;            &lt;Box style={{ flex: 1 }}&gt;&#10;                &lt;Text style={{ fontSize: 18, fontWeight: 'bold', color: '#0E3F8C' }}&gt;Engineering Problem Addressed&lt;/Text&gt;&#10;                &lt;Text style={{ fontSize: 16, color: '#1A2230', lineHeight: 1.6, marginTop: 2 }}&gt;Turn a missing product attribute or order entity from a hidden risk into an &lt;span style={{ color: '#1E4FA8', fontWeight: 'bold' }}&gt;explicit failure&lt;/span&gt;, making composite after-sales requests auditable; the ceiling is still bounded by model and scenario distribution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0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5781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Key Technology ① Verifiable Planning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9248775" y="914400"/>
            <a:ext cx="1981200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363075" y="9525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Segoe UI"/>
                <a:ea typeface="Segoe UI"/>
              </a:rPr>
              <a:t>Prior-pilot validation included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04 / 06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381000" y="1371600"/>
            <a:ext cx="6858000" cy="3810000"/>
          </a:xfrm>
          <a:prstGeom prst="roundRect">
            <a:avLst>
              <a:gd name="adj" fmla="val 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90500" cy="190500"/>
          </a:xfrm>
          <a:prstGeom prst="rect">
            <a:avLst/>
          </a:prstGeom>
          <a:ln/>
        </p:spPr>
      </p:pic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5019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TaskSpec Constraints + Validated DAG Compilation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1876425"/>
            <a:ext cx="6400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Turn the user goal into a statically checkable structure instead of free-generated actions.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2266950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Input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constraints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600200" y="2266950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A Pydantic TaskSpec explicitly declares goals, entities, read/write types and budget ceilings.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" y="2838450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Dependency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compilation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600200" y="2838450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Nodes, dependencies, read/write order and bound entities are statically checkable; read-before-write is verifiable.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09600" y="3409950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Coverage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check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600200" y="3409950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If an attribute identified in the source text is missing from the parsed query, the plan is rejected, preventing partial completion of composite requests.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3981450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Bounded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repair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600200" y="3981450"/>
            <a:ext cx="54102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Failed validation enters bounded replanning; attempts, tokens, tool calls and wall-clock time are all capped.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609600" y="4543425"/>
            <a:ext cx="6400800" cy="447675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62000" y="4638675"/>
            <a:ext cx="6096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Negation keeps its semantic path; unknown attributes are not claimed as covered.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429500" y="1371600"/>
            <a:ext cx="4381500" cy="381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639050" y="1524000"/>
            <a:ext cx="3962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Prior-Pilot Validation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639050" y="1819275"/>
            <a:ext cx="3962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36 scenarios × 5 trials = 180 units / 29 families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639050" y="2095500"/>
            <a:ext cx="39624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Segoe UI"/>
                <a:ea typeface="Segoe UI"/>
              </a:rPr>
              <a:t>88.33%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639050" y="268605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Our approach P: 159 / 180 strict success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639050" y="2952750"/>
            <a:ext cx="3962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8B97A8"/>
                </a:solidFill>
                <a:latin typeface="Segoe UI"/>
                <a:ea typeface="Segoe UI"/>
              </a:rPr>
              <a:t>65.00%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639050" y="338137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Baseline B2 (native ReAct + hybrid retrieval): 117 / 180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639050" y="3667125"/>
            <a:ext cx="10572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D9534F"/>
                </a:solidFill>
                <a:latin typeface="Segoe UI"/>
                <a:ea typeface="Segoe UI"/>
              </a:rPr>
              <a:t>+9.14pp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8791575" y="3667125"/>
            <a:ext cx="1285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family-balanced gap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639050" y="40481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95% clustered CI [−4.66, +23.45]pp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677150" y="4352925"/>
            <a:ext cx="3962400" cy="676275"/>
          </a:xfrm>
          <a:prstGeom prst="roundRect">
            <a:avLst>
              <a:gd name="adj" fmla="val 11268"/>
            </a:avLst>
          </a:prstGeom>
          <a:solidFill>
            <a:srgbClr val="FDF3F3"/>
          </a:solidFill>
          <a:ln/>
        </p:spPr>
        <p:txBody>
          <a:bodyPr/>
          <a:p/>
        </p:txBody>
      </p:sp>
      <p:sp>
        <p:nvSpPr>
          <p:cNvPr id="60" name=""/>
          <p:cNvSpPr/>
          <p:nvPr/>
        </p:nvSpPr>
        <p:spPr>
          <a:xfrm rot="0" flipH="0" flipV="0">
            <a:off x="7677150" y="4352925"/>
            <a:ext cx="3962400" cy="676275"/>
          </a:xfrm>
          <a:custGeom>
            <a:pathLst>
              <a:path w="416" h="71">
                <a:moveTo>
                  <a:pt x="8" y="0"/>
                </a:moveTo>
                <a:cubicBezTo>
                  <a:pt x="6" y="0"/>
                  <a:pt x="4" y="2"/>
                  <a:pt x="4" y="4"/>
                </a:cubicBezTo>
                <a:lnTo>
                  <a:pt x="4" y="67"/>
                </a:lnTo>
                <a:cubicBezTo>
                  <a:pt x="4" y="69"/>
                  <a:pt x="5" y="71"/>
                  <a:pt x="7" y="71"/>
                </a:cubicBezTo>
                <a:cubicBezTo>
                  <a:pt x="3" y="71"/>
                  <a:pt x="0" y="67"/>
                  <a:pt x="0" y="63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810500" y="4448175"/>
            <a:ext cx="3657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C0392B"/>
                </a:solidFill>
                <a:latin typeface="Segoe UI"/>
                <a:ea typeface="Segoe UI"/>
              </a:rPr>
              <a:t>The interval includes 0, so a positive effect is not statistically supported; P fell short of the pre-registered ≥90% threshold.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628650" y="56388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3425" y="5743575"/>
            <a:ext cx="209550" cy="209550"/>
          </a:xfrm>
          <a:prstGeom prst="rect">
            <a:avLst/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219200" y="543877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Engineering Problem Addressed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219200" y="5667375"/>
            <a:ext cx="1034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 xml:space="preserve">Turn a missing product attribute or order entity from a hidden risk into an </a:t>
            </a: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explicit failure</a:t>
            </a: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>, making composite after-sales requests auditable; the ceiling is still bounded by model and scenario distribution.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7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5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Key Technology ② Authorized Tool Routing&lt;/Text&gt;&#10;        &lt;Box style={{ marginLeft: 'auto', padding: '4px 12px', background: '#E8EFF8', borderRadius: 12 }}&gt;&lt;Text style={{ fontSize: 13, color: '#1E4FA8', fontWeight: 'bold' }}&gt;Prior-pilot validation included&lt;/Text&gt;&lt;/Box&gt;&lt;Text style={{ fontSize: 15, color: '#8B97A8', marginLeft: 14 }}&gt;04 / 06&lt;/Text&gt;&#10;    &lt;/Box&gt;&#10;&#10;    {/* C content */}&#10;    &lt;Box style={{ flexDirection: 'column', gap: 12, marginTop: 16, height: 520 }}&gt;&#10;        {/* authorization-first flow bar */}&#10;        &lt;Box style={{ height: 84, background: '#0E3F8C', borderRadius: 10, padding: '0 22px', flexDirection: 'row', alignItems: 'center', gap: 10 }}&gt;&#10;            &lt;Text style={{ fontSize: 14, fontWeight: 'bold', color: '#3D7BD9', width: 88 }}&gt;Auth first&lt;/Text&gt;&#10;            &lt;Box style={{ padding: '7px 16px', background: '#FFFFFF', borderRadius: 16 }}&gt;&#10;                &lt;Text style={{ fontSize: 15, fontWeight: 'bold', color: '#0E3F8C', lineHeight: 1.2 }}&gt;Authenticate&lt;/Text&gt;&#10;            &lt;/Box&gt;&#10;            &lt;Text style={{ fontSize: 18, color: '#7FA3D6' }}&gt;→&lt;/Text&gt;&#10;            &lt;Box style={{ padding: '7px 16px', background: '#FFFFFF', borderRadius: 16 }}&gt;&#10;                &lt;Text style={{ fontSize: 15, fontWeight: 'bold', color: '#0E3F8C', lineHeight: 1.2 }}&gt;Scope filter&lt;/Text&gt;&#10;            &lt;/Box&gt;&#10;            &lt;Text style={{ fontSize: 18, color: '#7FA3D6' }}&gt;→&lt;/Text&gt;&#10;            &lt;Box style={{ padding: '7px 16px', background: '#FFFFFF', borderRadius: 16 }}&gt;&#10;                &lt;Text style={{ fontSize: 15, fontWeight: 'bold', color: '#0E3F8C', lineHeight: 1.2 }}&gt;Candidate retrieval&lt;/Text&gt;&#10;            &lt;/Box&gt;&#10;            &lt;Text style={{ fontSize: 18, color: '#7FA3D6' }}&gt;→&lt;/Text&gt;&#10;            &lt;Box style={{ padding: '7px 16px', background: '#FFFFFF', borderRadius: 16 }}&gt;&#10;                &lt;Text style={{ fontSize: 15, fontWeight: 'bold', color: '#0E3F8C', lineHeight: 1.2 }}&gt;Param / version re-check&lt;/Text&gt;&#10;            &lt;/Box&gt;&#10;            &lt;Text style={{ fontSize: 18, color: '#7FA3D6' }}&gt;→&lt;/Text&gt;&#10;            &lt;Box style={{ padding: '7px 16px', background: '#3D7BD9', borderRadius: 16 }}&gt;&#10;                &lt;Text style={{ fontSize: 15, fontWeight: 'bold', color: '#FFFFFF', lineHeight: 1.2 }}&gt;Controlled execution&lt;/Text&gt;&#10;            &lt;/Box&gt;&#10;        &lt;/Box&gt;&#10;&#10;        {/* three columns */}&#10;        &lt;Box style={{ flexDirection: 'row', gap: 15, height: 316 }}&gt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filter' style={{ fill: '#1E4FA8', width: 22, height: 22 }} /&gt;&#10;                &lt;/Box&gt;&#10;                &lt;Text style={{ fontSize: 22, fontWeight: 'bold', color: '#0E3F8C', marginTop: 12 }}&gt;Filter Before Retrieval&lt;/Text&gt;&#10;                &lt;Text style={{ fontSize: 15, color: '#4A5568', lineHeight: 1.6, marginTop: 10 }}&gt;Authentication and resource authorization complete before retrieval; unauthorized tools never enter the candidate set, structurally removing the “recall first, block later” window.&lt;/Text&gt;&#10;                &lt;Box style={{ marginTop: 'auto', paddingTop: 12, borderTop: '1px solid #E5E7EB' }}&gt;&#10;                    &lt;Text style={{ fontSize: 15, fontWeight: 'bold', color: '#D9534F' }}&gt;The model cannot widen permissions&lt;/Text&gt;&#10;                &lt;/Box&gt;&#10;            &lt;/Box&gt;&#10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plug' style={{ fill: '#1E4FA8', width: 22, height: 22 }} /&gt;&#10;                &lt;/Box&gt;&#10;                &lt;Text style={{ fontSize: 22, fontWeight: 'bold', color: '#0E3F8C', marginTop: 12 }}&gt;40 Real MCP Tools&lt;/Text&gt;&#10;                &lt;Text style={{ fontSize: 15, color: '#4A5568', lineHeight: 1.6, marginTop: 10 }}&gt;Tools determine business effects through the publisher's projection contract; explicit effects use controlled parameter binding, with schema, catalog version and parameters re-validated before the call.&lt;/Text&gt;&#10;                &lt;Box style={{ marginTop: 'auto', paddingTop: 12, borderTop: '1px solid #E5E7EB' }}&gt;&#10;                    &lt;Text style={{ fontSize: 15, fontWeight: 'bold', color: '#1E4FA8' }}&gt;Parameters bound, effects enumerable&lt;/Text&gt;&#10;                &lt;/Box&gt;&#10;            &lt;/Box&gt;&#10;&#10;            &lt;Box style={{ flex: 1, background: '#FFFFFF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chart-bar' style={{ fill: '#1E4FA8', width: 22, height: 22 }} /&gt;&#10;                &lt;/Box&gt;&#10;                &lt;Text style={{ fontSize: 22, fontWeight: 'bold', color: '#0E3F8C', marginTop: 12 }}&gt;Pilot: 1,000-Item Catalog&lt;/Text&gt;&#10;                &lt;Text style={{ fontSize: 15, color: '#4A5568', lineHeight: 1.6, marginTop: 10 }}&gt;40 real tools + 960 fixed public descriptions as distractors; 50 cases × 3 trials, both arms 150/150, difference 0pp.&lt;/Text&gt;&#10;                &lt;Box style={{ marginTop: 'auto', paddingTop: 12, borderTop: '1px solid #E5E7EB' }}&gt;&#10;                    &lt;Text style={{ fontSize: 15, fontWeight: 'bold', color: '#D9534F' }}&gt;Baseline at ceiling; +5pp not reached&lt;/Text&gt;&#10;                &lt;/Box&gt;&#10;            &lt;/Box&gt;&#10;        &lt;/Box&gt;&#10;&#10;        {/* conclusion bar */}&#10;        &lt;Box style={{ height: 96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shield-alt' style={{ fill: '#FFFFFF', width: 22, height: 22 }} /&gt;&#10;            &lt;/Box&gt;&#10;            &lt;Box style={{ flex: 1 }}&gt;&#10;                &lt;Text style={{ fontSize: 18, fontWeight: 'bold', color: '#0E3F8C' }}&gt;Conclusion and Boundaries&lt;/Text&gt;&#10;                &lt;Text style={{ fontSize: 16, color: '#1A2230', lineHeight: 1.6, marginTop: 2 }}&gt;Routing shows no quality regression at 1,000 items; however this does not support “routing accuracy beats hybrid retrieval”, nor does it mean the 960 public descriptions correspond to callable real APIs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1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6629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Key Technology ② Authorized Tool Routing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9248775" y="914400"/>
            <a:ext cx="1981200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363075" y="9525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Segoe UI"/>
                <a:ea typeface="Segoe UI"/>
              </a:rPr>
              <a:t>Prior-pilot validation included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04 / 06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381000" y="13716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590550" y="1695450"/>
            <a:ext cx="83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3D7BD9"/>
                </a:solidFill>
                <a:latin typeface="Segoe UI"/>
                <a:ea typeface="Segoe UI"/>
              </a:rPr>
              <a:t>Auth first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1524000" y="1600200"/>
            <a:ext cx="1171575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676400" y="1666875"/>
            <a:ext cx="86677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Authenticate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2790825" y="1666875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3038475" y="1600200"/>
            <a:ext cx="1076325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3190875" y="1666875"/>
            <a:ext cx="771525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Scope filter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210050" y="1666875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4457700" y="1600200"/>
            <a:ext cx="158115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610100" y="1666875"/>
            <a:ext cx="127635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Candidate retrieval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134100" y="1666875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381750" y="1600200"/>
            <a:ext cx="1981200" cy="34290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534150" y="1666875"/>
            <a:ext cx="16764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Param / version re-check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8458200" y="1666875"/>
            <a:ext cx="152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7FA3D6"/>
                </a:solidFill>
                <a:latin typeface="Segoe UI"/>
                <a:ea typeface="Segoe UI"/>
              </a:rPr>
              <a:t>→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705850" y="1600200"/>
            <a:ext cx="1714500" cy="342900"/>
          </a:xfrm>
          <a:prstGeom prst="roundRect">
            <a:avLst>
              <a:gd name="adj" fmla="val 44444"/>
            </a:avLst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858250" y="1666875"/>
            <a:ext cx="1409700" cy="2095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1125" b="1">
                <a:solidFill>
                  <a:srgbClr val="FFFFFF"/>
                </a:solidFill>
                <a:latin typeface="Segoe UI"/>
                <a:ea typeface="Segoe UI"/>
              </a:rPr>
              <a:t>Controlled execution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381000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590550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5325" y="2581275"/>
            <a:ext cx="209550" cy="209550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90550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Filter Before Retrieval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90550" y="3362325"/>
            <a:ext cx="32956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Authentication and resource authorization complete before retrieval; unauthorized tools never enter the candidate set, structurally removing the “recall first, block later” window.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9055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9055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Segoe UI"/>
                <a:ea typeface="Segoe UI"/>
              </a:rPr>
              <a:t>The model cannot widen permissions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238625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448175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52950" y="2581275"/>
            <a:ext cx="209550" cy="2095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48175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40 Real MCP Tools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448175" y="3362325"/>
            <a:ext cx="32956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Tools determine business effects through the publisher's projection contract; explicit effects use controlled parameter binding, with schema, catalog version and parameters re-validated before the call.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448175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448175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Parameters bound, effects enumerable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8096250" y="2286000"/>
            <a:ext cx="3714750" cy="300990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3" name=""/>
          <p:cNvSpPr/>
          <p:nvPr/>
        </p:nvSpPr>
        <p:spPr>
          <a:xfrm rot="0" flipH="0" flipV="0">
            <a:off x="8305800" y="2476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410575" y="2581275"/>
            <a:ext cx="209550" cy="209550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05800" y="30099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Pilot: 1,000-Item Catalog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05800" y="3362325"/>
            <a:ext cx="32956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40 real tools + 960 fixed public descriptions as distractors; 50 cases × 3 trials, both arms 150/150, difference 0pp.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8305800" y="48101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305800" y="49339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Segoe UI"/>
                <a:ea typeface="Segoe UI"/>
              </a:rPr>
              <a:t>Baseline at ceiling; +5pp not reached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81000" y="5410200"/>
            <a:ext cx="11430000" cy="914400"/>
          </a:xfrm>
          <a:prstGeom prst="roundRect">
            <a:avLst>
              <a:gd name="adj" fmla="val 10417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28650" y="56578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1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33425" y="5762625"/>
            <a:ext cx="209550" cy="209550"/>
          </a:xfrm>
          <a:prstGeom prst="rect">
            <a:avLst/>
          </a:prstGeom>
          <a:ln/>
        </p:spPr>
      </p:pic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219200" y="5457825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Conclusion and Boundaries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219200" y="5686425"/>
            <a:ext cx="103441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>Routing shows no quality regression at 1,000 items; however this does not support “routing accuracy beats hybrid retrieval”, nor does it mean the 960 public descriptions correspond to callable real APIs.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8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129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32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Key Technology ③ Freshness-Aware Memory&lt;/Text&gt;&#10;        &lt;Box style={{ marginLeft: 'auto', padding: '4px 12px', background: '#E8EFF8', borderRadius: 12 }}&gt;&lt;Text style={{ fontSize: 13, color: '#1E4FA8', fontWeight: 'bold' }}&gt;Prior-pilot validation included&lt;/Text&gt;&lt;/Box&gt;&lt;Text style={{ fontSize: 15, color: '#8B97A8', marginLeft: 14 }}&gt;04 / 06&lt;/Text&gt;&#10;    &lt;/Box&gt;&#10;&#10;    {/* C content */}&#10;    &lt;Box style={{ flexDirection: 'column', gap: 12, marginTop: 16, height: 520 }}&gt;&#10;        {/* lead-in bar */}&#10;        &lt;Box style={{ height: 60, background: '#F0F5FC', border: '1px solid #C9DCF5', borderRadius: 8, padding: '0 22px', flexDirection: 'row', alignItems: 'center', gap: 12 }}&gt;&#10;            &lt;FAIcon name='brain' style={{ fill: '#1E4FA8', width: 20, height: 20 }} /&gt;&#10;            &lt;Text style={{ fontSize: 15, color: '#1A2230' }}&gt;Context = an &lt;span style={{ fontWeight: 'bold', color: '#1E4FA8' }}&gt;owner-isolated entity ledger&lt;/span&gt; + a bounded recent window + reference offloading + a token budget; memory serves reference resolution only, never facts or authorization.&lt;/Text&gt;&#10;        &lt;/Box&gt;&#10;&#10;        {/* three columns */}&#10;        &lt;Box style={{ flexDirection: 'row', gap: 15, height: 328 }}&gt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book' style={{ fill: '#1E4FA8', width: 22, height: 22 }} /&gt;&#10;                &lt;/Box&gt;&#10;                &lt;Text style={{ fontSize: 22, fontWeight: 'bold', color: '#0E3F8C', marginTop: 12 }}&gt;Owner-Isolated Ledger&lt;/Text&gt;&#10;                &lt;Text style={{ fontSize: 15, color: '#4A5568', lineHeight: 1.6, marginTop: 10 }}&gt;The session entity ledger is isolated per owner and only resolves back-references such as “this item” or “the first order”; resolved entities still require a fresh read via current merchant tools.&lt;/Text&gt;&#10;                &lt;Box style={{ marginTop: 'auto', paddingTop: 12, borderTop: '1px solid #E5E7EB' }}&gt;&#10;                    &lt;Text style={{ fontSize: 15, fontWeight: 'bold', color: '#D9534F' }}&gt;The ledger itself grants no permissions&lt;/Text&gt;&#10;                &lt;/Box&gt;&#10;            &lt;/Box&gt;&#10;&#10;            &lt;Box style={{ flex: 1, background: '#F7F9FC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compress-alt' style={{ fill: '#1E4FA8', width: 22, height: 22 }} /&gt;&#10;                &lt;/Box&gt;&#10;                &lt;Text style={{ fontSize: 22, fontWeight: 'bold', color: '#0E3F8C', marginTop: 12 }}&gt;Reference Offload &amp;amp; Budget&lt;/Text&gt;&#10;                &lt;Text style={{ fontSize: 15, color: '#4A5568', lineHeight: 1.6, marginTop: 10 }}&gt;Key fields are kept, historical references offloaded and a conservative token ceiling enforced; several entities may share one source span, rather than padding entity sentences to relax provenance checks.&lt;/Text&gt;&#10;                &lt;Box style={{ marginTop: 'auto', paddingTop: 12, borderTop: '1px solid #E5E7EB' }}&gt;&#10;                    &lt;Text style={{ fontSize: 15, fontWeight: 'bold', color: '#1E4FA8' }}&gt;Shared attributes reuse one source span&lt;/Text&gt;&#10;                &lt;/Box&gt;&#10;            &lt;/Box&gt;&#10;&#10;            &lt;Box style={{ flex: 1, background: '#FFFFFF', border: '1px solid #D6DCE5', borderRadius: 10, padding: '20px 22px', flexDirection: 'column' }}&gt;&#10;                &lt;Box style={{ width: 44, height: 44, borderRadius: 10, background: '#E8EFF8', justifyContent: 'center', alignItems: 'center' }}&gt;&#10;                    &lt;FAIcon name='sync-alt' style={{ fill: '#1E4FA8', width: 22, height: 22 }} /&gt;&#10;                &lt;/Box&gt;&#10;                &lt;Text style={{ fontSize: 22, fontWeight: 'bold', color: '#0E3F8C', marginTop: 12 }}&gt;Non-Inheritance Principle&lt;/Text&gt;&#10;                &lt;Text style={{ fontSize: 15, color: '#4A5568', lineHeight: 1.6, marginTop: 10 }}&gt;Stale amounts, business state and past approvals never become current facts or authorization; the merchant system is re-read before execution, and any state change invalidates the old proposal and approval.&lt;/Text&gt;&#10;                &lt;Box style={{ marginTop: 'auto', paddingTop: 12, borderTop: '1px solid #E5E7EB' }}&gt;&#10;                    &lt;Text style={{ fontSize: 15, fontWeight: 'bold', color: '#D9534F' }}&gt;Stale amounts and approvals never inherited&lt;/Text&gt;&#10;                &lt;/Box&gt;&#10;            &lt;/Box&gt;&#10;        &lt;/Box&gt;&#10;&#10;        {/* data bar */}&#10;        &lt;Box style={{ height: 108, background: '#F0F5FC', border: '1px solid #C9DCF5', borderRadius: 10, padding: '12px 26px', flexDirection: 'column', justifyContent: 'center', gap: 8 }}&gt;&#10;            &lt;Box style={{ flexDirection: 'row', alignItems: 'baseline', gap: 26 }}&gt;&#10;                &lt;Box style={{ flexDirection: 'row', alignItems: 'baseline', gap: 8 }}&gt;&#10;                    &lt;Text style={{ fontSize: 34, fontWeight: 'bold', color: '#1E4FA8', lineHeight: 1 }}&gt;180/180&lt;/Text&gt;&#10;                    &lt;Text style={{ fontSize: 15, color: '#4A5568' }}&gt;Our approach P (100%)&lt;/Text&gt;&#10;                &lt;/Box&gt;&#10;                &lt;Box style={{ flexDirection: 'row', alignItems: 'baseline', gap: 8 }}&gt;&#10;                    &lt;Text style={{ fontSize: 26, fontWeight: 'bold', color: '#8B97A8', lineHeight: 1 }}&gt;62/180&lt;/Text&gt;&#10;                    &lt;Text style={{ fontSize: 15, color: '#4A5568' }}&gt;Baseline M-vector (34.44%)&lt;/Text&gt;&#10;                &lt;/Box&gt;&#10;                &lt;Text style={{ fontSize: 22, fontWeight: 'bold', color: '#D9534F' }}&gt;+75.64pp&lt;/Text&gt;&#10;                &lt;Text style={{ fontSize: 15, color: '#4A5568' }}&gt;95% CI [+55.13, +92.31]pp&lt;/Text&gt;&#10;            &lt;/Box&gt;&#10;            &lt;Text style={{ fontSize: 15, color: '#4A5568' }}&gt;Conditional prompt tokens: &lt;span style={{ fontWeight: 'bold', color: '#1E4FA8' }}&gt;513,308 → 180,291 (−64.88%)&lt;/span&gt;, covering only the 62 pairs correct in both arms; offline embedding cost excluded.&lt;/Text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2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6838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Key Technology ③ Freshness-Aware Memory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9248775" y="914400"/>
            <a:ext cx="1981200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363075" y="9525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Segoe UI"/>
                <a:ea typeface="Segoe UI"/>
              </a:rPr>
              <a:t>Prior-pilot validation included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04 / 06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381000" y="1371600"/>
            <a:ext cx="11430000" cy="571500"/>
          </a:xfrm>
          <a:prstGeom prst="roundRect">
            <a:avLst>
              <a:gd name="adj" fmla="val 13333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1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562100"/>
            <a:ext cx="190500" cy="190500"/>
          </a:xfrm>
          <a:prstGeom prst="rect">
            <a:avLst/>
          </a:prstGeom>
          <a:ln/>
        </p:spPr>
      </p:pic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885825" y="1485900"/>
            <a:ext cx="10715625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Context = an </a:t>
            </a: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owner-isolated entity ledger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 + a bounded recent window + reference offloading + a token budget; memory serves reference resolution only, never facts or authorization.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381000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590550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5325" y="2352675"/>
            <a:ext cx="209550" cy="20955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590550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Owner-Isolated Ledger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590550" y="3133725"/>
            <a:ext cx="32956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The session entity ledger is isolated per owner and only resolves back-references such as “this item” or “the first order”; resolved entities still require a fresh read via current merchant tools.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590550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590550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Segoe UI"/>
                <a:ea typeface="Segoe UI"/>
              </a:rPr>
              <a:t>The ledger itself grants no permissions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4238625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4448175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52950" y="2352675"/>
            <a:ext cx="209550" cy="209550"/>
          </a:xfrm>
          <a:prstGeom prst="rect">
            <a:avLst/>
          </a:prstGeom>
          <a:ln/>
        </p:spPr>
      </p:pic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4448175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Reference Offload &amp; Budget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4448175" y="3133725"/>
            <a:ext cx="3295650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Key fields are kept, historical references offloaded and a conservative token ceiling enforced; several entities may share one source span, rather than padding entity sentences to relax provenance checks.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4448175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448175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Shared attributes reuse one source span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8096250" y="2057400"/>
            <a:ext cx="3714750" cy="3124200"/>
          </a:xfrm>
          <a:prstGeom prst="roundRect">
            <a:avLst>
              <a:gd name="adj" fmla="val 304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8305800" y="2247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1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410575" y="2352675"/>
            <a:ext cx="209550" cy="209550"/>
          </a:xfrm>
          <a:prstGeom prst="rect">
            <a:avLst/>
          </a:prstGeom>
          <a:ln/>
        </p:spPr>
      </p:pic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305800" y="2781300"/>
            <a:ext cx="3295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Non-Inheritance Principle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305800" y="3133725"/>
            <a:ext cx="3295650" cy="1371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Stale amounts, business state and past approvals never become current facts or authorization; the merchant system is re-read before execution, and any state change invalidates the old proposal and approval.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8305800" y="4695825"/>
            <a:ext cx="3295650" cy="304800"/>
          </a:xfrm>
          <a:custGeom>
            <a:pathLst>
              <a:path w="346" h="32">
                <a:moveTo>
                  <a:pt x="0" y="0"/>
                </a:moveTo>
                <a:lnTo>
                  <a:pt x="346" y="0"/>
                </a:lnTo>
                <a:lnTo>
                  <a:pt x="346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8305800" y="4819650"/>
            <a:ext cx="3295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D9534F"/>
                </a:solidFill>
                <a:latin typeface="Segoe UI"/>
                <a:ea typeface="Segoe UI"/>
              </a:rPr>
              <a:t>Stale amounts and approvals never inherited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381000" y="5295900"/>
            <a:ext cx="11430000" cy="1028700"/>
          </a:xfrm>
          <a:prstGeom prst="roundRect">
            <a:avLst>
              <a:gd name="adj" fmla="val 9259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28650" y="5495925"/>
            <a:ext cx="1266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E4FA8"/>
                </a:solidFill>
                <a:latin typeface="Segoe UI"/>
                <a:ea typeface="Segoe UI"/>
              </a:rPr>
              <a:t>180/180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971675" y="5495925"/>
            <a:ext cx="1466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Our approach P (100%)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3686175" y="5495925"/>
            <a:ext cx="828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B97A8"/>
                </a:solidFill>
                <a:latin typeface="Segoe UI"/>
                <a:ea typeface="Segoe UI"/>
              </a:rPr>
              <a:t>62/180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591050" y="5495925"/>
            <a:ext cx="1714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Baseline M-vector (34.44%)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553200" y="5495925"/>
            <a:ext cx="952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D9534F"/>
                </a:solidFill>
                <a:latin typeface="Segoe UI"/>
                <a:ea typeface="Segoe UI"/>
              </a:rPr>
              <a:t>+75.64pp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753350" y="5495925"/>
            <a:ext cx="1676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95% CI [+55.13, +92.31]pp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28650" y="596265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 xml:space="preserve">Conditional prompt tokens: </a:t>
            </a: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513,308 → 180,291 (−64.88%)</a:t>
            </a: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, covering only the 62 pairs correct in both arms; offline embedding cost excluded.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5" name=""/>
          <p:cNvPicPr>
            <a:picLocks noChangeAspect="1"/>
          </p:cNvPicPr>
          <p:nvPr/>
        </p:nvPicPr>
        <p:blipFill>
          <a:blip r:embed="rId5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176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9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Key Technology ④ Reflection &amp;amp; Recovery&lt;/Text&gt;&#10;        &lt;Box style={{ marginLeft: 'auto', padding: '4px 12px', background: '#E8EFF8', borderRadius: 12 }}&gt;&lt;Text style={{ fontSize: 13, color: '#1E4FA8', fontWeight: 'bold' }}&gt;Prior-pilot validation included&lt;/Text&gt;&lt;/Box&gt;&lt;Text style={{ fontSize: 15, color: '#8B97A8', marginLeft: 14 }}&gt;04 / 06&lt;/Text&gt;&#10;    &lt;/Box&gt;&#10;&#10;    {/* C content */}&#10;    &lt;Box style={{ flexDirection: 'column', gap: 12, marginTop: 16, height: 520 }}&gt;&#10;        {/* observation packet four fields */}&#10;        &lt;Box style={{ flexDirection: 'row', gap: 12, height: 72 }}&gt;&#10;            &lt;Box style={{ flex: 1, background: '#F0F5FC', border: '1px solid #C9DCF5', borderRadius: 8, padding: '0 18px', flexDirection: 'row', alignItems: 'center', gap: 12 }}&gt;&#10;                &lt;Text style={{ fontSize: 16, fontWeight: 'bold', color: '#1E4FA8' }}&gt;Source&lt;/Text&gt;&#10;                &lt;Text style={{ fontSize: 15, color: '#4A5568' }}&gt;Provenance traceable&lt;/Text&gt;&#10;            &lt;/Box&gt;&#10;            &lt;Box style={{ flex: 1, background: '#F0F5FC', border: '1px solid #C9DCF5', borderRadius: 8, padding: '0 18px', flexDirection: 'row', alignItems: 'center', gap: 12 }}&gt;&#10;                &lt;Text style={{ fontSize: 16, fontWeight: 'bold', color: '#1E4FA8' }}&gt;Entity&lt;/Text&gt;&#10;                &lt;Text style={{ fontSize: 15, color: '#4A5568' }}&gt;Bound to order / item&lt;/Text&gt;&#10;            &lt;/Box&gt;&#10;            &lt;Box style={{ flex: 1, background: '#F0F5FC', border: '1px solid #C9DCF5', borderRadius: 8, padding: '0 18px', flexDirection: 'row', alignItems: 'center', gap: 12 }}&gt;&#10;                &lt;Text style={{ fontSize: 16, fontWeight: 'bold', color: '#1E4FA8' }}&gt;Version&lt;/Text&gt;&#10;                &lt;Text style={{ fontSize: 15, color: '#4A5568' }}&gt;State versions comparable&lt;/Text&gt;&#10;            &lt;/Box&gt;&#10;            &lt;Box style={{ flex: 1, background: '#F0F5FC', border: '1px solid #C9DCF5', borderRadius: 8, padding: '0 18px', flexDirection: 'row', alignItems: 'center', gap: 12 }}&gt;&#10;                &lt;Text style={{ fontSize: 16, fontWeight: 'bold', color: '#1E4FA8' }}&gt;Time&lt;/Text&gt;&#10;                &lt;Text style={{ fontSize: 15, color: '#4A5568' }}&gt;Freshness / schema check&lt;/Text&gt;&#10;            &lt;/Box&gt;&#10;        &lt;/Box&gt;&#10;&#10;        &lt;Box style={{ flexDirection: 'row', gap: 20, height: 344 }}&gt;&#10;            {/* left: mechanism */}&#10;            &lt;Box style={{ width: 720, background: '#F7F9FC', border: '1px solid #D6DCE5', borderRadius: 10, padding: '20px 24px', flexDirection: 'column' }}&gt;&#10;                &lt;Box style={{ flexDirection: 'row', alignItems: 'center', gap: 10 }}&gt;&#10;                    &lt;FAIcon name='sync-alt' style={{ fill: '#3D7BD9', width: 20, height: 20 }} /&gt;&#10;                    &lt;Text style={{ fontSize: 22, fontWeight: 'bold', color: '#0E3F8C' }}&gt;Observation-Packet-Driven Reflection and Recovery&lt;/Text&gt;&#10;                &lt;/Box&gt;&#10;                &lt;Box style={{ flexDirection: 'column', gap: 10, marginTop: 16 }}&gt;&#10;                    &lt;Box style={{ flexDirection: 'row', gap: 14, alignItems: 'flex-start' }}&gt;&#10;                        &lt;Text style={{ fontSize: 14, fontWeight: 'bold', color: '#1E4FA8', width: 92 }}&gt;Evidence&lt;br /&gt;reflection&lt;/Text&gt;&#10;                        &lt;Text style={{ fontSize: 15, color: '#1A2230', lineHeight: 1.5, flex: 1 }}&gt;Deterministic evidence and business-contradiction checks come first; model suggestions can only narrow the action set, never widen permissions.&lt;/Text&gt;&#10;                    &lt;/Box&gt;&#10;                    &lt;Box style={{ flexDirection: 'row', gap: 14, alignItems: 'flex-start' }}&gt;&#10;                        &lt;Text style={{ fontSize: 14, fontWeight: 'bold', color: '#1E4FA8', width: 92 }}&gt;Change&lt;br /&gt;awareness&lt;/Text&gt;&#10;                        &lt;Text style={{ fontSize: 15, color: '#1A2230', lineHeight: 1.5, flex: 1 }}&gt;A state change triggers evidence refresh and proposal invalidation; re-collected evidence must be re-confirmed.&lt;/Text&gt;&#10;                    &lt;/Box&gt;&#10;                    &lt;Box style={{ flexDirection: 'row', gap: 14, alignItems: 'flex-start' }}&gt;&#10;                        &lt;Text style={{ fontSize: 14, fontWeight: 'bold', color: '#1E4FA8', width: 92 }}&gt;Idempotent&lt;br /&gt;writes&lt;/Text&gt;&#10;                        &lt;Text style={{ fontSize: 15, color: '#1A2230', lineHeight: 1.5, flex: 1 }}&gt;PostgreSQL unique constraints + legal state transitions + transactions + operation receipts together form the idempotency boundary.&lt;/Text&gt;&#10;                    &lt;/Box&gt;&#10;                    &lt;Box style={{ flexDirection: 'row', gap: 14, alignItems: 'flex-start' }}&gt;&#10;                        &lt;Text style={{ fontSize: 14, fontWeight: 'bold', color: '#1E4FA8', width: 92 }}&gt;Failure&lt;br /&gt;takeover&lt;/Text&gt;&#10;                        &lt;Text style={{ fontSize: 15, color: '#1A2230', lineHeight: 1.5, flex: 1 }}&gt;Leases, fencing and LangGraph checkpoints ensure unfinished tasks are taken over rather than re-executed.&lt;/Text&gt;&#10;                    &lt;/Box&gt;&#10;                &lt;/Box&gt;&#10;            &lt;/Box&gt;&#10;&#10;            {/* right: data */}&#10;            &lt;Box style={{ width: 460, background: '#FFFFFF', border: '1px solid #D6DCE5', borderRadius: 10, padding: '16px 22px', flexDirection: 'column' }}&gt;&#10;                &lt;Text style={{ fontSize: 20, fontWeight: 'bold', color: '#0E3F8C' }}&gt;Pilot Validation&lt;br /&gt;(Recoverable Failures)&lt;/Text&gt;&#10;&#10;                &lt;Box style={{ marginTop: 6 }}&gt;&#10;                    &lt;Text style={{ fontSize: 36, fontWeight: 'bold', color: '#1E4FA8', lineHeight: 1 }}&gt;144/144&lt;/Text&gt;&#10;                    &lt;Text style={{ fontSize: 15, color: '#4A5568', marginTop: 4 }}&gt;Our approach P (100%)&lt;/Text&gt;&#10;                &lt;/Box&gt;&#10;&#10;                &lt;Box style={{ marginTop: 6 }}&gt;&#10;                    &lt;Text style={{ fontSize: 26, fontWeight: 'bold', color: '#8B97A8', lineHeight: 1 }}&gt;48/144&lt;/Text&gt;&#10;                    &lt;Text style={{ fontSize: 15, color: '#4A5568', marginTop: 4 }}&gt;Baseline A-reflect (33.33%)&lt;/Text&gt;&#10;                &lt;/Box&gt;&#10;&#10;                &lt;Box style={{ flexDirection: 'row', alignItems: 'baseline', gap: 10, marginTop: 8 }}&gt;&#10;                    &lt;Text style={{ fontSize: 24, fontWeight: 'bold', color: '#D9534F', lineHeight: 1 }}&gt;+66.67pp&lt;/Text&gt;&#10;                    &lt;Text style={{ fontSize: 15, color: '#4A5568' }}&gt;family-balanced gap&lt;/Text&gt;&#10;                &lt;/Box&gt;&#10;                &lt;Text style={{ fontSize: 15, color: '#4A5568', marginTop: 4 }}&gt;95% CI [+33.33, +100]pp&lt;/Text&gt;&#10;&#10;                &lt;Box style={{ marginTop: 'auto', background: '#F7F9FC', border: '1px solid #E5E7EB', borderRadius: 8, padding: '10px 14px' }}&gt;&#10;                    &lt;Text style={{ fontSize: 14, color: '#4A5568', lineHeight: 1.5 }}&gt;Safe stop under permanent failure is scored separately and excluded from this denominator.&lt;/Text&gt;&#10;                &lt;/Box&gt;&#10;            &lt;/Box&gt;&#10;        &lt;/Box&gt;&#10;&#10;        {/* conclusion bar */}&#10;        &lt;Box style={{ height: 80, background: '#0E3F8C', borderRadius: 10, padding: '0 24px', flexDirection: 'row', alignItems: 'center', gap: 16 }}&gt;&#10;            &lt;FAIcon name='exclamation-circle' style={{ fill: '#3D7BD9', width: 24, height: 24 }} /&gt;&#10;            &lt;Text style={{ fontSize: 16, color: '#FFFFFF', lineHeight: 1.55 }}&gt;Timeout &lt;span style={{ color: '#FFC107', fontWeight: 'bold' }}&gt;does not mean&lt;/span&gt; “not written”: reconcile via the operation receipt first, and hand over if it cannot be confirmed; every loop is bounded by model requests, tokens, tool calls and wall-clock budgets.&lt;/Text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3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6286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Key Technology ④ Reflection &amp; Recovery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9248775" y="914400"/>
            <a:ext cx="1981200" cy="228600"/>
          </a:xfrm>
          <a:prstGeom prst="roundRect">
            <a:avLst>
              <a:gd name="adj" fmla="val 50000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9363075" y="952500"/>
            <a:ext cx="1752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1E4FA8"/>
                </a:solidFill>
                <a:latin typeface="Segoe UI"/>
                <a:ea typeface="Segoe UI"/>
              </a:rPr>
              <a:t>Prior-pilot validation included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04 / 06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381000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52450" y="1619250"/>
            <a:ext cx="495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Source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62050" y="1628775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Provenance traceable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3267075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438525" y="1619250"/>
            <a:ext cx="419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Entity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3971925" y="1628775"/>
            <a:ext cx="1381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Bound to order / item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153150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6324600" y="1619250"/>
            <a:ext cx="533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Version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972300" y="1628775"/>
            <a:ext cx="1657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State versions comparable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9039225" y="1371600"/>
            <a:ext cx="2771775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210675" y="1619250"/>
            <a:ext cx="361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E4FA8"/>
                </a:solidFill>
                <a:latin typeface="Segoe UI"/>
                <a:ea typeface="Segoe UI"/>
              </a:rPr>
              <a:t>Time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9686925" y="1628775"/>
            <a:ext cx="162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Freshness / schema check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81000" y="2171700"/>
            <a:ext cx="6858000" cy="3276600"/>
          </a:xfrm>
          <a:prstGeom prst="roundRect">
            <a:avLst>
              <a:gd name="adj" fmla="val 2907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400300"/>
            <a:ext cx="190500" cy="19050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95350" y="2362200"/>
            <a:ext cx="5105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Observation-Packet-Driven Reflection and Recovery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2771775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Evidence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reflection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619250" y="2771775"/>
            <a:ext cx="5391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Deterministic evidence and business-contradiction checks come first; model suggestions can only narrow the action set, never widen permissions.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3381375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Change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awareness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619250" y="3381375"/>
            <a:ext cx="5391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A state change triggers evidence refresh and proposal invalidation; re-collected evidence must be re-confirmed.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09600" y="3990975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Idempotent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writes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1619250" y="3990975"/>
            <a:ext cx="5391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PostgreSQL unique constraints + legal state transitions + transactions + operation receipts together form the idempotency boundary.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609600" y="4600575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Failure</a:t>
            </a:r>
            <a:endParaRPr/>
          </a:p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takeover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619250" y="4600575"/>
            <a:ext cx="53911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Leases, fencing and LangGraph checkpoints ensure unfinished tasks are taken over rather than re-executed.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7429500" y="2171700"/>
            <a:ext cx="4381500" cy="3276600"/>
          </a:xfrm>
          <a:prstGeom prst="roundRect">
            <a:avLst>
              <a:gd name="adj" fmla="val 2907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639050" y="2324100"/>
            <a:ext cx="39624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Pilot Validation</a:t>
            </a:r>
            <a:endParaRPr/>
          </a:p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(Recoverable Failures)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639050" y="2838450"/>
            <a:ext cx="3962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1E4FA8"/>
                </a:solidFill>
                <a:latin typeface="Segoe UI"/>
                <a:ea typeface="Segoe UI"/>
              </a:rPr>
              <a:t>144/144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639050" y="329565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Our approach P (100%)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639050" y="3524250"/>
            <a:ext cx="3962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8B97A8"/>
                </a:solidFill>
                <a:latin typeface="Segoe UI"/>
                <a:ea typeface="Segoe UI"/>
              </a:rPr>
              <a:t>48/144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39050" y="3867150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Baseline A-reflect (33.33%)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639050" y="4114800"/>
            <a:ext cx="1038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D9534F"/>
                </a:solidFill>
                <a:latin typeface="Segoe UI"/>
                <a:ea typeface="Segoe UI"/>
              </a:rPr>
              <a:t>+66.67pp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772525" y="4114800"/>
            <a:ext cx="12858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family-balanced gap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7639050" y="4429125"/>
            <a:ext cx="3962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95% CI [+33.33, +100]pp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639050" y="4619625"/>
            <a:ext cx="3962400" cy="676275"/>
          </a:xfrm>
          <a:prstGeom prst="roundRect">
            <a:avLst>
              <a:gd name="adj" fmla="val 11268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772400" y="4714875"/>
            <a:ext cx="3695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Safe stop under permanent failure is scored separately and excluded from this denominator.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381000" y="5562600"/>
            <a:ext cx="11430000" cy="762000"/>
          </a:xfrm>
          <a:prstGeom prst="roundRect">
            <a:avLst>
              <a:gd name="adj" fmla="val 12500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5829300"/>
            <a:ext cx="228600" cy="228600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81075" y="5657850"/>
            <a:ext cx="10601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 xml:space="preserve">Timeout </a:t>
            </a:r>
            <a:r>
              <a:rPr lang="en-US" sz="1200" b="1">
                <a:solidFill>
                  <a:srgbClr val="FFC107"/>
                </a:solidFill>
                <a:latin typeface="Segoe UI"/>
                <a:ea typeface="Segoe UI"/>
              </a:rPr>
              <a:t>does not mean</a:t>
            </a:r>
            <a:r>
              <a:rPr lang="en-US" sz="1200">
                <a:solidFill>
                  <a:srgbClr val="FFFFFF"/>
                </a:solidFill>
                <a:latin typeface="Segoe UI"/>
                <a:ea typeface="Segoe UI"/>
              </a:rPr>
              <a:t xml:space="preserve"> “not written”: reconcile via the operation receipt first, and hand over if it cannot be confirmed; every loop is bounded by model requests, tokens, tool calls and wall-clock budgets.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 r:embed="rId3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228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13 / 18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1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Security, Permissions and Isolation&lt;/Text&gt;&#10;        &lt;Text style={{ fontSize: 15, color: '#8B97A8', marginLeft: 'auto' }}&gt;04 / 06&lt;/Text&gt;&#10;    &lt;/Box&gt;&#10;&#10;    {/* C content */}&#10;    &lt;Box style={{ flexDirection: 'column', gap: 12, marginTop: 16, height: 520 }}&gt;&#10;        {/* lead-in bar */}&#10;        &lt;Box style={{ height: 44, background: '#F0F5FC', border: '1px solid #C9DCF5', borderRadius: 8, padding: '0 22px', flexDirection: 'row', alignItems: 'center', gap: 12 }}&gt;&#10;            &lt;FAIcon name='lock' style={{ fill: '#1E4FA8', width: 18, height: 18 }} /&gt;&#10;            &lt;Text style={{ fontSize: 15, color: '#1A2230' }}&gt;Four lines of defense: &lt;span style={{ fontWeight: 'bold', color: '#1E4FA8' }}&gt;transport, authorization, input and execution environment&lt;/span&gt;, each narrowing what the model can affect.&lt;/Text&gt;&#10;        &lt;/Box&gt;&#10;&#10;        {/* four columns */}&#10;        &lt;Box style={{ flexDirection: 'row', gap: 16, height: 368 }}&gt;&#10;            &lt;Box style={{ flex: 1, background: '#F7F9FC', border: '1px solid #D6DCE5', borderRadius: 10, padding: '14px 18px', flexDirection: 'column' }}&gt;&#10;                &lt;Box style={{ width: 36, height: 36, borderRadius: 10, background: '#E8EFF8', justifyContent: 'center', alignItems: 'center' }}&gt;&#10;                    &lt;FAIcon name='key' style={{ fill: '#1E4FA8', width: 20, height: 20 }} /&gt;&#10;                &lt;/Box&gt;&#10;                &lt;Text style={{ fontSize: 20, fontWeight: 'bold', color: '#0E3F8C', marginTop: 8 }}&gt;Session &amp;amp; Transport&lt;br /&gt;Security&lt;/Text&gt;&#10;                &lt;Text style={{ fontSize: 14, color: '#4A5568', lineHeight: 1.55, marginTop: 6 }}&gt;HttpOnly session cookies and CSRF checks; shared server sessions keep logins across API scale-out; OIDC validates issuer, audience, nonce, state, signature and PKCE.&lt;/Text&gt;&#10;                &lt;Box style={{ marginTop: 'auto', paddingTop: 10, borderTop: '1px solid #E5E7EB' }}&gt;&#10;                    &lt;Text style={{ fontSize: 14, fontWeight: 'bold', color: '#D9534F', lineHeight: 1.45 }}&gt;Demo accounts ≠ organizational IdP&lt;/Text&gt;&#10;                &lt;/Box&gt;&#10;            &lt;/Box&gt;&#10;&#10;            &lt;Box style={{ flex: 1, background: '#F7F9FC', border: '1px solid #D6DCE5', borderRadius: 10, padding: '14px 18px', flexDirection: 'column' }}&gt;&#10;                &lt;Box style={{ width: 36, height: 36, borderRadius: 10, background: '#E8EFF8', justifyContent: 'center', alignItems: 'center' }}&gt;&#10;                    &lt;FAIcon name='user-shield' style={{ fill: '#1E4FA8', width: 20, height: 20 }} /&gt;&#10;                &lt;/Box&gt;&#10;                &lt;Text style={{ fontSize: 20, fontWeight: 'bold', color: '#0E3F8C', marginTop: 8 }}&gt;Two-Layer&lt;br /&gt;Authorization&lt;/Text&gt;&#10;                &lt;Text style={{ fontSize: 14, color: '#4A5568', lineHeight: 1.55, marginTop: 6 }}&gt;Casbin RBAC governs roles; owner / tenant ABAC governs data scope; customer identity comes from the server session, and the model cannot name the customer, tenant or approver.&lt;/Text&gt;&#10;                &lt;Box style={{ marginTop: 'auto', paddingTop: 10, borderTop: '1px solid #E5E7EB' }}&gt;&#10;                    &lt;Text style={{ fontSize: 14, fontWeight: 'bold', color: '#D9534F', lineHeight: 1.45 }}&gt;Permissions never come from model input&lt;/Text&gt;&#10;                &lt;/Box&gt;&#10;            &lt;/Box&gt;&#10;&#10;            &lt;Box style={{ flex: 1, background: '#F7F9FC', border: '1px solid #D6DCE5', borderRadius: 10, padding: '14px 18px', flexDirection: 'column' }}&gt;&#10;                &lt;Box style={{ width: 36, height: 36, borderRadius: 10, background: '#E8EFF8', justifyContent: 'center', alignItems: 'center' }}&gt;&#10;                    &lt;FAIcon name='shield-alt' style={{ fill: '#1E4FA8', width: 20, height: 20 }} /&gt;&#10;                &lt;/Box&gt;&#10;                &lt;Text style={{ fontSize: 20, fontWeight: 'bold', color: '#0E3F8C', marginTop: 8 }}&gt;Prompt Injection&lt;br /&gt;Defense&lt;/Text&gt;&#10;                &lt;Text style={{ fontSize: 14, color: '#4A5568', lineHeight: 1.55, marginTop: 6 }}&gt;Text retrieved in conversation is treated as data only and cannot become trusted instructions or bypass authorization; logs, traces and guardrails maintain the trust boundary.&lt;/Text&gt;&#10;                &lt;Box style={{ marginTop: 'auto', paddingTop: 10, borderTop: '1px solid #E5E7EB' }}&gt;&#10;                    &lt;Text style={{ fontSize: 14, fontWeight: 'bold', color: '#D9534F', lineHeight: 1.45 }}&gt;No claim of immunity to unknown attacks&lt;/Text&gt;&#10;                &lt;/Box&gt;&#10;            &lt;/Box&gt;&#10;&#10;            &lt;Box style={{ flex: 1, background: '#FFFFFF', border: '1px solid #D6DCE5', borderRadius: 10, padding: '14px 18px', flexDirection: 'column' }}&gt;&#10;                &lt;Box style={{ width: 36, height: 36, borderRadius: 10, background: '#E8EFF8', justifyContent: 'center', alignItems: 'center' }}&gt;&#10;                    &lt;FAIcon name='microchip' style={{ fill: '#1E4FA8', width: 20, height: 20 }} /&gt;&#10;                &lt;/Box&gt;&#10;                &lt;Text style={{ fontSize: 20, fontWeight: 'bold', color: '#0E3F8C', marginTop: 8 }}&gt;Isolated Compute&lt;br /&gt;Sandbox&lt;/Text&gt;&#10;                &lt;Text style={{ fontSize: 14, color: '#4A5568', lineHeight: 1.55, marginTop: 6 }}&gt;A separate sandbox container: no network, read-only root filesystem, CPU / memory / PID limits, Unix socket IPC; only quota computation, CSV summarization and text statistics are exposed.&lt;/Text&gt;&#10;                &lt;Box style={{ marginTop: 'auto', paddingTop: 10, borderTop: '1px solid #E5E7EB' }}&gt;&#10;                    &lt;Text style={{ fontSize: 14, fontWeight: 'bold', color: '#D9534F', lineHeight: 1.45 }}&gt;Arbitrary code execution disabled&lt;/Text&gt;&#10;                &lt;/Box&gt;&#10;            &lt;/Box&gt;&#10;        &lt;/Box&gt;&#10;&#10;        {/* boundary bar */}&#10;        &lt;Box style={{ height: 84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info-circle' style={{ fill: '#FFFFFF', width: 22, height: 22 }} /&gt;&#10;            &lt;/Box&gt;&#10;            &lt;Box style={{ flex: 1 }}&gt;&#10;                &lt;Text style={{ fontSize: 18, fontWeight: 'bold', color: '#0E3F8C' }}&gt;Boundary Statement&lt;/Text&gt;&#10;                &lt;Text style={{ fontSize: 15, color: '#1A2230', lineHeight: 1.55, marginTop: 2 }}&gt;Local demo accounts and a test OIDC issuer are not an organizational production identity system; organizational IdP, production TLS and off-site encrypted backups are not validated on this machine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4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3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5257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Security, Permissions and Isolation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04 / 06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381000" y="1371600"/>
            <a:ext cx="11430000" cy="419100"/>
          </a:xfrm>
          <a:prstGeom prst="roundRect">
            <a:avLst>
              <a:gd name="adj" fmla="val 18182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pic>
        <p:nvPicPr>
          <p:cNvPr id="2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495425"/>
            <a:ext cx="171450" cy="171450"/>
          </a:xfrm>
          <a:prstGeom prst="rect">
            <a:avLst/>
          </a:prstGeom>
          <a:ln/>
        </p:spPr>
      </p:pic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876300" y="1495425"/>
            <a:ext cx="8077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 xml:space="preserve">Four lines of defense: </a:t>
            </a: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transport, authorization, input and execution environment</a:t>
            </a: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, each narrowing what the model can affect.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3810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552450" y="20383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28650" y="2114550"/>
            <a:ext cx="190500" cy="190500"/>
          </a:xfrm>
          <a:prstGeom prst="rect">
            <a:avLst/>
          </a:prstGeom>
          <a:ln/>
        </p:spPr>
      </p:pic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552450" y="2457450"/>
            <a:ext cx="24003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Session &amp; Transport</a:t>
            </a:r>
            <a:endParaRPr/>
          </a:p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Security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52450" y="2971800"/>
            <a:ext cx="24003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HttpOnly session cookies and CSRF checks; shared server sessions keep logins across API scale-out; OIDC validates issuer, audience, nonce, state, signature and PKCE.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552450" y="4933950"/>
            <a:ext cx="2400300" cy="352425"/>
          </a:xfrm>
          <a:custGeom>
            <a:pathLst>
              <a:path w="252" h="37">
                <a:moveTo>
                  <a:pt x="0" y="0"/>
                </a:moveTo>
                <a:lnTo>
                  <a:pt x="252" y="0"/>
                </a:lnTo>
                <a:lnTo>
                  <a:pt x="2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552450" y="5038725"/>
            <a:ext cx="24003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Demo accounts ≠ organizational IdP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32766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3448050" y="20383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524250" y="2114550"/>
            <a:ext cx="190500" cy="19050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448050" y="2457450"/>
            <a:ext cx="24003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Two-Layer</a:t>
            </a:r>
            <a:endParaRPr/>
          </a:p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Authorization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448050" y="2971800"/>
            <a:ext cx="24003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Casbin RBAC governs roles; owner / tenant ABAC governs data scope; customer identity comes from the server session, and the model cannot name the customer, tenant or approver.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3448050" y="4705350"/>
            <a:ext cx="2400300" cy="581025"/>
          </a:xfrm>
          <a:custGeom>
            <a:pathLst>
              <a:path w="252" h="61">
                <a:moveTo>
                  <a:pt x="0" y="0"/>
                </a:moveTo>
                <a:lnTo>
                  <a:pt x="252" y="0"/>
                </a:lnTo>
                <a:lnTo>
                  <a:pt x="2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3448050" y="4810125"/>
            <a:ext cx="2400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Permissions never come from model input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1722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6343650" y="20383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5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419850" y="2114550"/>
            <a:ext cx="190500" cy="19050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6343650" y="2457450"/>
            <a:ext cx="24003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Prompt Injection</a:t>
            </a:r>
            <a:endParaRPr/>
          </a:p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Defense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343650" y="2971800"/>
            <a:ext cx="2400300" cy="1247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Text retrieved in conversation is treated as data only and cannot become trusted instructions or bypass authorization; logs, traces and guardrails maintain the trust boundary.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6343650" y="4705350"/>
            <a:ext cx="2400300" cy="581025"/>
          </a:xfrm>
          <a:custGeom>
            <a:pathLst>
              <a:path w="252" h="61">
                <a:moveTo>
                  <a:pt x="0" y="0"/>
                </a:moveTo>
                <a:lnTo>
                  <a:pt x="252" y="0"/>
                </a:lnTo>
                <a:lnTo>
                  <a:pt x="2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343650" y="4810125"/>
            <a:ext cx="24003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No claim of immunity to unknown attacks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9067800" y="1905000"/>
            <a:ext cx="2743200" cy="350520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1" name=""/>
          <p:cNvSpPr/>
          <p:nvPr/>
        </p:nvSpPr>
        <p:spPr>
          <a:xfrm rot="0" flipH="0" flipV="0">
            <a:off x="9239250" y="2038350"/>
            <a:ext cx="342900" cy="342900"/>
          </a:xfrm>
          <a:prstGeom prst="roundRect">
            <a:avLst>
              <a:gd name="adj" fmla="val 27778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2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9315450" y="2114550"/>
            <a:ext cx="190500" cy="190500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9239250" y="2457450"/>
            <a:ext cx="24003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Isolated Compute</a:t>
            </a:r>
            <a:endParaRPr/>
          </a:p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E3F8C"/>
                </a:solidFill>
                <a:latin typeface="Segoe UI"/>
                <a:ea typeface="Segoe UI"/>
              </a:rPr>
              <a:t>Sandbox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9239250" y="2971800"/>
            <a:ext cx="2400300" cy="1495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050">
                <a:solidFill>
                  <a:srgbClr val="4A5568"/>
                </a:solidFill>
                <a:latin typeface="Segoe UI"/>
                <a:ea typeface="Segoe UI"/>
              </a:rPr>
              <a:t>A separate sandbox container: no network, read-only root filesystem, CPU / memory / PID limits, Unix socket IPC; only quota computation, CSV summarization and text statistics are exposed.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9239250" y="4933950"/>
            <a:ext cx="2400300" cy="352425"/>
          </a:xfrm>
          <a:custGeom>
            <a:pathLst>
              <a:path w="252" h="37">
                <a:moveTo>
                  <a:pt x="0" y="0"/>
                </a:moveTo>
                <a:lnTo>
                  <a:pt x="252" y="0"/>
                </a:lnTo>
                <a:lnTo>
                  <a:pt x="252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239250" y="5038725"/>
            <a:ext cx="24003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D9534F"/>
                </a:solidFill>
                <a:latin typeface="Segoe UI"/>
                <a:ea typeface="Segoe UI"/>
              </a:rPr>
              <a:t>Arbitrary code execution disabled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2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1219200" y="55435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Boundary Statement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19200" y="5772150"/>
            <a:ext cx="10344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Local demo accounts and a test OIDC issuer are not an organizational production identity system; organizational IdP, production TLS and off-site encrypted backups are not validated on this machine.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6" name=""/>
          <p:cNvPicPr>
            <a:picLocks noChangeAspect="1"/>
          </p:cNvPicPr>
          <p:nvPr/>
        </p:nvPicPr>
        <p:blipFill>
          <a:blip r:embed="rId7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277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280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Expected Outcomes and Acceptance Metrics&lt;/Text&gt;&#10;        &lt;Text style={{ fontSize: 15, color: '#8B97A8', marginLeft: 'auto' }}&gt;05 / 06&lt;/Text&gt;&#10;    &lt;/Box&gt;&#10;&#10;    {/* C content */}&#10;    &lt;Box style={{ flexDirection: 'column', gap: 12, marginTop: 16, height: 520 }}&gt;&#10;        {/* expected outcome table */}&#10;        &lt;Box style={{ height: 304 }}&gt;&#10;            &lt;Table&#10;                style={{ width: '100%', height: '100%' }}&#10;                defaultTextStyle={{ fontFamily: 'Segoe UI', fontSize: 15, textAlign: 'center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Technical Direction', textStyle: { bold: true, color: '#FFFFFF', fontSize: 16 }, cellStyle: { background: { color: '#0E3F8C' } } },&#10;                        { text: 'Target', textStyle: { bold: true, color: '#FFFFFF', fontSize: 16 }, cellStyle: { background: { color: '#0E3F8C' } } },&#10;                        { text: 'Baseline', textStyle: { bold: true, color: '#FFFFFF', fontSize: 16 }, cellStyle: { background: { color: '#0E3F8C' } } },&#10;                        { text: 'Expected Gain', textStyle: { bold: true, color: '#FFFFFF', fontSize: 16 }, cellStyle: { background: { color: '#0E3F8C' } } },&#10;                        { text: 'Acceptance Method', textStyle: { bold: true, color: '#FFFFFF', fontSize: 16 }, cellStyle: { background: { color: '#0E3F8C' } } },&#10;                    ],&#10;                    [&#10;                        'Verifiable planning',&#10;                        { text: 'Complex-task strict success ≥ 85%', textStyle: { bold: true, color: '#1E4FA8' } },&#10;                        'Native ReAct + hybrid retrieval',&#10;                        { text: '≥ +8pp', textStyle: { bold: true, color: '#1E4FA8' } },&#10;                        '36 scenarios × 5 trials, family-balanced gap',&#10;                    ],&#10;                    [&#10;                        { text: 'Authorized tool routing', cellStyle: { background: { color: '#F7F9FC' } } },&#10;                        { text: 'No quality regression at 1,000 candidates', textStyle: { bold: true, color: '#1E4FA8' }, cellStyle: { background: { color: '#F7F9FC' } } },&#10;                        { text: 'Hybrid retrieval routing', cellStyle: { background: { color: '#F7F9FC' } } },&#10;                        { text: '≥ 0pp (no regression)', cellStyle: { background: { color: '#F7F9FC' } } },&#10;                        { text: '50 cases × 3 trials, permission and parameter checks', cellStyle: { background: { color: '#F7F9FC' } } },&#10;                    ],&#10;                    [&#10;                        'Freshness-aware memory',&#10;                        { text: 'Strict success ≥ 90%', textStyle: { bold: true, color: '#1E4FA8' } },&#10;                        'Recent turns + vector history',&#10;                        { text: '≥ +50pp; tokens −≥50%', textStyle: { bold: true, color: '#1E4FA8' } },&#10;                        'Long-session suite, paired token accounting',&#10;                    ],&#10;                    [&#10;                        { text: 'Reflection &amp; failure recovery', cellStyle: { background: { color: '#F7F9FC' } } },&#10;                        { text: 'Recoverable-failure success ≥ 90%', textStyle: { bold: true, color: '#1E4FA8' }, cellStyle: { background: { color: '#F7F9FC' } } },&#10;                        { text: 'Reflection-disabled baseline', cellStyle: { background: { color: '#F7F9FC' } } },&#10;                        { text: '≥ +15pp', textStyle: { bold: true, color: '#1E4FA8' }, cellStyle: { background: { color: '#F7F9FC' } } },&#10;                        { text: 'Fault-family control; safe stops listed separately', cellStyle: { background: { color: '#F7F9FC' } } },&#10;                    ],&#10;                ]}&#10;            /&gt;&#10;        &lt;/Box&gt;&#10;&#10;        {/* scale and engineering acceptance */}&#10;        &lt;Box style={{ height: 92, background: '#F0F5FC', border: '1px solid #C9DCF5', borderRadius: 10, padding: '12px 26px', flexDirection: 'column', justifyContent: 'center', gap: 6 }}&gt;&#10;            &lt;Box style={{ flexDirection: 'row', alignItems: 'baseline', gap: 28 }}&gt;&#10;                &lt;Box style={{ flexDirection: 'row', alignItems: 'baseline', gap: 8 }}&gt;&#10;                    &lt;Text style={{ fontSize: 28, fontWeight: 'bold', color: '#1E4FA8', lineHeight: 1 }}&gt;≥ 3000&lt;/Text&gt;&#10;                    &lt;Text style={{ fontSize: 15, color: '#4A5568' }}&gt;frozen evaluation units&lt;/Text&gt;&#10;                &lt;/Box&gt;&#10;                &lt;Box style={{ flexDirection: 'row', alignItems: 'baseline', gap: 8 }}&gt;&#10;                    &lt;Text style={{ fontSize: 28, fontWeight: 'bold', color: '#1E4FA8', lineHeight: 1 }}&gt;4&lt;/Text&gt;&#10;                    &lt;Text style={{ fontSize: 15, color: '#4A5568' }}&gt;primary metrics + 4 baseline families&lt;/Text&gt;&#10;                &lt;/Box&gt;&#10;            &lt;/Box&gt;&#10;            &lt;Text style={{ fontSize: 15, color: '#4A5568' }}&gt;Engineering acceptance: all backend tests pass · 2 h continuous run, 0 failures · API P95 &amp;lt; 1 s at 50 concurrency&lt;/Text&gt;&#10;        &lt;/Box&gt;&#10;&#10;        {/* acceptance principle bar */}&#10;        &lt;Box style={{ height: 100, background: '#0E3F8C', borderRadius: 10, padding: '0 26px', flexDirection: 'row', alignItems: 'center', gap: 18 }}&gt;&#10;            &lt;FAIcon name='balance-scale' style={{ fill: '#3D7BD9', width: 26, height: 26 }} /&gt;&#10;            &lt;Box style={{ flex: 1 }}&gt;&#10;                &lt;Text style={{ fontSize: 18, fontWeight: 'bold', color: '#FFFFFF' }}&gt;Acceptance Principle&lt;/Text&gt;&#10;                &lt;Text style={{ fontSize: 16, color: '#B9CDEA', lineHeight: 1.55, marginTop: 2 }}&gt;A terminal SUCCEEDED is not success: order scope, current evidence and the write receipt must be checked jointly; shortfalls are recorded honestly under pre-registered rules, without changing the denominator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5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672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Expected Outcomes and Acceptance Metrics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05 / 06</a:t>
            </a:r>
            <a:endParaRPr/>
          </a:p>
        </p:txBody>
      </p:sp>
      <p:graphicFrame>
        <p:nvGraphicFramePr>
          <p:cNvPr id="285" name=""/>
          <p:cNvGraphicFramePr/>
          <p:nvPr/>
        </p:nvGraphicFramePr>
        <p:xfrm rot="0" flipH="0" flipV="0">
          <a:off x="381000" y="1371600"/>
          <a:ext cx="11430000" cy="2895600"/>
        </p:xfrm>
        <a:graphic>
          <a:graphicData uri="http://schemas.openxmlformats.org/drawingml/2006/table">
            <a:tbl>
              <a:tblGrid>
                <a:gridCol w="1806854">
                  <a:extLst>
                    <a:ext uri="{9D8B030D-6E8A-4147-A177-3AD203B41FA5}">
                      <a16:colId val="1"/>
                    </a:ext>
                  </a:extLst>
                </a:gridCol>
                <a:gridCol w="2757830">
                  <a:extLst>
                    <a:ext uri="{9D8B030D-6E8A-4147-A177-3AD203B41FA5}">
                      <a16:colId val="2"/>
                    </a:ext>
                  </a:extLst>
                </a:gridCol>
                <a:gridCol w="1944014">
                  <a:extLst>
                    <a:ext uri="{9D8B030D-6E8A-4147-A177-3AD203B41FA5}">
                      <a16:colId val="3"/>
                    </a:ext>
                  </a:extLst>
                </a:gridCol>
                <a:gridCol w="1660550">
                  <a:extLst>
                    <a:ext uri="{9D8B030D-6E8A-4147-A177-3AD203B41FA5}">
                      <a16:colId val="4"/>
                    </a:ext>
                  </a:extLst>
                </a:gridCol>
                <a:gridCol w="3260750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39230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Technical Direction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Target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Baseline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Expected Gain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Acceptance Method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2582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Verifiable planning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Complex-task strict success ≥ 85%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Native ReAct + hybrid retrieval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≥ +8pp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36 scenarios × 5 trials, family-balanced gap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2582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Authorized tool routing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No quality regression at 1,000 candidates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Hybrid retrieval routing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≥ 0pp (no regression)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50 cases × 3 trials, permission and parameter checks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2582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Freshness-aware memory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Strict success ≥ 90%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Recent turns + vector history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≥ +50pp; tokens −≥50%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Long-session suite, paired token accounting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25823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Reflection &amp; failure recovery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Recoverable-failure success ≥ 90%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Reflection-disabled baseline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E4FA8"/>
                          </a:solidFill>
                          <a:latin typeface="Segoe UI"/>
                          <a:ea typeface="Segoe UI"/>
                        </a:rPr>
                        <a:t>≥ +15pp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Fault-family control; safe stops listed separately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86" name=""/>
          <p:cNvSpPr/>
          <p:nvPr/>
        </p:nvSpPr>
        <p:spPr>
          <a:xfrm rot="0" flipH="0" flipV="0">
            <a:off x="381000" y="4381500"/>
            <a:ext cx="11430000" cy="876300"/>
          </a:xfrm>
          <a:prstGeom prst="roundRect">
            <a:avLst>
              <a:gd name="adj" fmla="val 10870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28650" y="4543425"/>
            <a:ext cx="8763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E4FA8"/>
                </a:solidFill>
                <a:latin typeface="Segoe UI"/>
                <a:ea typeface="Segoe UI"/>
              </a:rPr>
              <a:t>≥ 3000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581150" y="4543425"/>
            <a:ext cx="14382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frozen evaluation units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3286125" y="4543425"/>
            <a:ext cx="161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1E4FA8"/>
                </a:solidFill>
                <a:latin typeface="Segoe UI"/>
                <a:ea typeface="Segoe UI"/>
              </a:rPr>
              <a:t>4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524250" y="4543425"/>
            <a:ext cx="23145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primary metrics + 4 baseline families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28650" y="49244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Engineering acceptance: all backend tests pass · 2 h continuous run, 0 failures · API P95 &lt; 1 s at 50 concurrency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381000" y="5372100"/>
            <a:ext cx="11430000" cy="952500"/>
          </a:xfrm>
          <a:prstGeom prst="roundRect">
            <a:avLst>
              <a:gd name="adj" fmla="val 10000"/>
            </a:avLst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2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28650" y="5724525"/>
            <a:ext cx="247650" cy="247650"/>
          </a:xfrm>
          <a:prstGeom prst="rect">
            <a:avLst/>
          </a:prstGeom>
          <a:ln/>
        </p:spPr>
      </p:pic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047750" y="5448300"/>
            <a:ext cx="10515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egoe UI"/>
                <a:ea typeface="Segoe UI"/>
              </a:rPr>
              <a:t>Acceptance Principle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047750" y="5676900"/>
            <a:ext cx="105156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B9CDEA"/>
                </a:solidFill>
                <a:latin typeface="Segoe UI"/>
                <a:ea typeface="Segoe UI"/>
              </a:rPr>
              <a:t>A terminal SUCCEEDED is not success: order scope, current evidence and the write receipt must be checked jointly; shortfalls are recorded honestly under pre-registered rules, without changing the denominator.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00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301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a16="http://schemas.microsoft.com/office/drawing/2014/main" xmlns:mc="http://schemas.openxmlformats.org/markup-compatibility/2006" mc:Ignorable="asvg a16">
  <p:cSld>
    <p:spTree>
      <p:nvGrpSpPr>
        <p:cNvPr id="304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Feasibility Analysis&lt;/Text&gt;&#10;        &lt;Text style={{ fontSize: 15, color: '#8B97A8', marginLeft: 'auto' }}&gt;06 / 06&lt;/Text&gt;&#10;    &lt;/Box&gt;&#10;&#10;    {/* C content */}&#10;    &lt;Box style={{ flexDirection: 'column', gap: 12, marginTop: 16, height: 520 }}&gt;&#10;        {/* two feasibility columns */}&#10;        &lt;Box style={{ flexDirection: 'row', gap: 20, height: 204 }}&gt;&#10;            &lt;Box style={{ width: 590, background: '#F7F9FC', border: '1px solid #D6DCE5', borderRadius: 10, padding: '20px 24px', flexDirection: 'column' }}&gt;&#10;                &lt;Box style={{ flexDirection: 'row', alignItems: 'center', gap: 12 }}&gt;&#10;                    &lt;Box style={{ width: 40, height: 40, borderRadius: 10, background: '#E8EFF8', justifyContent: 'center', alignItems: 'center' }}&gt;&#10;                        &lt;FAIcon name='cogs' style={{ fill: '#1E4FA8', width: 20, height: 20 }} /&gt;&#10;                    &lt;/Box&gt;&#10;                    &lt;Text style={{ fontSize: 23, fontWeight: 'bold', color: '#0E3F8C' }}&gt;Technical Feasibility&lt;/Text&gt;&#10;                &lt;/Box&gt;&#10;                &lt;Text style={{ fontSize: 15, color: '#4A5568', lineHeight: 1.6, marginTop: 12 }}&gt;The team has prior-pilot work on all four mechanisms, each runnable with validation records; real models and retrieval APIs are retained, while the merchant side uses an auditable simulated system for reproducibility.&lt;/Text&gt;&#10;                &lt;Text style={{ fontSize: 15, fontWeight: 'bold', color: '#1E4FA8', marginTop: 'auto' }}&gt;Conclusion: grounded in prior-pilot evidence, not paper design&lt;/Text&gt;&#10;            &lt;/Box&gt;&#10;&#10;            &lt;Box style={{ width: 590, background: '#F7F9FC', border: '1px solid #D6DCE5', borderRadius: 10, padding: '20px 24px', flexDirection: 'column' }}&gt;&#10;                &lt;Box style={{ flexDirection: 'row', alignItems: 'center', gap: 12 }}&gt;&#10;                    &lt;Box style={{ width: 40, height: 40, borderRadius: 10, background: '#E8EFF8', justifyContent: 'center', alignItems: 'center' }}&gt;&#10;                        &lt;FAIcon name='database' style={{ fill: '#1E4FA8', width: 20, height: 20 }} /&gt;&#10;                    &lt;/Box&gt;&#10;                    &lt;Text style={{ fontSize: 23, fontWeight: 'bold', color: '#0E3F8C' }}&gt;Resource Feasibility&lt;/Text&gt;&#10;                &lt;/Box&gt;&#10;                &lt;Text style={{ fontSize: 15, color: '#4A5568', lineHeight: 1.6, marginTop: 12 }}&gt;A single machine with Docker Compose reproduces the whole system; lock files and image digests are frozen; inference runs remotely, so no local GPU is needed and the RTX 3050 carries no LLM computation.&lt;/Text&gt;&#10;                &lt;Text style={{ fontSize: 15, fontWeight: 'bold', color: '#1E4FA8', marginTop: 'auto' }}&gt;Conclusion: reproducible on one host, no special hardware&lt;/Text&gt;&#10;            &lt;/Box&gt;&#10;        &lt;/Box&gt;&#10;&#10;        {/* risk and mitigation table */}&#10;        &lt;Box style={{ height: 208 }}&gt;&#10;            &lt;Table&#10;                style={{ width: '100%', height: '100%' }}&#10;                defaultTextStyle={{ fontFamily: 'Segoe UI', fontSize: 14, textAlign: 'left', color: '#1A2230' }}&#10;                defaultCellStyle={{&#10;                    border: {&#10;                        left: { width: 1, color: '#E5E7EB' },&#10;                        right: { width: 1, color: '#E5E7EB' },&#10;                        top: { width: 1, color: '#E5E7EB' },&#10;                        bottom: { width: 1, color: '#E5E7EB' },&#10;                    },&#10;                }}&#10;                cells={[&#10;                    [&#10;                        { text: 'Key Risk', textStyle: { bold: true, color: '#FFFFFF', fontSize: 16 }, cellStyle: { background: { color: '#0E3F8C' } } },&#10;                        { text: 'Impact', textStyle: { bold: true, color: '#FFFFFF', fontSize: 16 }, cellStyle: { background: { color: '#0E3F8C' } } },&#10;                        { text: 'Mitigation', textStyle: { bold: true, color: '#FFFFFF', fontSize: 16 }, cellStyle: { background: { color: '#0E3F8C' } } },&#10;                    ],&#10;                    ['External model revision drift', 'Results not verbatim reproducible', 'Provider allowlist + fallback; frozen schedule and scorer; disclose provider-mix differences'],&#10;                    [&#10;                        { text: 'No independent human blind review', cellStyle: { background: { color: '#F7F9FC' } } },&#10;                        { text: 'Limited strength of conclusions', cellStyle: { background: { color: '#F7F9FC' } } },&#10;                        { text: 'Labelled exploratory evidence; shortfalls delivered as-is, unembellished', cellStyle: { background: { color: '#F7F9FC' } } },&#10;                    ],&#10;                    ['Single-host, single-instance deployment', 'No cross-failure-domain HA', 'Explicit delivery boundary; same-host takeover is an engineering drill only, not HA'],&#10;                    [&#10;                        { text: 'Merchant ledger is simulated', cellStyle: { background: { color: '#F7F9FC' } } },&#10;                        { text: 'Production effects cannot be extrapolated', cellStyle: { background: { color: '#F7F9FC' } } },&#10;                        { text: 'No claim of merchant production SLA; real merchant integration is future work', cellStyle: { background: { color: '#F7F9FC' } } },&#10;                    ],&#10;                ]}&#10;            /&gt;&#10;        &lt;/Box&gt;&#10;&#10;        {/* conclusion bar */}&#10;        &lt;Box style={{ height: 84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balance-scale' style={{ fill: '#FFFFFF', width: 22, height: 22 }} /&gt;&#10;            &lt;/Box&gt;&#10;            &lt;Box style={{ flex: 1 }}&gt;&#10;                &lt;Text style={{ fontSize: 18, fontWeight: 'bold', color: '#0E3F8C' }}&gt;Feasibility Judgment&lt;/Text&gt;&#10;                &lt;Text style={{ fontSize: 15, color: '#1A2230', lineHeight: 1.55, marginTop: 2 }}&gt;Technically there is prior-pilot groundwork; resource-wise it reproduces on a single host; the main risks are external model drift and evaluation strength, each with mitigations and disclosure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6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6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28670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Feasibility Analysis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06 / 06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381000" y="1371600"/>
            <a:ext cx="5619750" cy="1943100"/>
          </a:xfrm>
          <a:prstGeom prst="roundRect">
            <a:avLst>
              <a:gd name="adj" fmla="val 49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0" name=""/>
          <p:cNvSpPr/>
          <p:nvPr/>
        </p:nvSpPr>
        <p:spPr>
          <a:xfrm rot="0" flipH="0" flipV="0">
            <a:off x="609600" y="1562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04850" y="1657350"/>
            <a:ext cx="190500" cy="190500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04900" y="1619250"/>
            <a:ext cx="20478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Segoe UI"/>
                <a:ea typeface="Segoe UI"/>
              </a:rPr>
              <a:t>Technical Feasibility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09600" y="2057400"/>
            <a:ext cx="51625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The team has prior-pilot work on all four mechanisms, each runnable with validation records; real models and retrieval APIs are retained, while the merchant side uses an auditable simulated system for reproducibility.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09600" y="295275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Conclusion: grounded in prior-pilot evidence, not paper design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191250" y="1371600"/>
            <a:ext cx="5619750" cy="1943100"/>
          </a:xfrm>
          <a:prstGeom prst="roundRect">
            <a:avLst>
              <a:gd name="adj" fmla="val 490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6419850" y="15621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8EFF8"/>
          </a:solidFill>
          <a:ln/>
        </p:spPr>
        <p:txBody>
          <a:bodyPr/>
          <a:p/>
        </p:txBody>
      </p:sp>
      <p:pic>
        <p:nvPicPr>
          <p:cNvPr id="3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15100" y="1657350"/>
            <a:ext cx="190500" cy="190500"/>
          </a:xfrm>
          <a:prstGeom prst="rect">
            <a:avLst/>
          </a:prstGeom>
          <a:ln/>
        </p:spPr>
      </p:pic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915150" y="1619250"/>
            <a:ext cx="20288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0E3F8C"/>
                </a:solidFill>
                <a:latin typeface="Segoe UI"/>
                <a:ea typeface="Segoe UI"/>
              </a:rPr>
              <a:t>Resource Feasibility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19850" y="2057400"/>
            <a:ext cx="51625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A single machine with Docker Compose reproduces the whole system; lock files and image digests are frozen; inference runs remotely, so no local GPU is needed and the RTX 3050 carries no LLM computation.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419850" y="2952750"/>
            <a:ext cx="516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E4FA8"/>
                </a:solidFill>
                <a:latin typeface="Segoe UI"/>
                <a:ea typeface="Segoe UI"/>
              </a:rPr>
              <a:t>Conclusion: reproducible on one host, no special hardware</a:t>
            </a:r>
            <a:endParaRPr/>
          </a:p>
        </p:txBody>
      </p:sp>
      <p:graphicFrame>
        <p:nvGraphicFramePr>
          <p:cNvPr id="321" name=""/>
          <p:cNvGraphicFramePr/>
          <p:nvPr/>
        </p:nvGraphicFramePr>
        <p:xfrm rot="0" flipH="0" flipV="0">
          <a:off x="381000" y="3429000"/>
          <a:ext cx="11430000" cy="1981200"/>
        </p:xfrm>
        <a:graphic>
          <a:graphicData uri="http://schemas.openxmlformats.org/drawingml/2006/table">
            <a:tbl>
              <a:tblGrid>
                <a:gridCol w="2701751">
                  <a:extLst>
                    <a:ext uri="{9D8B030D-6E8A-4147-A177-3AD203B41FA5}">
                      <a16:colId val="1"/>
                    </a:ext>
                  </a:extLst>
                </a:gridCol>
                <a:gridCol w="2827609">
                  <a:extLst>
                    <a:ext uri="{9D8B030D-6E8A-4147-A177-3AD203B41FA5}">
                      <a16:colId val="2"/>
                    </a:ext>
                  </a:extLst>
                </a:gridCol>
                <a:gridCol w="5900640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267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Key Risk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Impact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  <a:ea typeface="Segoe UI"/>
                        </a:rPr>
                        <a:t>Mitigation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3F8C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86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External model revision drift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Results not verbatim reproducible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Provider allowlist + fallback; frozen schedule and scorer; disclose provider-mix differences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86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No independent human blind review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Limited strength of conclusions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Labelled exploratory evidence; shortfalls delivered as-is, unembellished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86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Single-host, single-instance deployment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No cross-failure-domain HA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Explicit delivery boundary; same-host takeover is an engineering drill only, not HA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862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Merchant ledger is simulated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Production effects cannot be extrapolated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50">
                          <a:solidFill>
                            <a:srgbClr val="1A2230"/>
                          </a:solidFill>
                          <a:latin typeface="Segoe UI"/>
                          <a:ea typeface="Segoe UI"/>
                        </a:rPr>
                        <a:t>No claim of merchant production SLA; real merchant integration is future work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22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3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219200" y="55435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Feasibility Judgment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1219200" y="5772150"/>
            <a:ext cx="10344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Technically there is prior-pilot groundwork; resource-wise it reproduces on a single host; the main risks are external model drift and evaluation strength, each with mitigations and disclosure.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31" name=""/>
          <p:cNvPicPr>
            <a:picLocks noChangeAspect="1"/>
          </p:cNvPicPr>
          <p:nvPr/>
        </p:nvPicPr>
        <p:blipFill>
          <a:blip r:embed="rId4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33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35" name="" descr="&lt;Slide style={{ width: 1280, height: 720, background: '#FFFFFF', position: 'relative', fontFamily: 'Segoe UI', padding: '88px 40px 56px 40px' }}&gt;&#10;    {/* A heade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 title block */}&#10;    &lt;Box style={{ flexDirection: 'row', alignItems: 'center', height: 40 }}&gt;&#10;        &lt;Box style={{ width: 6, height: 34, background: '#1E4FA8', borderRadius: 3, marginRight: 12 }} /&gt;&#10;        &lt;Text style={{ fontSize: 34, fontWeight: 'bold', color: '#0E3F8C' }}&gt;Implementation Plan and Team Roles&lt;/Text&gt;&#10;        &lt;Text style={{ fontSize: 15, color: '#8B97A8', marginLeft: 'auto' }}&gt;06 / 06&lt;/Text&gt;&#10;    &lt;/Box&gt;&#10;&#10;    {/* C content */}&#10;    &lt;Box style={{ flexDirection: 'column', gap: 12, marginTop: 16, height: 520 }}&gt;&#10;        {/* six-stage plan */}&#10;        &lt;Box style={{ flexDirection: 'column', gap: 12, height: 156 }}&gt;&#10;            &lt;Box style={{ flexDirection: 'row', gap: 12, height: 72 }}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1&lt;/Text&gt;&#10;                        &lt;/Box&gt;&#10;                        &lt;Text style={{ fontSize: 15, fontWeight: 'bold', color: '#0E3F8C' }}&gt;Requirements &amp;amp; Design&lt;/Text&gt;&#10;                    &lt;/Box&gt;&#10;                    &lt;Text style={{ fontSize: 13, color: '#4A5568', marginTop: 6 }}&gt;Weeks 1–2 · scenarios, metrics, architecture&lt;/Text&gt;&#10;                &lt;/Box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2&lt;/Text&gt;&#10;                        &lt;/Box&gt;&#10;                        &lt;Text style={{ fontSize: 15, fontWeight: 'bold', color: '#0E3F8C' }}&gt;Core Execution Chain&lt;/Text&gt;&#10;                    &lt;/Box&gt;&#10;                    &lt;Text style={{ fontSize: 13, color: '#4A5568', marginTop: 6 }}&gt;Weeks 3–5 · API / worker, contracts, DAG, tools&lt;/Text&gt;&#10;                &lt;/Box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3&lt;/Text&gt;&#10;                        &lt;/Box&gt;&#10;                        &lt;Text style={{ fontSize: 15, fontWeight: 'bold', color: '#0E3F8C' }}&gt;Four Key Technologies&lt;/Text&gt;&#10;                    &lt;/Box&gt;&#10;                    &lt;Text style={{ fontSize: 13, color: '#4A5568', marginTop: 6 }}&gt;Weeks 6–8 · planning, routing, memory, recovery&lt;/Text&gt;&#10;                &lt;/Box&gt;&#10;            &lt;/Box&gt;&#10;&#10;            &lt;Box style={{ flexDirection: 'row', gap: 12, height: 72 }}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4&lt;/Text&gt;&#10;                        &lt;/Box&gt;&#10;                        &lt;Text style={{ fontSize: 15, fontWeight: 'bold', color: '#0E3F8C' }}&gt;Security &amp;amp; Console&lt;/Text&gt;&#10;                    &lt;/Box&gt;&#10;                    &lt;Text style={{ fontSize: 13, color: '#4A5568', marginTop: 6 }}&gt;Weeks 9–10 · permissions, sandbox, console, SSE&lt;/Text&gt;&#10;                &lt;/Box&gt;&#10;                &lt;Box style={{ flex: 1, background: '#F0F5FC', border: '1px solid #C9DCF5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5&lt;/Text&gt;&#10;                        &lt;/Box&gt;&#10;                        &lt;Text style={{ fontSize: 15, fontWeight: 'bold', color: '#0E3F8C' }}&gt;Evaluation Protocol&lt;/Text&gt;&#10;                    &lt;/Box&gt;&#10;                    &lt;Text style={{ fontSize: 13, color: '#4A5568', marginTop: 6 }}&gt;Weeks 11–12 · golden set, baselines, frozen replay&lt;/Text&gt;&#10;                &lt;/Box&gt;&#10;                &lt;Box style={{ flex: 1, background: '#E8EFF8', border: '1px solid #1E4FA8', borderRadius: 8, padding: '10px 14px', flexDirection: 'column' }}&gt;&#10;                    &lt;Box style={{ flexDirection: 'row', alignItems: 'center', gap: 8 }}&gt;&#10;                        &lt;Box style={{ width: 22, height: 22, borderRadius: 11, background: '#1E4FA8', justifyContent: 'center', alignItems: 'center' }}&gt;&#10;                            &lt;Text style={{ fontSize: 12, fontWeight: 'bold', color: '#FFFFFF', lineHeight: 1.2 }}&gt;6&lt;/Text&gt;&#10;                        &lt;/Box&gt;&#10;                        &lt;Text style={{ fontSize: 15, fontWeight: 'bold', color: '#0E3F8C' }}&gt;Acceptance &amp;amp; Delivery&lt;/Text&gt;&#10;                    &lt;/Box&gt;&#10;                    &lt;Text style={{ fontSize: 13, color: '#4A5568', marginTop: 6 }}&gt;Weeks 13–14 · acceptance run, delivery, defense&lt;/Text&gt;&#10;                &lt;/Box&gt;&#10;            &lt;/Box&gt;&#10;        &lt;/Box&gt;&#10;&#10;        {/* milestones and roles */}&#10;        &lt;Box style={{ flexDirection: 'row', gap: 20, height: 256 }}&gt;&#10;            &lt;Box style={{ width: 700, background: '#F7F9FC', border: '1px solid #D6DCE5', borderRadius: 10, padding: '20px 24px', flexDirection: 'column' }}&gt;&#10;                &lt;Text style={{ fontSize: 22, fontWeight: 'bold', color: '#0E3F8C' }}&gt;Milestones and Deliverables&lt;/Text&gt;&#10;                &lt;Box style={{ flexDirection: 'column', gap: 6, marginTop: 12 }}&gt;&#10;                    &lt;Box style={{ flexDirection: 'row', gap: 12, alignItems: 'center' }}&gt;&#10;                        &lt;Text style={{ fontSize: 14, fontWeight: 'bold', color: '#FFFFFF', background: '#1E4FA8', padding: '2px 8px', borderRadius: 4 }}&gt;M1&lt;/Text&gt;&#10;                        &lt;Text style={{ fontSize: 16, color: '#1A2230' }}&gt;End of week 2 · requirements, architecture, pre-registered protocol&lt;/Text&gt;&#10;                    &lt;/Box&gt;&#10;                    &lt;Box style={{ flexDirection: 'row', gap: 12, alignItems: 'center' }}&gt;&#10;                        &lt;Text style={{ fontSize: 14, fontWeight: 'bold', color: '#FFFFFF', background: '#1E4FA8', padding: '2px 8px', borderRadius: 4 }}&gt;M2&lt;/Text&gt;&#10;                        &lt;Text style={{ fontSize: 16, color: '#1A2230' }}&gt;End of week 5 · core chain runnable, business loop end-to-end&lt;/Text&gt;&#10;                    &lt;/Box&gt;&#10;                    &lt;Box style={{ flexDirection: 'row', gap: 12, alignItems: 'center' }}&gt;&#10;                        &lt;Text style={{ fontSize: 14, fontWeight: 'bold', color: '#FFFFFF', background: '#1E4FA8', padding: '2px 8px', borderRadius: 4 }}&gt;M3&lt;/Text&gt;&#10;                        &lt;Text style={{ fontSize: 16, color: '#1A2230' }}&gt;End of week 8 · four key technologies in place and internally accepted&lt;/Text&gt;&#10;                    &lt;/Box&gt;&#10;                    &lt;Box style={{ flexDirection: 'row', gap: 12, alignItems: 'center' }}&gt;&#10;                        &lt;Text style={{ fontSize: 14, fontWeight: 'bold', color: '#FFFFFF', background: '#1E4FA8', padding: '2px 8px', borderRadius: 4 }}&gt;M4&lt;/Text&gt;&#10;                        &lt;Text style={{ fontSize: 16, color: '#1A2230' }}&gt;End of week 14 · experiments, acceptance run, docs, defense&lt;/Text&gt;&#10;                    &lt;/Box&gt;&#10;                &lt;/Box&gt;&#10;            &lt;/Box&gt;&#10;&#10;            &lt;Box style={{ width: 480, background: '#FFFFFF', border: '1px solid #D6DCE5', borderRadius: 10, padding: '16px 22px', flexDirection: 'column' }}&gt;&#10;                &lt;Text style={{ fontSize: 22, fontWeight: 'bold', color: '#0E3F8C' }}&gt;Team Roles&lt;/Text&gt;&#10;                &lt;Box style={{ flexDirection: 'column', gap: 4, marginTop: 8 }}&gt;&#10;                    &lt;Box style={{ flexDirection: 'row', gap: 12, alignItems: 'flex-start' }}&gt;&#10;                        &lt;Text style={{ fontSize: 14, fontWeight: 'bold', color: '#1E4FA8', width: 108 }}&gt;Wang Fuxiang&lt;/Text&gt;&#10;                        &lt;Text style={{ fontSize: 14, color: '#1A2230', lineHeight: 1.5, flex: 1 }}&gt;Agent core and planning contracts (TaskSpec / validated DAG), evaluation protocol and experiments&lt;/Text&gt;&#10;                    &lt;/Box&gt;&#10;                    &lt;Box style={{ flexDirection: 'row', gap: 12, alignItems: 'flex-start' }}&gt;&#10;                        &lt;Text style={{ fontSize: 14, fontWeight: 'bold', color: '#1E4FA8', width: 108 }}&gt;Cao Shutong&lt;/Text&gt;&#10;                        &lt;Text style={{ fontSize: 14, color: '#1A2230', lineHeight: 1.5, flex: 1 }}&gt;Merchant business and tool routing (MCP tool layer), retrieval and memory modules&lt;/Text&gt;&#10;                    &lt;/Box&gt;&#10;                    &lt;Box style={{ flexDirection: 'row', gap: 12, alignItems: 'flex-start' }}&gt;&#10;                        &lt;Text style={{ fontSize: 14, fontWeight: 'bold', color: '#1E4FA8', width: 108 }}&gt;Zhang Fan&lt;/Text&gt;&#10;                        &lt;Text style={{ fontSize: 14, color: '#1A2230', lineHeight: 1.5, flex: 1 }}&gt;API and permission security, React console, deployment and observability (presenter)&lt;/Text&gt;&#10;                    &lt;/Box&gt;&#10;                &lt;/Box&gt;&#10;            &lt;/Box&gt;&#10;        &lt;/Box&gt;&#10;&#10;        {/* plan notes bar */}&#10;        &lt;Box style={{ height: 84, background: '#F0F5FC', border: '1px solid #C9DCF5', borderRadius: 10, padding: '0 26px', flexDirection: 'row', alignItems: 'center', gap: 18 }}&gt;&#10;            &lt;Box style={{ width: 44, height: 44, borderRadius: 10, background: '#1E4FA8', justifyContent: 'center', alignItems: 'center' }}&gt;&#10;                &lt;FAIcon name='calendar-check' style={{ fill: '#FFFFFF', width: 22, height: 22 }} /&gt;&#10;            &lt;/Box&gt;&#10;            &lt;Box style={{ flex: 1 }}&gt;&#10;                &lt;Text style={{ fontSize: 18, fontWeight: 'bold', color: '#0E3F8C' }}&gt;Plan Notes&lt;/Text&gt;&#10;                &lt;Text style={{ fontSize: 15, color: '#1A2230', lineHeight: 1.55, marginTop: 2 }}&gt;About one week of buffer is reserved between phases; controlled experiments depend on real model APIs, so quota must be requested early; if a target is missed, it is recorded honestly under pre-registered rules and later-phase scope is adjusted.&lt;/Text&gt;&#10;            &lt;/Box&gt;&#10;        &lt;/Box&gt;&#10;    &lt;/Box&gt;&#10;&#10;    {/* D footer */}&#10;    &lt;Box style={{ position: 'absolute', bottom: 0, left: 0, width: 1280, height: 56, padding: '0 40px', flexDirection: 'row', alignItems: 'center', justifyContent: 'space-between', borderTop: '1px solid #E5E7EB' }}&gt;&#10;        &lt;Text style={{ fontSize: 14, color: '#8B97A8' }}&gt;Beijing Jiaotong University · Software Engineering (Professional Master)&lt;/Text&gt;&#10;        &lt;Text style={{ fontSize: 14, color: '#0E3F8C', fontWeight: 'bold' }}&gt;17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381000" y="866775"/>
            <a:ext cx="571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552450" y="838200"/>
            <a:ext cx="56578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0E3F8C"/>
                </a:solidFill>
                <a:latin typeface="Segoe UI"/>
                <a:ea typeface="Segoe UI"/>
              </a:rPr>
              <a:t>Implementation Plan and Team Roles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1363325" y="942975"/>
            <a:ext cx="447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8B97A8"/>
                </a:solidFill>
                <a:latin typeface="Segoe UI"/>
                <a:ea typeface="Segoe UI"/>
              </a:rPr>
              <a:t>06 / 06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381000" y="13716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5143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590550" y="148590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Segoe UI"/>
                <a:ea typeface="Segoe UI"/>
              </a:rPr>
              <a:t>1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00100" y="1485900"/>
            <a:ext cx="1590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Requirements &amp; Design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14350" y="17335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egoe UI"/>
                <a:ea typeface="Segoe UI"/>
              </a:rPr>
              <a:t>Weeks 1–2 · scenarios, metrics, architecture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229100" y="13716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43624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438650" y="148590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Segoe UI"/>
                <a:ea typeface="Segoe UI"/>
              </a:rPr>
              <a:t>2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48200" y="148590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Core Execution Chain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362450" y="17335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egoe UI"/>
                <a:ea typeface="Segoe UI"/>
              </a:rPr>
              <a:t>Weeks 3–5 · API / worker, contracts, DAG, tools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077200" y="13716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8210550" y="14668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8286750" y="148590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Segoe UI"/>
                <a:ea typeface="Segoe UI"/>
              </a:rPr>
              <a:t>3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8496300" y="1485900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Four Key Technologies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8210550" y="17335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egoe UI"/>
                <a:ea typeface="Segoe UI"/>
              </a:rPr>
              <a:t>Weeks 6–8 · planning, routing, memory, recovery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381000" y="21717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56" name=""/>
          <p:cNvSpPr/>
          <p:nvPr/>
        </p:nvSpPr>
        <p:spPr>
          <a:xfrm rot="0" flipH="0" flipV="0">
            <a:off x="5143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590550" y="228600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Segoe UI"/>
                <a:ea typeface="Segoe UI"/>
              </a:rPr>
              <a:t>4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00100" y="2286000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Security &amp; Console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14350" y="2533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egoe UI"/>
                <a:ea typeface="Segoe UI"/>
              </a:rPr>
              <a:t>Weeks 9–10 · permissions, sandbox, console, SSE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4229100" y="21717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61" name=""/>
          <p:cNvSpPr/>
          <p:nvPr/>
        </p:nvSpPr>
        <p:spPr>
          <a:xfrm rot="0" flipH="0" flipV="0">
            <a:off x="43624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4438650" y="228600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Segoe UI"/>
                <a:ea typeface="Segoe UI"/>
              </a:rPr>
              <a:t>5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4648200" y="22860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Evaluation Protocol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4362450" y="2533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egoe UI"/>
                <a:ea typeface="Segoe UI"/>
              </a:rPr>
              <a:t>Weeks 11–12 · golden set, baselines, frozen replay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8077200" y="2171700"/>
            <a:ext cx="3733800" cy="685800"/>
          </a:xfrm>
          <a:prstGeom prst="roundRect">
            <a:avLst>
              <a:gd name="adj" fmla="val 11111"/>
            </a:avLst>
          </a:prstGeom>
          <a:solidFill>
            <a:srgbClr val="E8EFF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8210550" y="22669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8286750" y="2286000"/>
            <a:ext cx="66675" cy="171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900" b="1">
                <a:solidFill>
                  <a:srgbClr val="FFFFFF"/>
                </a:solidFill>
                <a:latin typeface="Segoe UI"/>
                <a:ea typeface="Segoe UI"/>
              </a:rPr>
              <a:t>6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496300" y="2286000"/>
            <a:ext cx="1533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Acceptance &amp; Delivery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210550" y="2533650"/>
            <a:ext cx="346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4A5568"/>
                </a:solidFill>
                <a:latin typeface="Segoe UI"/>
                <a:ea typeface="Segoe UI"/>
              </a:rPr>
              <a:t>Weeks 13–14 · acceptance run, delivery, defense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81000" y="2971800"/>
            <a:ext cx="6667500" cy="2438400"/>
          </a:xfrm>
          <a:prstGeom prst="roundRect">
            <a:avLst>
              <a:gd name="adj" fmla="val 390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09600" y="3162300"/>
            <a:ext cx="6210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Milestones and Deliverables</a:t>
            </a:r>
            <a:endParaRPr/>
          </a:p>
        </p:txBody>
      </p:sp>
      <p:sp>
        <p:nvSpPr>
          <p:cNvPr id="372" name=""/>
          <p:cNvSpPr/>
          <p:nvPr/>
        </p:nvSpPr>
        <p:spPr>
          <a:xfrm rot="0" flipH="0" flipV="0">
            <a:off x="609600" y="3533775"/>
            <a:ext cx="36195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36195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Segoe UI"/>
                <a:ea typeface="Segoe UI"/>
              </a:rPr>
              <a:t>M1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1085850" y="3543300"/>
            <a:ext cx="4476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>End of week 2 · requirements, architecture, pre-registered protocol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609600" y="3790950"/>
            <a:ext cx="36195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09600" y="3790950"/>
            <a:ext cx="36195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Segoe UI"/>
                <a:ea typeface="Segoe UI"/>
              </a:rPr>
              <a:t>M2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1085850" y="3800475"/>
            <a:ext cx="4200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>End of week 5 · core chain runnable, business loop end-to-end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4048125"/>
            <a:ext cx="36195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36195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Segoe UI"/>
                <a:ea typeface="Segoe UI"/>
              </a:rPr>
              <a:t>M3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1085850" y="405765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>End of week 8 · four key technologies in place and internally accepted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609600" y="4305300"/>
            <a:ext cx="361950" cy="200025"/>
          </a:xfrm>
          <a:prstGeom prst="roundRect">
            <a:avLst>
              <a:gd name="adj" fmla="val 1904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4305300"/>
            <a:ext cx="361950" cy="200025"/>
          </a:xfrm>
          <a:prstGeom prst="rect"/>
        </p:spPr>
        <p:txBody>
          <a:bodyPr wrap="none" lIns="57150" tIns="14288" rIns="57150" bIns="14288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highlight>
                  <a:srgbClr val="1E4FA8"/>
                </a:highlight>
                <a:latin typeface="Segoe UI"/>
                <a:ea typeface="Segoe UI"/>
              </a:rPr>
              <a:t>M4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085850" y="431482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Segoe UI"/>
                <a:ea typeface="Segoe UI"/>
              </a:rPr>
              <a:t>End of week 14 · experiments, acceptance run, docs, defense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7239000" y="2971800"/>
            <a:ext cx="4572000" cy="24384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448550" y="3124200"/>
            <a:ext cx="4152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Segoe UI"/>
                <a:ea typeface="Segoe UI"/>
              </a:rPr>
              <a:t>Team Roles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448550" y="3457575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Wang Fuxiang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591550" y="3457575"/>
            <a:ext cx="30099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Segoe UI"/>
                <a:ea typeface="Segoe UI"/>
              </a:rPr>
              <a:t>Agent core and planning contracts (TaskSpec / validated DAG), evaluation protocol and experiments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7448550" y="4219575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Cao Shutong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8591550" y="4219575"/>
            <a:ext cx="3009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Segoe UI"/>
                <a:ea typeface="Segoe UI"/>
              </a:rPr>
              <a:t>Merchant business and tool routing (MCP tool layer), retrieval and memory modules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7448550" y="4743450"/>
            <a:ext cx="1028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Segoe UI"/>
                <a:ea typeface="Segoe UI"/>
              </a:rPr>
              <a:t>Zhang Fan</a:t>
            </a:r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8591550" y="4743450"/>
            <a:ext cx="30099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1A2230"/>
                </a:solidFill>
                <a:latin typeface="Segoe UI"/>
                <a:ea typeface="Segoe UI"/>
              </a:rPr>
              <a:t>API and permission security, React console, deployment and observability (presenter)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381000" y="5524500"/>
            <a:ext cx="11430000" cy="800100"/>
          </a:xfrm>
          <a:prstGeom prst="roundRect">
            <a:avLst>
              <a:gd name="adj" fmla="val 11905"/>
            </a:avLst>
          </a:prstGeom>
          <a:solidFill>
            <a:srgbClr val="F0F5FC"/>
          </a:solidFill>
          <a:ln w="12700">
            <a:solidFill>
              <a:srgbClr val="C9DCF5"/>
            </a:solidFill>
            <a:prstDash val="solid"/>
          </a:ln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628650" y="5715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E4FA8"/>
          </a:solidFill>
          <a:ln/>
        </p:spPr>
        <p:txBody>
          <a:bodyPr/>
          <a:p/>
        </p:txBody>
      </p:sp>
      <p:pic>
        <p:nvPicPr>
          <p:cNvPr id="3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33425" y="5819775"/>
            <a:ext cx="209550" cy="209550"/>
          </a:xfrm>
          <a:prstGeom prst="rect">
            <a:avLst/>
          </a:prstGeom>
          <a:ln/>
        </p:spPr>
      </p:pic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219200" y="5543550"/>
            <a:ext cx="10344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Segoe UI"/>
                <a:ea typeface="Segoe UI"/>
              </a:rPr>
              <a:t>Plan Notes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1219200" y="5772150"/>
            <a:ext cx="103441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125">
                <a:solidFill>
                  <a:srgbClr val="1A2230"/>
                </a:solidFill>
                <a:latin typeface="Segoe UI"/>
                <a:ea typeface="Segoe UI"/>
              </a:rPr>
              <a:t>About one week of buffer is reserved between phases; controlled experiments depend on real model APIs, so quota must be requested early; if a target is missed, it is recorded honestly under pre-registered rules and later-phase scope is adjusted.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01" name=""/>
          <p:cNvPicPr>
            <a:picLocks noChangeAspect="1"/>
          </p:cNvPicPr>
          <p:nvPr/>
        </p:nvPicPr>
        <p:blipFill>
          <a:blip r:embed="rId2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402" name=""/>
          <p:cNvSpPr/>
          <p:nvPr/>
        </p:nvSpPr>
        <p:spPr>
          <a:xfrm rot="0" flipH="0" flipV="0">
            <a:off x="0" y="6324600"/>
            <a:ext cx="12192000" cy="533400"/>
          </a:xfrm>
          <a:custGeom>
            <a:pathLst>
              <a:path w="1280" h="56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381000" y="6515100"/>
            <a:ext cx="4181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11363325" y="651510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E3F8C"/>
                </a:solidFill>
                <a:latin typeface="Segoe UI"/>
                <a:ea typeface="Segoe U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5" name="" descr="&lt;Slide style={{ width: 1280, height: 720, background: '#FFFFFF', position: 'relative', fontFamily: 'Segoe UI', padding: '64px 0 72px 0' }}&gt;&#10;    {/* top dark-blue bar */}&#10;    &lt;Box style={{ position: 'absolute', top: 0, left: 0, width: 1280, height: 64, background: '#0E3F8C', flexDirection: 'row', alignItems: 'center', justifyContent: 'space-between', padding: '0 0 0 40px' }}&gt;&#10;        &lt;Text style={{ fontSize: 16, color: '#FFFFFF', letterSpacing: 2 }}&gt;Network Computing and Edge Intelligence · Proposal Defense&lt;/Text&gt;&#10;        &lt;Box style={{ flexDirection: 'row', alignItems: 'center' }}&gt;&#10;            &lt;Text style={{ fontSize: 14, color: '#B9CDEA', marginRight: 22 }}&gt;L4 Intelligent Customer Service Agent for E-Commerce&lt;/Text&gt;&#10;            &lt;Box style={{ width: 190, height: 64, background: '#FFFFFF', justifyContent: 'center', alignItems: 'center' }}&gt;&#10;                &lt;Image src=&quot;assets/bjtu_logo.png&quot; style={{ width: 166, height: 48, objectFit: 'contain' }} /&gt;&#10;            &lt;/Box&gt;&#10;        &lt;/Box&gt;&#10;    &lt;/Box&gt;&#10;&#10;    {/* body */}&#10;    &lt;Box style={{ flexDirection: 'column', alignItems: 'center', padding: '52px 120px 0 120px' }}&gt;&#10;        &lt;Text style={{ fontSize: 40, fontWeight: 'bold', color: '#0E3F8C', letterSpacing: 5 }}&gt;We Welcome Your Comments&lt;/Text&gt;&#10;        &lt;Text style={{ fontFamily: 'Times New Roman', fontSize: 20, color: '#3D7BD9', letterSpacing: 2, marginTop: 12 }}&gt;Thank you — questions and comments are welcome&lt;/Text&gt;&#10;        &lt;Box style={{ width: 120, height: 5, background: '#1E4FA8', borderRadius: 3, marginTop: 26 }} /&gt;&#10;        &lt;Text style={{ fontSize: 18, color: '#4A5568', lineHeight: 1.8, marginTop: 24, textAlign: 'center' }}&gt;Our thanks to Prof. Gao Bo for his careful guidance, to Wang Fuxiang and Cao Shutong for their collaboration, and to the course team for this learning opportunity.&lt;/Text&gt;&#10;&#10;        &lt;Box style={{ width: 1040, background: '#F7F9FC', border: '1px solid #D6DCE5', borderRadius: 10, padding: '18px 24px', marginTop: 24, flexDirection: 'column', gap: 6 }}&gt;&#10;            &lt;Text style={{ fontSize: 17, fontWeight: 'bold', color: '#0E3F8C' }}&gt;Main References and Prior Work&lt;/Text&gt;&#10;            &lt;Text style={{ fontSize: 15, color: '#4A5568', lineHeight: 1.6 }}&gt;1. Team prior-pilot material: system architecture design, key-technology prototypes and the evaluation protocol (2026-10-11).&lt;/Text&gt;&#10;            &lt;Text style={{ fontSize: 15, color: '#4A5568', lineHeight: 1.6 }}&gt;2. IDC data: China's enterprise intelligent customer service market was RMB 7.19 bn in 2025, +55.3% year on year (reported 2026).&lt;/Text&gt;&#10;            &lt;Text style={{ fontSize: 15, color: '#4A5568', lineHeight: 1.6 }}&gt;3. CAICT, Agent Technology and Application Research Report (2025): cognitive planning, scenario innovation and security governance remain open.&lt;/Text&gt;&#10;            &lt;Text style={{ fontSize: 15, color: '#4A5568', lineHeight: 1.6 }}&gt;4. Official documentation and protocol specifications for LangGraph, MCP (Model Context Protocol) and AG-UI.&lt;/Text&gt;&#10;            &lt;Text style={{ fontSize: 15, color: '#4A5568', lineHeight: 1.6 }}&gt;5. Model and retrieval APIs: OpenRouter deepseek/deepseek-v4.1-flash; Alibaba Cloud Bailian text-embedding-v4 and qwen3-rerank.&lt;/Text&gt;&#10;        &lt;/Box&gt;&#10;    &lt;/Box&gt;&#10;&#10;    {/* bottom info bar */}&#10;    &lt;Box style={{ position: 'absolute', bottom: 0, left: 0, width: 1280, height: 72, background: '#F7F9FC', borderTop: '1px solid #D6DCE5', flexDirection: 'row', alignItems: 'center', justifyContent: 'space-between', padding: '0 44px' }}&gt;&#10;        &lt;Text style={{ fontSize: 16, color: '#4A5568', letterSpacing: 1 }}&gt;Beijing Jiaotong University · Software Engineering (Professional Master)&lt;/Text&gt;&#10;        &lt;Text style={{ fontSize: 16, color: '#0E3F8C', fontWeight: 'bold', letterSpacing: 1 }}&gt;October 2026&lt;/Text&gt;&#10;        &lt;Text style={{ fontSize: 15, color: '#0E3F8C', fontWeight: 'bold' }}&gt;18 / 18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2857500" y="1104900"/>
            <a:ext cx="64865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 spc="375">
                <a:solidFill>
                  <a:srgbClr val="0E3F8C"/>
                </a:solidFill>
                <a:latin typeface="Segoe UI"/>
                <a:ea typeface="Segoe UI"/>
              </a:rPr>
              <a:t>We Welcome Your Comments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3657600" y="1676400"/>
            <a:ext cx="487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3D7BD9"/>
                </a:solidFill>
                <a:latin typeface="Times New Roman"/>
                <a:ea typeface="Times New Roman"/>
              </a:rPr>
              <a:t>Thank you — questions and comments are welcome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5524500" y="2152650"/>
            <a:ext cx="1143000" cy="47625"/>
          </a:xfrm>
          <a:prstGeom prst="roundRect">
            <a:avLst>
              <a:gd name="adj" fmla="val 6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43000" y="2428875"/>
            <a:ext cx="9906000" cy="7429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80000"/>
              </a:lnSpc>
            </a:pPr>
            <a:r>
              <a:rPr lang="en-US" sz="1350">
                <a:solidFill>
                  <a:srgbClr val="4A5568"/>
                </a:solidFill>
                <a:latin typeface="Segoe UI"/>
                <a:ea typeface="Segoe UI"/>
              </a:rPr>
              <a:t>Our thanks to Prof. Gao Bo for his careful guidance, to Wang Fuxiang and Cao Shutong for their collaboration, and to the course team for this learning opportunity.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1143000" y="3400425"/>
            <a:ext cx="9906000" cy="2209800"/>
          </a:xfrm>
          <a:prstGeom prst="roundRect">
            <a:avLst>
              <a:gd name="adj" fmla="val 431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1371600" y="3571875"/>
            <a:ext cx="944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E3F8C"/>
                </a:solidFill>
                <a:latin typeface="Segoe UI"/>
                <a:ea typeface="Segoe UI"/>
              </a:rPr>
              <a:t>Main References and Prior Work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371600" y="382905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1. Team prior-pilot material: system architecture design, key-technology prototypes and the evaluation protocol (2026-10-11).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1371600" y="416242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2. IDC data: China's enterprise intelligent customer service market was RMB 7.19 bn in 2025, +55.3% year on year (reported 2026).</a:t>
            </a:r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371600" y="449580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3. CAICT, Agent Technology and Application Research Report (2025): cognitive planning, scenario innovation and security governance remain open.</a:t>
            </a:r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371600" y="4829175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4. Official documentation and protocol specifications for LangGraph, MCP (Model Context Protocol) and AG-UI.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371600" y="5162550"/>
            <a:ext cx="94488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A5568"/>
                </a:solidFill>
                <a:latin typeface="Segoe UI"/>
                <a:ea typeface="Segoe UI"/>
              </a:rPr>
              <a:t>5. Model and retrieval APIs: OpenRouter deepseek/deepseek-v4.1-flash; Alibaba Cloud Bailian text-embedding-v4 and qwen3-rerank.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0" y="0"/>
            <a:ext cx="12192000" cy="6096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381000" y="209550"/>
            <a:ext cx="525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/>
                </a:solidFill>
                <a:latin typeface="Segoe UI"/>
                <a:ea typeface="Segoe UI"/>
              </a:rPr>
              <a:t>Network Computing and Edge Intelligence · Proposal Defense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962775" y="2286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B9CDEA"/>
                </a:solidFill>
                <a:latin typeface="Segoe UI"/>
                <a:ea typeface="Segoe UI"/>
              </a:rPr>
              <a:t>L4 Intelligent Customer Service Agent for E-Commerce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10382250" y="0"/>
            <a:ext cx="1809750" cy="60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2" name=""/>
          <p:cNvPicPr>
            <a:picLocks noChangeAspect="1"/>
          </p:cNvPicPr>
          <p:nvPr/>
        </p:nvPicPr>
        <p:blipFill>
          <a:blip r:embed="rId1"/>
          <a:srcRect l="0" t="199" r="0" b="199"/>
          <a:stretch>
            <a:fillRect/>
          </a:stretch>
        </p:blipFill>
        <p:spPr>
          <a:xfrm rot="0" flipH="0" flipV="0">
            <a:off x="10496550" y="76200"/>
            <a:ext cx="1581150" cy="457200"/>
          </a:xfrm>
          <a:prstGeom prst="rect">
            <a:avLst/>
          </a:prstGeom>
          <a:ln/>
        </p:spPr>
      </p:pic>
      <p:sp>
        <p:nvSpPr>
          <p:cNvPr id="423" name=""/>
          <p:cNvSpPr/>
          <p:nvPr/>
        </p:nvSpPr>
        <p:spPr>
          <a:xfrm rot="0" flipH="0" flipV="0">
            <a:off x="0" y="6181725"/>
            <a:ext cx="12192000" cy="6762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24" name=""/>
          <p:cNvSpPr/>
          <p:nvPr/>
        </p:nvSpPr>
        <p:spPr>
          <a:xfrm rot="0" flipH="0" flipV="0">
            <a:off x="0" y="6172200"/>
            <a:ext cx="12192000" cy="685800"/>
          </a:xfrm>
          <a:custGeom>
            <a:pathLst>
              <a:path w="1280" h="72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419100" y="6429375"/>
            <a:ext cx="54673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4A5568"/>
                </a:solidFill>
                <a:latin typeface="Segoe UI"/>
                <a:ea typeface="Segoe UI"/>
              </a:rPr>
              <a:t>Beijing Jiaotong University · Software Engineering (Professional Master)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048625" y="6429375"/>
            <a:ext cx="1085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 spc="75">
                <a:solidFill>
                  <a:srgbClr val="0E3F8C"/>
                </a:solidFill>
                <a:latin typeface="Segoe UI"/>
                <a:ea typeface="Segoe UI"/>
              </a:rPr>
              <a:t>October 2026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296650" y="6438900"/>
            <a:ext cx="476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E3F8C"/>
                </a:solidFill>
                <a:latin typeface="Segoe UI"/>
                <a:ea typeface="Segoe UI"/>
              </a:rPr>
              <a:t>18 / 18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2026-10-14T00:07:08Z</dcterms:created>
  <dcterms:modified xsi:type="dcterms:W3CDTF">2026-10-14T00:07:08Z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{"AIGC":{"Label":"1","ContentProducer":"00119111010856365494821B355","ProduceID":"01a135e637a17cd88634961a92ad828b","ReservedCode1":"","ContentPropagator":"00119111010856365494821B355","PropagateID":"01a135e637a17cd88634961a92ad828b","ReservedCode2":""}}</vt:lpwstr>
  </property>
</Properties>
</file>