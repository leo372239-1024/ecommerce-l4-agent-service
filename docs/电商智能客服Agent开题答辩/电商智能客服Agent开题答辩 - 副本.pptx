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7" Type="http://schemas.openxmlformats.org/officeDocument/2006/relationships/slide" Target="slides/slide17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19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6" Type="http://schemas.openxmlformats.org/officeDocument/2006/relationships/slide" Target="slides/slide6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7" Type="http://schemas.openxmlformats.org/officeDocument/2006/relationships/slide" Target="slides/slide7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5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6.svg" /><Relationship Id="rId3" Type="http://schemas.openxmlformats.org/officeDocument/2006/relationships/image" Target="media/image27.svg" /><Relationship Id="rId4" Type="http://schemas.openxmlformats.org/officeDocument/2006/relationships/image" Target="media/image28.svg" /><Relationship Id="rId5" Type="http://schemas.openxmlformats.org/officeDocument/2006/relationships/image" Target="media/image1.png" /></Relationships>
</file>

<file path=ppt/slides/_rels/slide5.xml.rels><?xml version="1.0" encoding="UTF-8" standalone="yes"?><Relationships xmlns="http://schemas.openxmlformats.org/package/2006/relationships"><Relationship Id="rId4" Type="http://schemas.openxmlformats.org/officeDocument/2006/relationships/image" Target="media/image28.svg" /><Relationship Id="rId3" Type="http://schemas.openxmlformats.org/officeDocument/2006/relationships/image" Target="media/image31.svg" /><Relationship Id="rId1" Type="http://schemas.openxmlformats.org/officeDocument/2006/relationships/image" Target="media/image29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0.svg" /><Relationship Id="rId5" Type="http://schemas.openxmlformats.org/officeDocument/2006/relationships/image" Target="media/image1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2.svg" /><Relationship Id="rId2" Type="http://schemas.openxmlformats.org/officeDocument/2006/relationships/image" Target="media/image1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.png" /><Relationship Id="rId1" Type="http://schemas.openxmlformats.org/officeDocument/2006/relationships/image" Target="media/image33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svg" /><Relationship Id="rId1" Type="http://schemas.openxmlformats.org/officeDocument/2006/relationships/image" Target="media/image2.svg" /><Relationship Id="rId3" Type="http://schemas.openxmlformats.org/officeDocument/2006/relationships/image" Target="media/image1.pn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5.svg" /><Relationship Id="rId3" Type="http://schemas.openxmlformats.org/officeDocument/2006/relationships/image" Target="media/image6.svg" /><Relationship Id="rId5" Type="http://schemas.openxmlformats.org/officeDocument/2006/relationships/image" Target="media/image1.png" /><Relationship Id="rId4" Type="http://schemas.openxmlformats.org/officeDocument/2006/relationships/image" Target="media/image7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2" Type="http://schemas.openxmlformats.org/officeDocument/2006/relationships/image" Target="media/image9.svg" /><Relationship Id="rId5" Type="http://schemas.openxmlformats.org/officeDocument/2006/relationships/image" Target="media/image1.png" /><Relationship Id="rId3" Type="http://schemas.openxmlformats.org/officeDocument/2006/relationships/image" Target="media/image10.svg" /><Relationship Id="rId4" Type="http://schemas.openxmlformats.org/officeDocument/2006/relationships/image" Target="media/image11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2" Type="http://schemas.openxmlformats.org/officeDocument/2006/relationships/image" Target="media/image13.svg" /><Relationship Id="rId3" Type="http://schemas.openxmlformats.org/officeDocument/2006/relationships/image" Target="media/image1.png" /></Relationships>
</file>

<file path=ppt/slides/_rels/slide14.xml.rels><?xml version="1.0" encoding="UTF-8" standalone="yes"?><Relationships xmlns="http://schemas.openxmlformats.org/package/2006/relationships"><Relationship Id="rId7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2" Type="http://schemas.openxmlformats.org/officeDocument/2006/relationships/image" Target="media/image15.svg" /><Relationship Id="rId5" Type="http://schemas.openxmlformats.org/officeDocument/2006/relationships/image" Target="media/image18.svg" /><Relationship Id="rId3" Type="http://schemas.openxmlformats.org/officeDocument/2006/relationships/image" Target="media/image16.svg" /><Relationship Id="rId4" Type="http://schemas.openxmlformats.org/officeDocument/2006/relationships/image" Target="media/image17.svg" /><Relationship Id="rId6" Type="http://schemas.openxmlformats.org/officeDocument/2006/relationships/image" Target="media/image19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.png" /><Relationship Id="rId1" Type="http://schemas.openxmlformats.org/officeDocument/2006/relationships/image" Target="media/image20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.png" /><Relationship Id="rId1" Type="http://schemas.openxmlformats.org/officeDocument/2006/relationships/image" Target="media/image21.svg" /><Relationship Id="rId2" Type="http://schemas.openxmlformats.org/officeDocument/2006/relationships/image" Target="media/image22.svg" /><Relationship Id="rId3" Type="http://schemas.openxmlformats.org/officeDocument/2006/relationships/image" Target="media/image23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Relationship Id="rId2" Type="http://schemas.openxmlformats.org/officeDocument/2006/relationships/image" Target="media/image1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FFF', position: 'relative', fontFamily: 'Microsoft YaHei', padding: 0 }}&gt;&#10;    {/* 顶部深蓝条 */}&#10;    &lt;Box style={{ position: 'absolute', top: 0, left: 0, width: 1280, height: 64, background: '#0E3F8C', flexDirection: 'row', alignItems: 'center', justifyContent: 'space-between', padding: '0 0 0 40px' }}&gt;&#10;        &lt;Text style={{ fontSize: 18, color: '#FFFFFF', letterSpacing: 2 }}&gt;网络计算与边缘智能&lt;/Text&gt;&#10;        &lt;Box style={{ flexDirection: 'row', alignItems: 'center' }}&gt;&#10;            &lt;Text style={{ fontSize: 16, color: '#B9CDEA', letterSpacing: 1, marginRight: 22 }}&gt;课程项目开题答辩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左侧竖向强调块 */}&#10;    &lt;Box style={{ position: 'absolute', top: 64, left: 0, width: 10, height: 568, background: '#1E4FA8' }} /&gt;&#10;    {/* 右上浅蓝装饰弧 */}&#10;    &lt;Box style={{ position: 'absolute', top: 64, right: 0, width: 300, height: 260, background: '#F0F5FC', borderBottomLeftRadius: 260 }} /&gt;&#10;&#10;    {/* 封面主体 */}&#10;    &lt;Box style={{ position: 'absolute', top: 132, left: 84, width: 1120, flexDirection: 'column' }}&gt;&#10;        &lt;Box style={{ flexDirection: 'row', alignItems: 'center', gap: 12, height: 36 }}&gt;&#10;            &lt;Box style={{ padding: '6px 20px', background: '#E8EFF8', borderRadius: 18, border: '1px solid #C9DCF5' }}&gt;&#10;                &lt;Text style={{ fontSize: 17, color: '#1E4FA8', fontWeight: 'bold', letterSpacing: 1 }}&gt;课程项目开题答辩&lt;/Text&gt;&#10;            &lt;/Box&gt;&#10;            &lt;Text style={{ fontSize: 16, color: '#8B97A8' }}&gt;Research Proposal Defense&lt;/Text&gt;&#10;        &lt;/Box&gt;&#10;&#10;        &lt;Text style={{ fontSize: 60, fontWeight: 'bold', color: '#0E3F8C', lineHeight: 1.25, marginTop: 22 }}&gt;电商 L4 级智能客服 Agent 系统&lt;/Text&gt;&#10;&#10;        &lt;Text style={{ fontFamily: 'Times New Roman', fontSize: 23, color: '#3D7BD9', lineHeight: 1.5, marginTop: 10 }}&gt;A Verifiable Execution Loop for High-Risk After-Sales Tasks&lt;/Text&gt;&#10;&#10;        &lt;Box style={{ width: 140, height: 5, background: '#1E4FA8', borderRadius: 3, marginTop: 26 }} /&gt;&#10;&#10;        &lt;Box style={{ flexDirection: 'row', gap: 56, marginTop: 34 }}&gt;&#10;            &lt;Box style={{ flexDirection: 'column', gap: 18 }}&gt;&#10;                &lt;Box style={{ flexDirection: 'row', gap: 10 }}&gt;&#10;                    &lt;Text style={{ fontSize: 20, color: '#8B97A8', width: 92 }}&gt;汇报人&lt;/Text&gt;&#10;                    &lt;Text style={{ fontSize: 22, color: '#1A2230', fontWeight: 'bold' }}&gt;张藩&lt;/Text&gt;&#10;                &lt;/Box&gt;&#10;                &lt;Box style={{ flexDirection: 'row', gap: 10 }}&gt;&#10;                    &lt;Text style={{ fontSize: 20, color: '#8B97A8', width: 92 }}&gt;指导教师&lt;/Text&gt;&#10;                    &lt;Text style={{ fontSize: 22, color: '#1A2230', fontWeight: 'bold' }}&gt;高博 老师&lt;/Text&gt;&#10;                &lt;/Box&gt;&#10;            &lt;/Box&gt;&#10;            &lt;Box style={{ flexDirection: 'column', gap: 18 }}&gt;&#10;                &lt;Box style={{ flexDirection: 'row', gap: 10 }}&gt;&#10;                    &lt;Text style={{ fontSize: 20, color: '#8B97A8', width: 92 }}&gt;小组成员&lt;/Text&gt;&#10;                    &lt;Text style={{ fontSize: 22, color: '#1A2230' }}&gt;王富祥 · 曹树桐 · 张藩&lt;/Text&gt;&#10;                &lt;/Box&gt;&#10;                &lt;Box style={{ flexDirection: 'row', gap: 10 }}&gt;&#10;                    &lt;Text style={{ fontSize: 20, color: '#8B97A8', width: 92 }}&gt;专业方向&lt;/Text&gt;&#10;                    &lt;Text style={{ fontSize: 22, color: '#1A2230' }}&gt;软件工程（专业硕士）&lt;/Text&gt;&#10;                &lt;/Box&gt;&#10;            &lt;/Box&gt;&#10;        &lt;/Box&gt;&#10;    &lt;/Box&gt;&#10;&#10;    {/* 底部信息条 */}&#10;    &lt;Box style={{ position: 'absolute', bottom: 0, left: 0, width: 1280, height: 88, background: '#F7F9FC', borderTop: '1px solid #D6DCE5', flexDirection: 'row', alignItems: 'center', justifyContent: 'space-between', padding: '0 44px' }}&gt;&#10;        &lt;Text style={{ fontSize: 18, color: '#4A5568', letterSpacing: 1 }}&gt;北京交通大学 · 软件工程（专硕）&lt;/Text&gt;&#10;        &lt;Text style={{ fontSize: 18, color: '#0E3F8C', fontWeight: 'bold', letterSpacing: 1 }}&gt;2026 年 10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2000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877300" y="2095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B9CDEA"/>
                </a:solidFill>
                <a:latin typeface="Microsoft YaHei"/>
                <a:ea typeface="Microsoft YaHei"/>
              </a:rPr>
              <a:t>课程项目开题答辩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8" name=""/>
          <p:cNvSpPr/>
          <p:nvPr/>
        </p:nvSpPr>
        <p:spPr>
          <a:xfrm rot="0" flipH="0" flipV="0">
            <a:off x="0" y="609600"/>
            <a:ext cx="95250" cy="5410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9334500" y="609600"/>
            <a:ext cx="2857500" cy="2476500"/>
          </a:xfrm>
          <a:custGeom>
            <a:pathLst>
              <a:path w="300" h="260">
                <a:moveTo>
                  <a:pt x="0" y="0"/>
                </a:moveTo>
                <a:lnTo>
                  <a:pt x="300" y="0"/>
                </a:lnTo>
                <a:lnTo>
                  <a:pt x="300" y="0"/>
                </a:lnTo>
                <a:lnTo>
                  <a:pt x="300" y="260"/>
                </a:lnTo>
                <a:lnTo>
                  <a:pt x="300" y="260"/>
                </a:lnTo>
                <a:lnTo>
                  <a:pt x="260" y="260"/>
                </a:lnTo>
                <a:cubicBezTo>
                  <a:pt x="117" y="260"/>
                  <a:pt x="0" y="143"/>
                  <a:pt x="0" y="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00100" y="1276350"/>
            <a:ext cx="1752600" cy="314325"/>
          </a:xfrm>
          <a:prstGeom prst="roundRect">
            <a:avLst>
              <a:gd name="adj" fmla="val 54545"/>
            </a:avLst>
          </a:prstGeom>
          <a:solidFill>
            <a:srgbClr val="E8EFF8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90600" y="1333500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1E4FA8"/>
                </a:solidFill>
                <a:latin typeface="Microsoft YaHei"/>
                <a:ea typeface="Microsoft YaHei"/>
              </a:rPr>
              <a:t>课程项目开题答辩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667000" y="1333500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Research Proposal Defense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00100" y="1809750"/>
            <a:ext cx="10668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电商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级智能客服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2762250"/>
            <a:ext cx="106680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3D7BD9"/>
                </a:solidFill>
                <a:latin typeface="Times New Roman"/>
                <a:ea typeface="Times New Roman"/>
              </a:rPr>
              <a:t>A Verifiable Execution Loop for High-Risk After-Sales Tasks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800100" y="3409950"/>
            <a:ext cx="1333500" cy="47625"/>
          </a:xfrm>
          <a:prstGeom prst="roundRect">
            <a:avLst>
              <a:gd name="adj" fmla="val 6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00100" y="3781425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汇报人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771650" y="37814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张藩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" y="4210050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771650" y="4210050"/>
            <a:ext cx="904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高博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老师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209925" y="3781425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小组成员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181475" y="3781425"/>
            <a:ext cx="2028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王富祥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曹树桐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张藩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209925" y="4210050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专业方向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181475" y="421005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软件工程（专业硕士）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6029325"/>
            <a:ext cx="12192000" cy="8286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0" y="6019800"/>
            <a:ext cx="12192000" cy="838200"/>
          </a:xfrm>
          <a:custGeom>
            <a:pathLst>
              <a:path w="1280" h="88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4A556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350" spc="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75">
                <a:solidFill>
                  <a:srgbClr val="4A556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534650" y="634365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350" b="1" spc="75">
                <a:solidFill>
                  <a:srgbClr val="0E3F8C"/>
                </a:solidFill>
                <a:latin typeface="Microsoft YaHei"/>
                <a:ea typeface="Microsoft YaHei"/>
              </a:rPr>
              <a:t>年</a:t>
            </a:r>
            <a:r>
              <a:rPr lang="en-US" sz="135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 b="1" spc="75">
                <a:solidFill>
                  <a:srgbClr val="0E3F8C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28" name="" descr="&lt;Slide style={{ width: 1280, height: 720, background: '#FFFFFF', fontFamily: 'Microsoft YaHei', padding: 0, flexDirection: 'row' }}&gt;&#10;    {/* 左侧深蓝导航栏 */}&#10;    &lt;Box style={{ width: 380, height: 720, background: '#0E3F8C', flexDirection: 'column', justifyContent: 'center', padding: '0 48px' }}&gt;&#10;        &lt;Text style={{ fontSize: 46, fontWeight: 'bold', color: '#FFFFFF', letterSpacing: 8 }}&gt;目录&lt;/Text&gt;&#10;        &lt;Text style={{ fontFamily: 'Times New Roman', fontSize: 18, color: '#B9CDEA', letterSpacing: 3, marginTop: 12 }}&gt;CONTENTS&lt;/Text&gt;&#10;        &lt;Box style={{ width: 64, height: 4, background: '#3D7BD9', borderRadius: 2, marginTop: 24 }} /&gt;&#10;        &lt;Text style={{ fontSize: 17, color: '#B9CDEA', lineHeight: 1.9, marginTop: 30 }}&gt;从立项必要性与核心想法出发，&lt;br /&gt;给出研究内容、技术方案、&lt;br /&gt;预期效果与实施计划。&lt;/Text&gt;&#10;        &lt;Text style={{ fontFamily: 'Times New Roman', fontSize: 14, color: '#7FA3D6', letterSpacing: 1, marginTop: 46 }}&gt;E-Commerce L4 Agent · 2026&lt;/Text&gt;&#10;    &lt;/Box&gt;&#10;&#10;    {/* 右侧六项导航 */}&#10;    &lt;Box style={{ flex: 1, height: 720, position: 'relative', padding: '92px 44px 0 72px' }}&gt;&#10;        &lt;Box style={{ flexDirection: 'row', flexWrap: 'wrap', gap: 20, height: 540 }}&gt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1&lt;/Text&gt;&#10;                    &lt;/Box&gt;&#10;                    &lt;Text style={{ fontSize: 23, fontWeight: 'bold', color: '#0E3F8C' }}&gt;立项必要性&lt;/Text&gt;&#10;                &lt;/Box&gt;&#10;                &lt;Text style={{ fontSize: 16, color: '#4A5568', lineHeight: 1.7, marginTop: 12 }}&gt;行业规模与需求增长；现有能力断层与待解决的工程痛点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2&lt;/Text&gt;&#10;                    &lt;/Box&gt;&#10;                    &lt;Text style={{ fontSize: 23, fontWeight: 'bold', color: '#0E3F8C' }}&gt;项目主题与核心想法&lt;/Text&gt;&#10;                &lt;/Box&gt;&#10;                &lt;Text style={{ fontSize: 16, color: '#4A5568', lineHeight: 1.7, marginTop: 12 }}&gt;项目定位、核心想法与差异化边界；研究目标与内容拆解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3&lt;/Text&gt;&#10;                    &lt;/Box&gt;&#10;                    &lt;Text style={{ fontSize: 23, fontWeight: 'bold', color: '#0E3F8C' }}&gt;研究内容与技术方案&lt;/Text&gt;&#10;                &lt;/Box&gt;&#10;                &lt;Text style={{ fontSize: 16, color: '#4A5568', lineHeight: 1.7, marginTop: 12 }}&gt;总体架构、业务流程设计，以及技术选型与部署形态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4&lt;/Text&gt;&#10;                    &lt;/Box&gt;&#10;                    &lt;Text style={{ fontSize: 23, fontWeight: 'bold', color: '#0E3F8C' }}&gt;关键技术与安全设计&lt;/Text&gt;&#10;                &lt;/Box&gt;&#10;                &lt;Text style={{ fontSize: 16, color: '#4A5568', lineHeight: 1.7, marginTop: 12 }}&gt;四项关键技术方向，以及权限、隔离与可信边界设计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5&lt;/Text&gt;&#10;                    &lt;/Box&gt;&#10;                    &lt;Text style={{ fontSize: 23, fontWeight: 'bold', color: '#0E3F8C' }}&gt;预期效果与验收指标&lt;/Text&gt;&#10;                &lt;/Box&gt;&#10;                &lt;Text style={{ fontSize: 16, color: '#4A5568', lineHeight: 1.7, marginTop: 12 }}&gt;预期技术效果、量化目标与对照实验设计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6&lt;/Text&gt;&#10;                    &lt;/Box&gt;&#10;                    &lt;Text style={{ fontSize: 23, fontWeight: 'bold', color: '#0E3F8C' }}&gt;可行性与实施计划&lt;/Text&gt;&#10;                &lt;/Box&gt;&#10;                &lt;Text style={{ fontSize: 16, color: '#4A5568', lineHeight: 1.7, marginTop: 12 }}&gt;技术/资源可行性、阶段计划、里程碑与团队分工&lt;/Text&gt;&#10;            &lt;/Box&gt;&#10;        &lt;/Box&gt;&#10;&#10;        &lt;Box style={{ position: 'absolute', top: 20, right: 44 }}&gt;&#10;            &lt;Image src=&quot;assets/bjtu_logo.png&quot; style={{ width: 158, height: 46, objectFit: 'contain' }} /&gt;&#10;        &lt;/Box&gt;&#10;&#10;        &lt;Box style={{ position: 'absolute', bottom: 24, right: 44 }}&gt;&#10;            &lt;Text style={{ fontSize: 15, color: '#0E3F8C', fontWeight: 'bold' }}&gt;02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57200" y="1866900"/>
            <a:ext cx="27051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60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57200" y="25146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B9CDEA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457200" y="2952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57200" y="3276600"/>
            <a:ext cx="2705100" cy="1114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A"/>
                </a:solidFill>
                <a:latin typeface="Microsoft YaHei"/>
                <a:ea typeface="Microsoft YaHei"/>
              </a:rPr>
              <a:t>从立项必要性与核心想法出发，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A"/>
                </a:solidFill>
                <a:latin typeface="Microsoft YaHei"/>
                <a:ea typeface="Microsoft YaHei"/>
              </a:rPr>
              <a:t>给出研究内容、技术方案、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A"/>
                </a:solidFill>
                <a:latin typeface="Microsoft YaHei"/>
                <a:ea typeface="Microsoft YaHei"/>
              </a:rPr>
              <a:t>预期效果与实施计划。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57200" y="48291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FA3D6"/>
                </a:solidFill>
                <a:latin typeface="Times New Roman"/>
                <a:ea typeface="Times New Roman"/>
              </a:rPr>
              <a:t>E-Commerce L4 Agent · 2026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305300" y="876300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4514850" y="10477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581525" y="11239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991100" y="1095375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立项必要性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514850" y="1524000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行业规模与需求增长；现有能力断层与待解决的工程痛点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8134350" y="876300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8343900" y="10477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410575" y="11239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820150" y="1095375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项目主题与核心想法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43900" y="1524000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项目定位、核心想法与差异化边界；研究目标与内容拆解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4305300" y="265747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4514850" y="28289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581525" y="29051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991100" y="287655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研究内容与技术方案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514850" y="3305175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总体架构、业务流程设计，以及技术选型与部署形态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134350" y="265747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8343900" y="28289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410575" y="29051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820150" y="287655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关键技术与安全设计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343900" y="3305175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四项关键技术方向，以及权限、隔离与可信边界设计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4305300" y="442912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4514850" y="460057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581525" y="467677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991100" y="464820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预期效果与验收指标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514850" y="5076825"/>
            <a:ext cx="32194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预期技术效果、量化目标与对照实验设计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8134350" y="442912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8343900" y="460057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410575" y="467677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820150" y="4648200"/>
            <a:ext cx="17526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可行性与实施计划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343900" y="5076825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技术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资源可行性、阶段计划、里程碑与团队分工</a:t>
            </a:r>
            <a:endParaRPr/>
          </a:p>
        </p:txBody>
      </p:sp>
      <p:pic>
        <p:nvPicPr>
          <p:cNvPr id="466" name=""/>
          <p:cNvPicPr>
            <a:picLocks noChangeAspect="1"/>
          </p:cNvPicPr>
          <p:nvPr/>
        </p:nvPicPr>
        <p:blipFill>
          <a:blip r:embed="rId1"/>
          <a:srcRect l="141" t="0" r="141" b="0"/>
          <a:stretch>
            <a:fillRect/>
          </a:stretch>
        </p:blipFill>
        <p:spPr>
          <a:xfrm rot="0" flipH="0" flipV="0">
            <a:off x="10267950" y="190500"/>
            <a:ext cx="1504950" cy="438150"/>
          </a:xfrm>
          <a:prstGeom prst="rect">
            <a:avLst/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258550" y="64579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68" name="" descr="&lt;Slide style={{ width: 1280, height: 720, background: '#FFFFFF', position: 'relative', fontFamily: 'Microsoft YaHei', padding: '88px 40px 56px 40px' }}&gt;&#13;&#10;    {/* A 页眉（A3 深蓝顶条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立项必要性：行业需求与能力缺口&lt;/Text&gt;&#13;&#10;        &lt;Text style={{ fontSize: 15, color: '#8B97A8', marginLeft: 'auto' }}&gt;01 / 06&lt;/Text&gt;&#13;&#10;    &lt;/Box&gt;&#13;&#10;&#13;&#10;    {/* C 内容区 */}&#13;&#10;    &lt;Box style={{ flexDirection: 'column', gap: 20, marginTop: 16, height: 520 }}&gt;&#13;&#10;        &lt;Box style={{ flexDirection: 'row', gap: 20, height: 400 }}&gt;&#13;&#10;            {/* 左：行业背景与数据锚点 */}&#13;&#10;            &lt;Box style={{ width: 480, background: '#F7F9FC', border: '1px solid #D6DCE5', borderRadius: 10, padding: '22px 26px', flexDirection: 'column' }}&gt;&#13;&#10;                &lt;Box style={{ flexDirection: 'row', alignItems: 'center', gap: 10 }}&gt;&#13;&#10;                    &lt;Box style={{ width: 4, height: 20, background: '#1E4FA8', borderRadius: 2 }} /&gt;&#13;&#10;                    &lt;Text style={{ fontSize: 25, fontWeight: 'bold', color: '#0E3F8C' }}&gt;行业背景&lt;/Text&gt;&#13;&#10;                    &lt;Text style={{ fontSize: 14, color: '#8B97A8', marginLeft: 'auto' }}&gt;需求侧增长&lt;/Text&gt;&#13;&#10;                &lt;/Box&gt;&#13;&#10;                &lt;Text style={{ fontSize: 17, color: '#4A5568', lineHeight: 1.7, marginTop: 12 }}&gt;企业级智能客服已进入规模化采购阶段，市场规模与增速均处于高位。&lt;/Text&gt;&#13;&#10;&#13;&#10;                &lt;Box style={{ marginTop: 20 }}&gt;&#13;&#10;                    &lt;Text style={{ fontSize: 74, fontWeight: 'bold', color: '#1E4FA8', lineHeight: 1 }}&gt;71.9&lt;/Text&gt;&#13;&#10;                    &lt;Box style={{ flexDirection: 'row', alignItems: 'baseline', gap: 10, marginTop: 6 }}&gt;&#13;&#10;                        &lt;Text style={{ fontSize: 22, color: '#1A2230', fontWeight: 'bold' }}&gt;亿元&lt;/Text&gt;&#13;&#10;                        &lt;Text style={{ fontSize: 16, color: '#8B97A8' }}&gt;2025 年中国企业级智能客服市场规模&lt;/Text&gt;&#13;&#10;                    &lt;/Box&gt;&#13;&#10;                &lt;/Box&gt;&#13;&#10;&#13;&#10;                &lt;Box style={{ flexDirection: 'row', alignItems: 'baseline', gap: 12, marginTop: 18 }}&gt;&#13;&#10;                    &lt;Text style={{ fontSize: 44, fontWeight: 'bold', color: '#D9534F', lineHeight: 1 }}&gt;+55.3%&lt;/Text&gt;&#13;&#10;                    &lt;Text style={{ fontSize: 17, color: '#4A5568' }}&gt;同比增长&lt;/Text&gt;&#13;&#10;                &lt;/Box&gt;&#13;&#10;                &lt;Text style={{ fontSize: 14, color: '#8B97A8', marginTop: 'auto' }}&gt;数据来源：IDC 数据（2026 年报道）&lt;/Text&gt;&#13;&#10;            &lt;/Box&gt;&#13;&#10;&#13;&#10;            {/* 右：问题重定义 */}&#13;&#10;            &lt;Box style={{ width: 700, background: '#FFFFFF', border: '1px solid #D6DCE5', borderRadius: 10, padding: '22px 26px', flexDirection: 'column' }}&gt;&#13;&#10;                &lt;Box style={{ flexDirection: 'row', alignItems: 'center', gap: 10 }}&gt;&#13;&#10;                    &lt;Box style={{ width: 4, height: 20, background: '#1E4FA8', borderRadius: 2 }} /&gt;&#13;&#10;                    &lt;Text style={{ fontSize: 25, fontWeight: 'bold', color: '#0E3F8C' }}&gt;问题重定义&lt;/Text&gt;&#13;&#10;                    &lt;Text style={{ fontSize: 14, color: '#8B97A8', marginLeft: 'auto' }}&gt;能力侧缺口&lt;/Text&gt;&#13;&#10;                &lt;/Box&gt;&#13;&#10;                &lt;Text style={{ fontSize: 17, color: '#4A5568', lineHeight: 1.7, marginTop: 12 }}&gt;成熟厂商已解决「客服能回答」，但「客服能办完」仍存在工程能力断层。&lt;/Text&gt;&#13;&#10;&#13;&#10;                &lt;Box style={{ flexDirection: 'row', gap: 14, marginTop: 16 }}&gt;&#13;&#10;                    &lt;Box style={{ flex: 1, background: '#F0F5FC', borderRadius: 8, padding: '14px 16px', borderLeft: '4px solid #3D7BD9' }}&gt;&#13;&#10;                        &lt;Text style={{ fontSize: 18, fontWeight: 'bold', color: '#1E4FA8' }}&gt;已基本解决&lt;/Text&gt;&#13;&#10;                        &lt;Text style={{ fontSize: 16, color: '#4A5568', lineHeight: 1.6, marginTop: 6 }}&gt;FAQ 问答、知识检索、单轮查询——&lt;br /&gt;客服「能回答」&lt;/Text&gt;&#13;&#10;                    &lt;/Box&gt;&#13;&#10;                    &lt;Box style={{ flex: 1, background: '#FDF3F3', borderRadius: 8, padding: '14px 16px', borderLeft: '4px solid #D9534F' }}&gt;&#13;&#10;                        &lt;Text style={{ fontSize: 18, fontWeight: 'bold', color: '#D9534F' }}&gt;仍是缺口&lt;/Text&gt;&#13;&#10;                        &lt;Text style={{ fontSize: 16, color: '#4A5568', lineHeight: 1.6, marginTop: 6 }}&gt;退款、取消等高风险写操作——&lt;br /&gt;缺「能办完且可验证」&lt;/Text&gt;&#13;&#10;                    &lt;/Box&gt;&#13;&#10;                &lt;/Box&gt;&#13;&#10;&#13;&#10;                &lt;Box style={{ background: '#F7F9FC', borderRadius: 8, padding: '12px 16px', marginTop: 16, border: '1px solid #E5E7EB' }}&gt;&#13;&#10;                    &lt;Text style={{ fontSize: 16, color: '#4A5568', lineHeight: 1.6 }}&gt;中国信通院《智能体技术和应用研究报告（2025 年）》将认知规划能力、场景创新与安全治理列为仍需解决的挑战。&lt;/Text&gt;&#13;&#10;                &lt;/Box&gt;&#13;&#10;            &lt;/Box&gt;&#13;&#10;        &lt;/Box&gt;&#13;&#10;&#13;&#10;        {/* 底部结论条 */}&#13;&#10;        &lt;Box style={{ height: 100, background: '#0E3F8C', borderRadius: 10, padding: '0 28px', flexDirection: 'row', alignItems: 'center', gap: 20 }}&gt;&#13;&#10;            &lt;Text style={{ fontSize: 40, fontWeight: 'bold', color: '#3D7BD9', fontFamily: 'Times New Roman', lineHeight: 1 }}&gt;Q&lt;/Text&gt;&#13;&#10;            &lt;Text style={{ fontSize: 20, color: '#FFFFFF', lineHeight: 1.65 }}&gt;研究问题：如何把&lt;b&gt;身份权限、当前证据、客户授权、主管审批、事务幂等与回执对账&lt;/b&gt;，组织成一条对高风险售后事务可验证、可审计、可恢复的执行闭环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3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立项必要性：行业需求与能力缺口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01 / 06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381000" y="1371600"/>
            <a:ext cx="4572000" cy="3810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628650" y="1628775"/>
            <a:ext cx="381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952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行业背景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038600" y="16478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需求侧增长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28650" y="1981200"/>
            <a:ext cx="4076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企业级智能客服已进入规模化采购阶段，市场规模与增速均处于高位。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28650" y="2838450"/>
            <a:ext cx="407670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550" b="1">
                <a:solidFill>
                  <a:srgbClr val="1E4FA8"/>
                </a:solidFill>
                <a:latin typeface="Microsoft YaHei"/>
                <a:ea typeface="Microsoft YaHei"/>
              </a:rPr>
              <a:t>71.9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28650" y="37433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亿元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143000" y="3743325"/>
            <a:ext cx="2543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年中国企业级智能客服市场规模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28650" y="4171950"/>
            <a:ext cx="1609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9534F"/>
                </a:solidFill>
                <a:latin typeface="Microsoft YaHei"/>
                <a:ea typeface="Microsoft YaHei"/>
              </a:rPr>
              <a:t>+55.3%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2352675" y="4171950"/>
            <a:ext cx="647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同比增长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28650" y="481012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IDC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年报道）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143500" y="1371600"/>
            <a:ext cx="6667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5391150" y="1628775"/>
            <a:ext cx="381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524500" y="1581150"/>
            <a:ext cx="11906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问题重定义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0896600" y="16478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能力侧缺口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391150" y="1981200"/>
            <a:ext cx="61722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成熟厂商已解决「客服能回答」，但「客服能办完」仍存在工程能力断层。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5429250" y="2466975"/>
            <a:ext cx="3019425" cy="1123950"/>
          </a:xfrm>
          <a:prstGeom prst="roundRect">
            <a:avLst>
              <a:gd name="adj" fmla="val 678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5429250" y="2466975"/>
            <a:ext cx="3019425" cy="1123950"/>
          </a:xfrm>
          <a:custGeom>
            <a:pathLst>
              <a:path w="317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5581650" y="2600325"/>
            <a:ext cx="2676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已基本解决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581650" y="2867025"/>
            <a:ext cx="26765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FAQ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问答、知识检索、单轮查询——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客服「能回答」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8582025" y="2466975"/>
            <a:ext cx="3019425" cy="1123950"/>
          </a:xfrm>
          <a:prstGeom prst="roundRect">
            <a:avLst>
              <a:gd name="adj" fmla="val 6780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8582025" y="2466975"/>
            <a:ext cx="3019425" cy="1123950"/>
          </a:xfrm>
          <a:custGeom>
            <a:pathLst>
              <a:path w="317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734425" y="2600325"/>
            <a:ext cx="2676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仍是缺口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734425" y="2867025"/>
            <a:ext cx="26765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退款、取消等高风险写操作——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缺「能办完且可验证」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5391150" y="3743325"/>
            <a:ext cx="6172200" cy="819150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543550" y="3857625"/>
            <a:ext cx="586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中国信通院《智能体技术和应用研究报告（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年）》将认知规划能力、场景创新与安全治理列为仍需解决的挑战。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47700" y="5619750"/>
            <a:ext cx="295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D7BD9"/>
                </a:solidFill>
                <a:latin typeface="Times New Roman"/>
                <a:ea typeface="Times New Roman"/>
              </a:rPr>
              <a:t>Q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133475" y="5467350"/>
            <a:ext cx="104108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研究问题：如何把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身份权限、当前证据、客户授权、主管审批、事务幂等与回执对账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，组织成一条对高风险售后事务可验证、可审计、可恢复的执行闭环。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06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50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0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研究现状与工程能力断层&lt;/Text&gt;&#13;&#10;        &lt;Text style={{ fontSize: 15, color: '#8B97A8', marginLeft: 'auto' }}&gt;01 / 06&lt;/Text&gt;&#13;&#10;    &lt;/Box&gt;&#13;&#10;&#13;&#10;    {/* C 内容区 */}&#13;&#10;    &lt;Box style={{ flexDirection: 'column', gap: 20, marginTop: 16, height: 520 }}&gt;&#13;&#10;        &lt;Box style={{ flexDirection: 'row', gap: 20, height: 400 }}&gt;&#13;&#10;            {/* 左：现有技术栈 */}&#13;&#10;            &lt;Box style={{ width: 590, background: '#F7F9FC', border: '1px solid #D6DCE5', borderRadius: 10, padding: '20px 24px', flexDirection: 'column' }}&gt;&#13;&#10;                &lt;Box style={{ flexDirection: 'row', alignItems: 'center', gap: 10 }}&gt;&#13;&#10;                    &lt;FAIcon name='layer-group' style={{ fill: '#3D7BD9', width: 22, height: 22 }} /&gt;&#13;&#10;                    &lt;Text style={{ fontSize: 24, fontWeight: 'bold', color: '#0E3F8C' }}&gt;现有技术栈：组件层面已成熟&lt;/Text&gt;&#13;&#10;                &lt;/Box&gt;&#13;&#10;                &lt;Text style={{ fontSize: 16, color: '#4A5568', lineHeight: 1.6, marginTop: 8 }}&gt;公开框架与协议已把「Agent 能调用工具并回答」做成工程标配。&lt;/Text&gt;&#13;&#10;&#13;&#10;                &lt;Box style={{ flexDirection: 'column', marginTop: 14 }}&gt;&#13;&#10;                    &lt;Box style={{ flexDirection: 'row', gap: 12, alignItems: 'flex-start', paddingBottom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规划与执行&lt;/Text&gt;&#13;&#10;                            &lt;Text style={{ fontSize: 15, color: '#4A5568', lineHeight: 1.5, marginTop: 2 }}&gt;ReAct 式工具调用、函数调用、LangGraph 持久执行与 checkpoint&lt;/Text&gt;&#13;&#10;                        &lt;/Box&gt;&#13;&#10;                    &lt;/Box&gt;&#13;&#10;                    &lt;Box style={{ flexDirection: 'row', gap: 12, alignItems: 'flex-start', paddingVertical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检索增强&lt;/Text&gt;&#13;&#10;                            &lt;Text style={{ fontSize: 15, color: '#4A5568', lineHeight: 1.5, marginTop: 2 }}&gt;BM25 词法召回 + 向量语义召回 + RRF 融合 + 精排模型&lt;/Text&gt;&#13;&#10;                        &lt;/Box&gt;&#13;&#10;                    &lt;/Box&gt;&#13;&#10;                    &lt;Box style={{ flexDirection: 'row', gap: 12, alignItems: 'flex-start', paddingVertical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记忆机制&lt;/Text&gt;&#13;&#10;                            &lt;Text style={{ fontSize: 15, color: '#4A5568', lineHeight: 1.5, marginTop: 2 }}&gt;情景 / 语义 / 程序记忆，AWM 工作流模板与受控复用&lt;/Text&gt;&#13;&#10;                        &lt;/Box&gt;&#13;&#10;                    &lt;/Box&gt;&#13;&#10;                    &lt;Box style={{ flexDirection: 'row', gap: 12, alignItems: 'flex-start', paddingVertical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工具协议与网关&lt;/Text&gt;&#13;&#10;                            &lt;Text style={{ fontSize: 15, color: '#4A5568', lineHeight: 1.5, marginTop: 2 }}&gt;MCP 标准化商家接口，网关统一授权、提案与参数校验&lt;/Text&gt;&#13;&#10;                        &lt;/Box&gt;&#13;&#10;                    &lt;/Box&gt;&#13;&#10;                    &lt;Box style={{ flexDirection: 'row', gap: 12, alignItems: 'flex-start', paddingTop: 10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可观测&lt;/Text&gt;&#13;&#10;                            &lt;Text style={{ fontSize: 15, color: '#4A5568', lineHeight: 1.5, marginTop: 2 }}&gt;OpenTelemetry → Jaeger / Prometheus / Grafana 全链路 Trace&lt;/Text&gt;&#13;&#10;                        &lt;/Box&gt;&#13;&#10;                    &lt;/Box&gt;&#13;&#10;                &lt;/Box&gt;&#13;&#10;            &lt;/Box&gt;&#13;&#10;&#13;&#10;            {/* 右：能力断层 */}&#13;&#10;            &lt;Box style={{ width: 590, background: '#FFFFFF', border: '1px solid #D6DCE5', borderRadius: 10, padding: '20px 24px', flexDirection: 'column' }}&gt;&#13;&#10;                &lt;Box style={{ flexDirection: 'row', alignItems: 'center', gap: 10 }}&gt;&#13;&#10;                    &lt;FAIcon name='exclamation-triangle' style={{ fill: '#D9534F', width: 22, height: 22 }} /&gt;&#13;&#10;                    &lt;Text style={{ fontSize: 24, fontWeight: 'bold', color: '#0E3F8C' }}&gt;能力断层：写操作闭环缺失&lt;/Text&gt;&#13;&#10;                &lt;/Box&gt;&#13;&#10;                &lt;Text style={{ fontSize: 16, color: '#4A5568', lineHeight: 1.6, marginTop: 8 }}&gt;一旦涉及退款、取消等高风险写操作，成熟组件的默认假设即失效。&lt;/Text&gt;&#13;&#10;&#13;&#10;                &lt;Box style={{ flexDirection: 'column', gap: 12, marginTop: 16 }}&gt;&#13;&#10;                    &lt;Box style={{ background: '#FDF3F3', borderLeft: '4px solid #D9534F', borderRadius: 8, padding: '12px 16px' }}&gt;&#13;&#10;                        &lt;Text style={{ fontSize: 19, fontWeight: 'bold', color: '#C0392B' }}&gt;证据与授权未联动&lt;/Text&gt;&#13;&#10;                        &lt;Text style={{ fontSize: 16, color: '#4A5568', lineHeight: 1.6, marginTop: 4 }}&gt;历史摘要被当作当前事实，旧金额与旧审批被继续沿用。&lt;/Text&gt;&#13;&#10;                    &lt;/Box&gt;&#13;&#10;                    &lt;Box style={{ background: '#FDF3F3', borderLeft: '4px solid #D9534F', borderRadius: 8, padding: '12px 16px' }}&gt;&#13;&#10;                        &lt;Text style={{ fontSize: 19, fontWeight: 'bold', color: '#C0392B' }}&gt;写入缺幂等边界&lt;/Text&gt;&#13;&#10;                        &lt;Text style={{ fontSize: 16, color: '#4A5568', lineHeight: 1.6, marginTop: 4 }}&gt;请求超时无法判断事务是否已提交，存在重复扣款 / 退款风险。&lt;/Text&gt;&#13;&#10;                    &lt;/Box&gt;&#13;&#10;                    &lt;Box style={{ background: '#FDF3F3', borderLeft: '4px solid #D9534F', borderRadius: 8, padding: '12px 16px' }}&gt;&#13;&#10;                        &lt;Text style={{ fontSize: 19, fontWeight: 'bold', color: '#C0392B' }}&gt;评测只看终态&lt;/Text&gt;&#13;&#10;                        &lt;Text style={{ fontSize: 16, color: '#4A5568', lineHeight: 1.6, marginTop: 4 }}&gt;SUCCEEDED 不等于订单作用域、当前证据与回执均正确。&lt;/Text&gt;&#13;&#10;                    &lt;/Box&gt;&#13;&#10;                &lt;/Box&gt;&#13;&#10;            &lt;/Box&gt;&#13;&#10;        &lt;/Box&gt;&#13;&#10;&#13;&#10;        {/* 底部定位声明条 */}&#13;&#10;        &lt;Box style={{ height: 100, background: '#F0F5FC', border: '1px solid #C9DCF5', borderRadius: 10, padding: '0 28px', flexDirection: 'row', alignItems: 'center', gap: 18 }}&gt;&#13;&#10;            &lt;Box style={{ width: 44, height: 44, borderRadius: 10, background: '#1E4FA8', justifyContent: 'center', alignItems: 'center' }}&gt;&#13;&#10;                &lt;FAIcon name='bullseye' style={{ fill: '#FFFFFF', width: 22, height: 22 }} /&gt;&#13;&#10;            &lt;/Box&gt;&#13;&#10;            &lt;Box style={{ flex: 1 }}&gt;&#13;&#10;                &lt;Text style={{ fontSize: 18, fontWeight: 'bold', color: '#0E3F8C' }}&gt;本课题的差异化定位&lt;/Text&gt;&#13;&#10;                &lt;Text style={{ fontSize: 17, color: '#1A2230', lineHeight: 1.6, marginTop: 2 }}&gt;不宣称国内市场空白、不宣称超越商业产品；定位是把高风险售后事务的&lt;span style={{ color: '#1E4FA8', fontWeight: 'bold' }}&gt;可验证执行闭环&lt;/span&gt;做出来，并以冻结模拟评测&lt;span style={{ color: '#1E4FA8', fontWeight: 'bold' }}&gt;逐项量化&lt;/span&gt;其效果与边界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4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研究现状与工程能力断层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01 / 06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81000" y="1371600"/>
            <a:ext cx="5619750" cy="3819525"/>
          </a:xfrm>
          <a:prstGeom prst="roundRect">
            <a:avLst>
              <a:gd name="adj" fmla="val 24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209550" cy="209550"/>
          </a:xfrm>
          <a:prstGeom prst="rect">
            <a:avLst/>
          </a:prstGeom>
          <a:ln/>
        </p:spPr>
      </p:pic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现有技术栈：组件层面已成熟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5162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公开框架与协议已把「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能调用工具并回答」做成工程标配。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09600" y="2343150"/>
            <a:ext cx="5162550" cy="600075"/>
          </a:xfrm>
          <a:custGeom>
            <a:pathLst>
              <a:path w="542" h="63">
                <a:moveTo>
                  <a:pt x="0" y="62"/>
                </a:moveTo>
                <a:lnTo>
                  <a:pt x="542" y="62"/>
                </a:lnTo>
                <a:lnTo>
                  <a:pt x="542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2362200"/>
            <a:ext cx="190500" cy="190500"/>
          </a:xfrm>
          <a:prstGeom prst="rect">
            <a:avLst/>
          </a:prstGeom>
          <a:ln/>
        </p:spPr>
      </p:pic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14400" y="234315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规划与执行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914400" y="257175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式工具调用、函数调用、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LangGraph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持久执行与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checkpoint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09600" y="2933700"/>
            <a:ext cx="5162550" cy="504825"/>
          </a:xfrm>
          <a:custGeom>
            <a:pathLst>
              <a:path w="542" h="53">
                <a:moveTo>
                  <a:pt x="0" y="52"/>
                </a:moveTo>
                <a:lnTo>
                  <a:pt x="542" y="52"/>
                </a:lnTo>
                <a:lnTo>
                  <a:pt x="542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2952750"/>
            <a:ext cx="190500" cy="190500"/>
          </a:xfrm>
          <a:prstGeom prst="rect">
            <a:avLst/>
          </a:prstGeom>
          <a:ln/>
        </p:spPr>
      </p:pic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914400" y="293370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检索增强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914400" y="31623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BM25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词法召回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向量语义召回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RRF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融合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精排模型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3429000"/>
            <a:ext cx="5162550" cy="504825"/>
          </a:xfrm>
          <a:custGeom>
            <a:pathLst>
              <a:path w="542" h="53">
                <a:moveTo>
                  <a:pt x="0" y="52"/>
                </a:moveTo>
                <a:lnTo>
                  <a:pt x="542" y="52"/>
                </a:lnTo>
                <a:lnTo>
                  <a:pt x="542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448050"/>
            <a:ext cx="190500" cy="19050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14400" y="342900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记忆机制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14400" y="36576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情景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语义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程序记忆，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AWM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工作流模板与受控复用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09600" y="3924300"/>
            <a:ext cx="5162550" cy="504825"/>
          </a:xfrm>
          <a:custGeom>
            <a:pathLst>
              <a:path w="542" h="53">
                <a:moveTo>
                  <a:pt x="0" y="52"/>
                </a:moveTo>
                <a:lnTo>
                  <a:pt x="542" y="52"/>
                </a:lnTo>
                <a:lnTo>
                  <a:pt x="542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943350"/>
            <a:ext cx="190500" cy="190500"/>
          </a:xfrm>
          <a:prstGeom prst="rect">
            <a:avLst/>
          </a:prstGeom>
          <a:ln/>
        </p:spPr>
      </p:pic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14400" y="392430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工具协议与网关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914400" y="41529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标准化商家接口，网关统一授权、提案与参数校验</a:t>
            </a:r>
            <a:endParaRPr/>
          </a:p>
        </p:txBody>
      </p:sp>
      <p:pic>
        <p:nvPicPr>
          <p:cNvPr id="5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533900"/>
            <a:ext cx="190500" cy="190500"/>
          </a:xfrm>
          <a:prstGeom prst="rect">
            <a:avLst/>
          </a:prstGeom>
          <a:ln/>
        </p:spPr>
      </p:pic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14400" y="451485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可观测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914400" y="474345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OpenTelemetry → Jaeger / Prometheus / Grafana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全链路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Trace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191250" y="1371600"/>
            <a:ext cx="561975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19850" y="1600200"/>
            <a:ext cx="209550" cy="209550"/>
          </a:xfrm>
          <a:prstGeom prst="rect">
            <a:avLst/>
          </a:prstGeom>
          <a:ln/>
        </p:spPr>
      </p:pic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724650" y="156210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能力断层：写操作闭环缺失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419850" y="1914525"/>
            <a:ext cx="5162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一旦涉及退款、取消等高风险写操作，成熟组件的默认假设即失效。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457950" y="2362200"/>
            <a:ext cx="5162550" cy="781050"/>
          </a:xfrm>
          <a:prstGeom prst="roundRect">
            <a:avLst>
              <a:gd name="adj" fmla="val 9756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6457950" y="2362200"/>
            <a:ext cx="5162550" cy="781050"/>
          </a:xfrm>
          <a:custGeom>
            <a:pathLst>
              <a:path w="542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610350" y="2476500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0392B"/>
                </a:solidFill>
                <a:latin typeface="Microsoft YaHei"/>
                <a:ea typeface="Microsoft YaHei"/>
              </a:rPr>
              <a:t>证据与授权未联动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610350" y="2733675"/>
            <a:ext cx="4819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历史摘要被当作当前事实，旧金额与旧审批被继续沿用。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457950" y="3257550"/>
            <a:ext cx="5162550" cy="781050"/>
          </a:xfrm>
          <a:prstGeom prst="roundRect">
            <a:avLst>
              <a:gd name="adj" fmla="val 9756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6457950" y="3257550"/>
            <a:ext cx="5162550" cy="781050"/>
          </a:xfrm>
          <a:custGeom>
            <a:pathLst>
              <a:path w="542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610350" y="3371850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0392B"/>
                </a:solidFill>
                <a:latin typeface="Microsoft YaHei"/>
                <a:ea typeface="Microsoft YaHei"/>
              </a:rPr>
              <a:t>写入缺幂等边界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610350" y="3629025"/>
            <a:ext cx="4819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请求超时无法判断事务是否已提交，存在重复扣款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退款风险。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457950" y="4152900"/>
            <a:ext cx="5162550" cy="781050"/>
          </a:xfrm>
          <a:prstGeom prst="roundRect">
            <a:avLst>
              <a:gd name="adj" fmla="val 9756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6457950" y="4152900"/>
            <a:ext cx="5162550" cy="781050"/>
          </a:xfrm>
          <a:custGeom>
            <a:pathLst>
              <a:path w="542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610350" y="4267200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0392B"/>
                </a:solidFill>
                <a:latin typeface="Microsoft YaHei"/>
                <a:ea typeface="Microsoft YaHei"/>
              </a:rPr>
              <a:t>评测只看终态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610350" y="4524375"/>
            <a:ext cx="4819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SUCCEEDED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不等于订单作用域、当前证据与回执均正确。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64770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52475" y="5743575"/>
            <a:ext cx="209550" cy="209550"/>
          </a:xfrm>
          <a:prstGeom prst="rect">
            <a:avLst/>
          </a:prstGeom>
          <a:ln/>
        </p:spPr>
      </p:pic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238250" y="5581650"/>
            <a:ext cx="1030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本课题的差异化定位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238250" y="5810250"/>
            <a:ext cx="10306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不宣称国内市场空白、不宣称超越商业产品；定位是把高风险售后事务的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可验证执行闭环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做出来，并以冻结模拟评测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逐项量化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其效果与边界。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63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564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67" name="" descr="&lt;Slide style={{ width: 1280, height: 720, background: '#FFFFFF', position: 'relative', fontFamily: 'Microsoft YaHei', padding: '88px 40px 56px 40px' }}&gt;&#10;    {/* A 页眉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网络计算与边缘智能 · 开题答辩&lt;/Text&gt;&#10;        &lt;Box style={{ flexDirection: 'row', alignItems: 'center' }}&gt;&#10;            &lt;Text style={{ fontSize: 14, color: '#B9CDEA', marginRight: 22 }}&gt;电商 L4 级智能客服 Agent 系统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标题块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项目主题与核心想法&lt;/Text&gt;&#10;        &lt;Text style={{ fontSize: 15, color: '#8B97A8', marginLeft: 'auto' }}&gt;02 / 06&lt;/Text&gt;&#10;    &lt;/Box&gt;&#10;&#10;    {/* C 内容区 */}&#10;    &lt;Box style={{ flexDirection: 'column', gap: 12, marginTop: 16, height: 520 }}&gt;&#10;        {/* 主题条 */}&#10;        &lt;Box style={{ height: 80, background: '#0E3F8C', borderRadius: 10, padding: '0 26px', flexDirection: 'row', alignItems: 'center', gap: 20 }}&gt;&#10;            &lt;Box style={{ height: 30, padding: '0 12px', background: '#3D7BD9', borderRadius: 6, justifyContent: 'center', alignItems: 'center' }}&gt;&#10;                &lt;Text style={{ fontSize: 15, fontWeight: 'bold', color: '#FFFFFF', lineHeight: 1.2 }}&gt;项目主题&lt;/Text&gt;&#10;            &lt;/Box&gt;&#10;            &lt;Text style={{ fontSize: 20, color: '#FFFFFF', lineHeight: 1.5 }}&gt;面向电商高风险售后事务的&lt;span style={{ color: '#FFC107', fontWeight: 'bold' }}&gt;可验证执行闭环&lt;/span&gt;—— 中文单 Agent 客服系统&lt;/Text&gt;&#10;        &lt;/Box&gt;&#10;&#10;        {/* 三个核心想法 */}&#10;        &lt;Box style={{ flexDirection: 'row', gap: 15, height: 320 }}&gt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clipboard-check' style={{ fill: '#1E4FA8', width: 22, height: 22 }} /&gt;&#10;                &lt;/Box&gt;&#10;                &lt;Text style={{ fontSize: 21, fontWeight: 'bold', color: '#0E3F8C', marginTop: 12 }}&gt;从「能回答」到「能办完」&lt;/Text&gt;&#10;                &lt;Text style={{ fontSize: 16, color: '#4A5568', lineHeight: 1.6, marginTop: 10 }}&gt;以「任务」而不是「对话轮次」为处理单元：先解析目标与实体，再编译带依赖关系的计划，最后以业务结果收口。&lt;/Text&gt;&#10;                &lt;Box style={{ marginTop: 'auto', paddingTop: 12, borderTop: '1px solid #E5E7EB' }}&gt;&#10;                    &lt;Text style={{ fontSize: 15, fontWeight: 'bold', color: '#1E4FA8' }}&gt;处理单元 = 任务&lt;/Text&gt;&#10;                &lt;/Box&gt;&#10;            &lt;/Box&gt;&#10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fingerprint' style={{ fill: '#1E4FA8', width: 22, height: 22 }} /&gt;&#10;                &lt;/Box&gt;&#10;                &lt;Text style={{ fontSize: 21, fontWeight: 'bold', color: '#0E3F8C', marginTop: 12 }}&gt;从「信任模型」到「信任证据」&lt;/Text&gt;&#10;                &lt;Text style={{ fontSize: 16, color: '#4A5568', lineHeight: 1.6, marginTop: 10 }}&gt;会话记忆只用于指代解析；订单、物流、金额与资格等关键事实，每次执行前回商家系统重新读取，并带上来源与版本。&lt;/Text&gt;&#10;                &lt;Box style={{ marginTop: 'auto', paddingTop: 12, borderTop: '1px solid #E5E7EB' }}&gt;&#10;                    &lt;Text style={{ fontSize: 15, fontWeight: 'bold', color: '#1E4FA8' }}&gt;记忆不提供事实与授权&lt;/Text&gt;&#10;                &lt;/Box&gt;&#10;            &lt;/Box&gt;&#10;&#10;            &lt;Box style={{ flex: 1, background: '#FFFFFF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file-signature' style={{ fill: '#1E4FA8', width: 22, height: 22 }} /&gt;&#10;                &lt;/Box&gt;&#10;                &lt;Text style={{ fontSize: 21, fontWeight: 'bold', color: '#0E3F8C', marginTop: 12 }}&gt;从「调用接口」到「受控事务」&lt;/Text&gt;&#10;                &lt;Text style={{ fontSize: 16, color: '#4A5568', lineHeight: 1.6, marginTop: 10 }}&gt;写操作按「提案 → 客户确认 → 主管审批 → 幂等执行 → 回执对账」五段式推进，任何一段缺失都不视为完成。&lt;/Text&gt;&#10;                &lt;Box style={{ marginTop: 'auto', paddingTop: 12, borderTop: '1px solid #E5E7EB' }}&gt;&#10;                    &lt;Text style={{ fontSize: 15, fontWeight: 'bold', color: '#1E4FA8' }}&gt;五段式受控写入&lt;/Text&gt;&#10;                &lt;/Box&gt;&#10;            &lt;/Box&gt;&#10;        &lt;/Box&gt;&#10;&#10;        {/* 差异化边界条 */}&#10;        &lt;Box style={{ height: 96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bullseye' style={{ fill: '#FFFFFF', width: 22, height: 22 }} /&gt;&#10;            &lt;/Box&gt;&#10;            &lt;Box style={{ flex: 1 }}&gt;&#10;                &lt;Text style={{ fontSize: 18, fontWeight: 'bold', color: '#0E3F8C' }}&gt;差异化边界&lt;/Text&gt;&#10;                &lt;Text style={{ fontSize: 16, color: '#1A2230', lineHeight: 1.55, marginTop: 2 }}&gt;不宣称国内市场空白，也不宣称超越商业产品；落点是补齐高风险售后事务的&lt;span style={{ color: '#1E4FA8', fontWeight: 'bold' }}&gt;可验证执行闭环&lt;/span&gt;，并以冻结模拟评测逐项量化效果与边界。&lt;/Text&gt;&#10;            &lt;/Box&gt;&#10;        &lt;/Box&gt;&#10;    &lt;/Box&gt;&#10;&#10;    {/* D 页脚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北京交通大学 · 软件工程（专硕）&lt;/Text&gt;&#10;        &lt;Text style={{ fontSize: 14, color: '#0E3F8C', fontWeight: 'bold' }}&gt;0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项目主题与核心想法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02 / 06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381000" y="1371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628650" y="1609725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42950" y="164782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项目主题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619250" y="1581150"/>
            <a:ext cx="60864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面向电商高风险售后事务的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可验证执行闭环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——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中文单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客服系统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381000" y="2247900"/>
            <a:ext cx="371475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590550" y="2438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2543175"/>
            <a:ext cx="209550" cy="209550"/>
          </a:xfrm>
          <a:prstGeom prst="rect">
            <a:avLst/>
          </a:prstGeom>
          <a:ln/>
        </p:spPr>
      </p:pic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590550" y="2971800"/>
            <a:ext cx="3295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从「能回答」到「能办完」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590550" y="3314700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以「任务」而不是「对话轮次」为处理单元：先解析目标与实体，再编译带依赖关系的计划，最后以业务结果收口。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59055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9055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处理单元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238625" y="2247900"/>
            <a:ext cx="371475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4448175" y="2438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52950" y="2543175"/>
            <a:ext cx="209550" cy="209550"/>
          </a:xfrm>
          <a:prstGeom prst="rect">
            <a:avLst/>
          </a:prstGeom>
          <a:ln/>
        </p:spPr>
      </p:pic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448175" y="2971800"/>
            <a:ext cx="3295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从「信任模型」到「信任证据」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448175" y="3314700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会话记忆只用于指代解析；订单、物流、金额与资格等关键事实，每次执行前回商家系统重新读取，并带上来源与版本。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4448175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4448175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记忆不提供事实与授权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8096250" y="2247900"/>
            <a:ext cx="371475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8305800" y="2438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10575" y="2543175"/>
            <a:ext cx="209550" cy="209550"/>
          </a:xfrm>
          <a:prstGeom prst="rect">
            <a:avLst/>
          </a:prstGeom>
          <a:ln/>
        </p:spPr>
      </p:pic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05800" y="2971800"/>
            <a:ext cx="3295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从「调用接口」到「受控事务」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05800" y="3314700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写操作按「提案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客户确认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主管审批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幂等执行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回执对账」五段式推进，任何一段缺失都不视为完成。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830580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30580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五段式受控写入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381000" y="54102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628650" y="56578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3425" y="5762625"/>
            <a:ext cx="209550" cy="209550"/>
          </a:xfrm>
          <a:prstGeom prst="rect">
            <a:avLst/>
          </a:prstGeom>
          <a:ln/>
        </p:spPr>
      </p:pic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219200" y="561022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差异化边界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219200" y="583882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不宣称国内市场空白，也不宣称超越商业产品；落点是补齐高风险售后事务的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可验证执行闭环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，并以冻结模拟评测逐项量化效果与边界。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06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60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10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研究目标与研究内容&lt;/Text&gt;&#13;&#10;        &lt;Text style={{ fontSize: 15, color: '#8B97A8', marginLeft: 'auto' }}&gt;03 / 06&lt;/Text&gt;&#13;&#10;    &lt;/Box&gt;&#13;&#10;&#13;&#10;    {/* C 内容区 */}&#13;&#10;    &lt;Box style={{ flexDirection: 'column', gap: 12, marginTop: 16, height: 520 }}&gt;&#13;&#10;        {/* 总目标条 */}&#13;&#10;        &lt;Box style={{ height: 88, background: '#0E3F8C', borderRadius: 10, padding: '13px 26px', flexDirection: 'column', gap: 8 }}&gt;&#13;&#10;            &lt;Box style={{ flexDirection: 'row', alignItems: 'center', gap: 14 }}&gt;&#13;&#10;                &lt;Box style={{ height: 30, padding: '0 12px', background: '#3D7BD9', borderRadius: 6, justifyContent: 'center', alignItems: 'center' }}&gt;&#13;&#10;                    &lt;Text style={{ fontSize: 15, fontWeight: 'bold', color: '#FFFFFF', lineHeight: 1.2 }}&gt;总目标&lt;/Text&gt;&#13;&#10;                &lt;/Box&gt;&#13;&#10;                &lt;Text style={{ fontSize: 16, color: '#B9CDEA', letterSpacing: 1 }}&gt;A controlled, auditable after-sales agent loop&lt;/Text&gt;&#13;&#10;            &lt;/Box&gt;&#13;&#10;            &lt;Text style={{ fontSize: 17, color: '#FFFFFF', lineHeight: 1.45 }}&gt;构建中文单 Agent 全栈客服系统，打通「查询 → 计划 → 事实核验 → 提案 → 确认 / 审批 → 执行 → 回执 → 人工接管」闭环。&lt;/Text&gt;&#13;&#10;        &lt;/Box&gt;&#13;&#10;&#13;&#10;        {/* 四项深化技术 2×2 */}&#13;&#10;        &lt;Box style={{ flexDirection: 'row', flexWrap: 'wrap', gap: 12, height: 328 }}&gt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1&lt;/Text&gt;&#13;&#10;                    &lt;/Box&gt;&#13;&#10;                    &lt;Text style={{ fontSize: 22, fontWeight: 'bold', color: '#0E3F8C' }}&gt;可验证规划&lt;/Text&gt;&#13;&#10;                    &lt;Text style={{ fontSize: 14, color: '#8B97A8', marginLeft: 'auto' }}&gt;Planning&lt;/Text&gt;&#13;&#10;                &lt;/Box&gt;&#13;&#10;                &lt;Text style={{ fontSize: 16, color: '#4A5568', lineHeight: 1.55, marginTop: 10 }}&gt;用 Pydantic TaskSpec 约束输入，编译带依赖关系的可验证 DAG，并检查已发布业务投影的覆盖情况。&lt;/Text&gt;&#13;&#10;                &lt;Text style={{ fontSize: 15, color: '#D9534F', fontWeight: 'bold', marginTop: 'auto' }}&gt;遗漏目标即拒绝「成功」，进入有限修复&lt;/Text&gt;&#13;&#10;            &lt;/Box&gt;&#13;&#10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2&lt;/Text&gt;&#13;&#10;                    &lt;/Box&gt;&#13;&#10;                    &lt;Text style={{ fontSize: 22, fontWeight: 'bold', color: '#0E3F8C' }}&gt;受权工具路由&lt;/Text&gt;&#13;&#10;                    &lt;Text style={{ fontSize: 14, color: '#8B97A8', marginLeft: 'auto' }}&gt;Routing&lt;/Text&gt;&#13;&#10;                &lt;/Box&gt;&#13;&#10;                &lt;Text style={{ fontSize: 16, color: '#4A5568', lineHeight: 1.55, marginTop: 10 }}&gt;认证范围过滤先于检索；40 个真实 MCP 工具按发布方投影契约确定业务效果，参数与版本二次校验。&lt;/Text&gt;&#13;&#10;                &lt;Text style={{ fontSize: 15, color: '#D9534F', fontWeight: 'bold', marginTop: 'auto' }}&gt;模型无权扩张权限&lt;/Text&gt;&#13;&#10;            &lt;/Box&gt;&#13;&#10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3&lt;/Text&gt;&#13;&#10;                    &lt;/Box&gt;&#13;&#10;                    &lt;Text style={{ fontSize: 22, fontWeight: 'bold', color: '#0E3F8C' }}&gt;时效记忆与上下文&lt;/Text&gt;&#13;&#10;                    &lt;Text style={{ fontSize: 14, color: '#8B97A8', marginLeft: 'auto' }}&gt;Memory&lt;/Text&gt;&#13;&#10;                &lt;/Box&gt;&#13;&#10;                &lt;Text style={{ fontSize: 16, color: '#4A5568', lineHeight: 1.55, marginTop: 10 }}&gt;拥有者隔离的实体账本、最近有限片段、历史引用卸载与 Token 预算；回指只用于指代解析。&lt;/Text&gt;&#13;&#10;                &lt;Text style={{ fontSize: 15, color: '#D9534F', fontWeight: 'bold', marginTop: 'auto' }}&gt;旧金额与旧审批不继承&lt;/Text&gt;&#13;&#10;            &lt;/Box&gt;&#13;&#10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4&lt;/Text&gt;&#13;&#10;                    &lt;/Box&gt;&#13;&#10;                    &lt;Text style={{ fontSize: 22, fontWeight: 'bold', color: '#0E3F8C' }}&gt;证据反思与恢复&lt;/Text&gt;&#13;&#10;                    &lt;Text style={{ fontSize: 14, color: '#8B97A8', marginLeft: 'auto' }}&gt;Recovery&lt;/Text&gt;&#13;&#10;                &lt;/Box&gt;&#13;&#10;                &lt;Text style={{ fontSize: 16, color: '#4A5568', lineHeight: 1.55, marginTop: 10 }}&gt;观察包绑定来源、实体、版本与时间；确定性检查优先，幂等键与回执对账保证写入恰好一次。&lt;/Text&gt;&#13;&#10;                &lt;Text style={{ fontSize: 15, color: '#D9534F', fontWeight: 'bold', marginTop: 'auto' }}&gt;无界循环改为安全停止 / 转人工&lt;/Text&gt;&#13;&#10;            &lt;/Box&gt;&#13;&#10;        &lt;/Box&gt;&#13;&#10;&#13;&#10;        {/* 交付形态条 */}&#13;&#10;        &lt;Box style={{ height: 80, background: '#F0F5FC', border: '1px solid #C9DCF5', borderRadius: 10, padding: '0 26px', flexDirection: 'row', alignItems: 'center', gap: 22 }}&gt;&#13;&#10;            &lt;Text style={{ fontSize: 17, fontWeight: 'bold', color: '#0E3F8C', width: 84 }}&gt;交付形态&lt;/Text&gt;&#13;&#10;            &lt;Box style={{ flex: 1, flexDirection: 'row', gap: 20 }}&gt;&#13;&#10;                &lt;Text style={{ fontSize: 16, color: '#1A2230' }}&gt;本地可部署的&lt;span style={{ fontWeight: 'bold', color: '#1E4FA8' }}&gt;全栈 MVP&lt;/span&gt;&lt;/Text&gt;&#13;&#10;                &lt;Text style={{ fontSize: 16, color: '#1A2230' }}&gt;Docker Compose 单宿主编排&lt;/Text&gt;&#13;&#10;                &lt;Text style={{ fontSize: 16, color: '#1A2230' }}&gt;真实模型 API + &lt;span style={{ fontWeight: 'bold', color: '#1E4FA8' }}&gt;可审计模拟账本&lt;/span&gt;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6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研究目标与研究内容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381000" y="1371600"/>
            <a:ext cx="11430000" cy="838200"/>
          </a:xfrm>
          <a:prstGeom prst="roundRect">
            <a:avLst>
              <a:gd name="adj" fmla="val 11364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628650" y="1495425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42950" y="1533525"/>
            <a:ext cx="4286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总目标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419225" y="1543050"/>
            <a:ext cx="3743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B9CDEA"/>
                </a:solidFill>
                <a:latin typeface="Microsoft YaHei"/>
                <a:ea typeface="Microsoft YaHei"/>
              </a:rPr>
              <a:t>A controlled, auditable after-sales agent loop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28650" y="1857375"/>
            <a:ext cx="109347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构建中文单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全栈客服系统，打通「查询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计划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事实核验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提案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确认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审批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回执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人工接管」闭环。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81000" y="232410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590550" y="24765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38175" y="25050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90600" y="249555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可验证规划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267325" y="2543175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Planning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90550" y="285750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Pydantic TaskSpec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约束输入，编译带依赖关系的可验证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DAG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，并检查已发布业务投影的覆盖情况。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90550" y="350520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遗漏目标即拒绝「成功」，进入有限修复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153150" y="232410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6362700" y="24765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410325" y="25050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762750" y="24955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受权工具路由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1096625" y="2543175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Routing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362700" y="285750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认证范围过滤先于检索；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个真实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工具按发布方投影契约确定业务效果，参数与版本二次校验。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362700" y="350520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模型无权扩张权限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381000" y="394335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35" name=""/>
          <p:cNvSpPr/>
          <p:nvPr/>
        </p:nvSpPr>
        <p:spPr>
          <a:xfrm rot="0" flipH="0" flipV="0">
            <a:off x="590550" y="40957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38175" y="41243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990600" y="4114800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时效记忆与上下文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5276850" y="416242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Memory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90550" y="447675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拥有者隔离的实体账本、最近有限片段、历史引用卸载与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预算；回指只用于指代解析。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90550" y="512445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旧金额与旧审批不继承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153150" y="394335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6362700" y="40957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410325" y="41243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762750" y="411480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证据反思与恢复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1010900" y="416242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Recovery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362700" y="447675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观察包绑定来源、实体、版本与时间；确定性检查优先，幂等键与回执对账保证写入恰好一次。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362700" y="512445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无界循环改为安全停止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转人工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81000" y="5562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28650" y="5848350"/>
            <a:ext cx="80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交付形态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638300" y="584835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本地可部署的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全栈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MVP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3467100" y="5848350"/>
            <a:ext cx="206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Docker Compose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单宿主编排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5724525" y="58483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真实模型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API +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可审计模拟账本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57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658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61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系统总体架构&lt;/Text&gt;&#13;&#10;        &lt;Text style={{ fontSize: 15, color: '#8B97A8', marginLeft: 'auto' }}&gt;03 / 06&lt;/Text&gt;&#13;&#10;    &lt;/Box&gt;&#13;&#10;&#13;&#10;    {/* C 内容区：分层架构图 + 结论条 */}&#13;&#10;    &lt;Box style={{ flexDirection: 'column', gap: 12, marginTop: 16, height: 520 }}&gt;&#13;&#10;        &lt;Box style={{ flexDirection: 'column', gap: 10, height: 434, marginTop: 12 }}&gt;&#13;&#10;            {/* 用户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用户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客户 · 客服 · 主管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React + Ant Design 工作台&lt;/Text&gt;&#13;&#10;                    &lt;/Box&gt;&#13;&#10;                    &lt;Box style={{ flex: 1, height: 46, background: '#F0F5FC', border: '1px solid #C9DCF5', borderRadius: 6, justifyContent: 'center', padding: '0 14px' }}&gt;&#13;&#10;                        &lt;Text style={{ fontSize: 15, color: '#1E4FA8' }}&gt;REST 提交 · SSE（AG-UI）持久事件&lt;/Text&gt;&#13;&#10;                    &lt;/Box&gt;&#13;&#10;                &lt;/Box&gt;&#13;&#10;            &lt;/Box&gt;&#13;&#10;&#13;&#10;            {/* 接入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接入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Nginx 入口（动态 DNS 解析）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FastAPI API（async · OpenAPI）&lt;/Text&gt;&#13;&#10;                    &lt;/Box&gt;&#13;&#10;                    &lt;Box style={{ flex: 1, height: 46, background: '#F0F5FC', border: '1px solid #C9DCF5', borderRadius: 6, justifyContent: 'center', padding: '0 14px' }}&gt;&#13;&#10;                        &lt;Text style={{ fontSize: 15, color: '#1E4FA8' }}&gt;会话认证 · CSRF · RBAC + 资源 ABAC&lt;/Text&gt;&#13;&#10;                    &lt;/Box&gt;&#13;&#10;                &lt;/Box&gt;&#13;&#10;            &lt;/Box&gt;&#13;&#10;&#13;&#10;            {/* 执行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执行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Redis Pub/Sub 任务唤醒&lt;/Text&gt;&#13;&#10;                    &lt;/Box&gt;&#13;&#10;                    &lt;Box style={{ flex: 1, height: 46, background: '#F0F5FC', border: '1px solid #C9DCF5', borderRadius: 6, justifyContent: 'center', padding: '0 14px' }}&gt;&#13;&#10;                        &lt;Text style={{ fontSize: 15, color: '#1E4FA8' }}&gt;LangGraph Worker（租约 / checkpoint）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TaskSpec · 校验 DAG · 预算控制&lt;/Text&gt;&#13;&#10;                    &lt;/Box&gt;&#13;&#10;                &lt;/Box&gt;&#13;&#10;            &lt;/Box&gt;&#13;&#10;&#13;&#10;            {/* 能力层 */}&#13;&#10;            &lt;Box style={{ flexDirection: 'row', alignItems: 'center', height: 64, gap: 12 }}&gt;&#13;&#10;                &lt;Box style={{ width: 140, height: 64, background: '#1E4FA8', borderRadius: 8, justifyContent: 'center', alignItems: 'center' }}&gt;&#13;&#10;                    &lt;Text style={{ fontSize: 16, fontWeight: 'bold', color: '#FFFFFF' }}&gt;能力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可验证规划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受权工具路由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上下文与时效记忆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证据反思与恢复&lt;/Text&gt;&#13;&#10;                    &lt;/Box&gt;&#13;&#10;                &lt;/Box&gt;&#13;&#10;            &lt;/Box&gt;&#13;&#10;&#13;&#10;            {/* 集成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集成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MCP 商家服务 · 40 个真实工具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混合检索：BM25 + 向量 + RRF + 精排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固定计算 Sandbox（无网络 / 只读）&lt;/Text&gt;&#13;&#10;                    &lt;/Box&gt;&#13;&#10;                &lt;/Box&gt;&#13;&#10;            &lt;/Box&gt;&#13;&#10;&#13;&#10;            {/* 存储与观测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5, fontWeight: 'bold', color: '#FFFFFF' }}&gt;存储与观测&lt;/Text&gt;&#13;&#10;                &lt;/Box&gt;&#13;&#10;                &lt;Box style={{ flex: 1, flexDirection: 'row', gap: 12 }}&gt;&#13;&#10;                    &lt;Box style={{ flex: 1, height: 46, background: '#F0F5FC', border: '1px solid #C9DCF5', borderRadius: 6, justifyContent: 'center', padding: '0 14px' }}&gt;&#13;&#10;                        &lt;Text style={{ fontSize: 15, color: '#1E4FA8', fontWeight: 'bold' }}&gt;PostgreSQL 权威存储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Redis 通知 / Outbox 轮询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Jaeger · Prometheus · Grafana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OpenRouter LLM&lt;/Text&gt;&#13;&#10;                    &lt;/Box&gt;&#13;&#10;                &lt;/Box&gt;&#13;&#10;            &lt;/Box&gt;&#13;&#10;        &lt;/Box&gt;&#13;&#10;&#13;&#10;        {/* 结论条 */}&#13;&#10;        &lt;Box style={{ height: 56, background: '#F0F5FC', border: '1px solid #C9DCF5', borderRadius: 10, padding: '0 24px', flexDirection: 'row', alignItems: 'center', gap: 14 }}&gt;&#13;&#10;            &lt;Text style={{ fontSize: 16, fontWeight: 'bold', color: '#0E3F8C' }}&gt;关键约束&lt;/Text&gt;&#13;&#10;            &lt;Text style={{ fontSize: 15, color: '#1A2230' }}&gt;PostgreSQL 为唯一权威源；Redis 仅加速唤醒，丢失由 DB 轮询兜底；Jaeger 内存 Trace 重启即失，业务事件持久保留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7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系统总体架构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381000" y="14859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用户层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1828800" y="15716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962150" y="17049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客户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客服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主管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191125" y="15716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324475" y="17049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React + Ant Design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工作台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8562975" y="15716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696325" y="17049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REST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提交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SSE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AG-UI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）持久事件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381000" y="21907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19150" y="24003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1828800" y="227647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962150" y="240982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Nginx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入口（动态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DNS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解析）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5191125" y="227647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324475" y="240982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FastAPI API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async · OpenAPI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8562975" y="227647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696325" y="240982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会话认证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CSRF · RBAC +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资源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ABAC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381000" y="28956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19150" y="31051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执行层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1828800" y="29813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962150" y="31146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Redis Pub/Sub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任务唤醒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5191125" y="29813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324475" y="31146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LangGraph Worker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（租约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/ checkpoint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8562975" y="29813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696325" y="31146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TaskSpec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校验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DAG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预算控制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381000" y="36004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1828800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962150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可验证规划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4352925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4486275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受权工具路由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877050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010400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上下文与时效记忆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9401175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534525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证据反思与恢复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381000" y="43053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19150" y="45148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集成层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1828800" y="43910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962150" y="45243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商家服务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40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个真实工具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5191125" y="43910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5324475" y="45243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混合检索：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BM25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向量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RRF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精排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8562975" y="43910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696325" y="45243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固定计算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Sandbox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（无网络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只读）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381000" y="50101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95325" y="52292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存储与观测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1828800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962150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权威存储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4352925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4486275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通知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/ Outbox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轮询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877050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010400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Jaeger · Prometheus · Grafana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9401175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9534525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OpenRouter LLM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381000" y="573405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09600" y="59055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关键约束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352550" y="5915025"/>
            <a:ext cx="773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为唯一权威源；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仅加速唤醒，丢失由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DB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轮询兜底；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Jaeger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内存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Trace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重启即失，业务事件持久保留。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25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26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29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核心执行闭环&lt;/Text&gt;&#13;&#10;        &lt;Text style={{ fontSize: 15, color: '#8B97A8', marginLeft: 'auto' }}&gt;03 / 06&lt;/Text&gt;&#13;&#10;    &lt;/Box&gt;&#13;&#10;&#13;&#10;    {/* C 内容区 */}&#13;&#10;    &lt;Box style={{ flexDirection: 'column', gap: 12, marginTop: 16, height: 520 }}&gt;&#13;&#10;        {/* 引导条 */}&#13;&#10;        &lt;Box style={{ height: 40, background: '#F0F5FC', border: '1px solid #C9DCF5', borderRadius: 8, padding: '0 22px', flexDirection: 'row', alignItems: 'center', gap: 12 }}&gt;&#13;&#10;            &lt;FAIcon name='route' style={{ fill: '#1E4FA8', width: 18, height: 18 }} /&gt;&#13;&#10;            &lt;Text style={{ fontSize: 16, color: '#1A2230' }}&gt;从任务受理到人工接管的&lt;span style={{ fontWeight: 'bold', color: '#1E4FA8' }}&gt;七步受控流程&lt;/span&gt;：每一步都有明确的进入条件、证据要求与退出动作。&lt;/Text&gt;&#13;&#10;        &lt;/Box&gt;&#13;&#10;&#13;&#10;        {/* 步骤 1–4 */}&#13;&#10;        &lt;Box style={{ flexDirection: 'row', gap: 12, height: 190 }}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1&lt;/Text&gt;&#13;&#10;                    &lt;/Box&gt;&#13;&#10;                    &lt;Text style={{ fontSize: 20, fontWeight: 'bold', color: '#0E3F8C' }}&gt;接收任务&lt;/Text&gt;&#13;&#10;                &lt;/Box&gt;&#13;&#10;                &lt;Text style={{ fontSize: 15, color: '#4A5568', lineHeight: 1.55, marginTop: 10 }}&gt;会话确定客户、租户与角色；API 完成资源授权与幂等接纳。&lt;/Text&gt;&#13;&#10;            &lt;/Box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2&lt;/Text&gt;&#13;&#10;                    &lt;/Box&gt;&#13;&#10;                    &lt;Text style={{ fontSize: 20, fontWeight: 'bold', color: '#0E3F8C' }}&gt;解析并计划&lt;/Text&gt;&#13;&#10;                &lt;/Box&gt;&#13;&#10;                &lt;Text style={{ fontSize: 15, color: '#4A5568', lineHeight: 1.55, marginTop: 10 }}&gt;解析为 TaskSpec，绑定订单与商品实体，编译可验证 DAG。&lt;/Text&gt;&#13;&#10;            &lt;/Box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3&lt;/Text&gt;&#13;&#10;                    &lt;/Box&gt;&#13;&#10;                    &lt;Text style={{ fontSize: 20, fontWeight: 'bold', color: '#0E3F8C' }}&gt;取当前事实&lt;/Text&gt;&#13;&#10;                &lt;/Box&gt;&#13;&#10;                &lt;Text style={{ fontSize: 15, color: '#4A5568', lineHeight: 1.55, marginTop: 10 }}&gt;经权限过滤的 MCP 工具读取订单、物流、政策与售后资格。&lt;/Text&gt;&#13;&#10;            &lt;/Box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4&lt;/Text&gt;&#13;&#10;                    &lt;/Box&gt;&#13;&#10;                    &lt;Text style={{ fontSize: 20, fontWeight: 'bold', color: '#0E3F8C' }}&gt;核验并决策&lt;/Text&gt;&#13;&#10;                &lt;/Box&gt;&#13;&#10;                &lt;Text style={{ fontSize: 15, color: '#4A5568', lineHeight: 1.55, marginTop: 10 }}&gt;检查目标覆盖与证据时效；按预算继续、刷新或转人工。&lt;/Text&gt;&#13;&#10;            &lt;/Box&gt;&#13;&#10;        &lt;/Box&gt;&#13;&#10;&#13;&#10;        {/* 步骤 5–7 */}&#13;&#10;        &lt;Box style={{ flexDirection: 'row', gap: 12, height: 190 }}&gt;&#13;&#10;            &lt;Box style={{ flex: 1, background: '#F0F5FC', border: '1px solid #C9DCF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5&lt;/Text&gt;&#13;&#10;                    &lt;/Box&gt;&#13;&#10;                    &lt;Text style={{ fontSize: 20, fontWeight: 'bold', color: '#0E3F8C' }}&gt;受控写入&lt;/Text&gt;&#13;&#10;                &lt;/Box&gt;&#13;&#10;                &lt;Text style={{ fontSize: 15, color: '#4A5568', lineHeight: 1.55, marginTop: 10 }}&gt;生成绑定状态版本与金额的提案；客户确认与主管审批独立记录，执行前重查当前版本。&lt;/Text&gt;&#13;&#10;            &lt;/Box&gt;&#13;&#10;            &lt;Box style={{ flex: 1, background: '#F0F5FC', border: '1px solid #C9DCF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6&lt;/Text&gt;&#13;&#10;                    &lt;/Box&gt;&#13;&#10;                    &lt;Text style={{ fontSize: 20, fontWeight: 'bold', color: '#0E3F8C' }}&gt;回执对账&lt;/Text&gt;&#13;&#10;                &lt;/Box&gt;&#13;&#10;                &lt;Text style={{ fontSize: 15, color: '#4A5568', lineHeight: 1.55, marginTop: 10 }}&gt;事务携带幂等键；响应丢失先按 operation receipt 查询对账，不重放非幂等写入。&lt;/Text&gt;&#13;&#10;            &lt;/Box&gt;&#13;&#10;            &lt;Box style={{ flex: 1, background: '#F0F5FC', border: '1px solid #C9DCF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7&lt;/Text&gt;&#13;&#10;                    &lt;/Box&gt;&#13;&#10;                    &lt;Text style={{ fontSize: 20, fontWeight: 'bold', color: '#0E3F8C' }}&gt;持久展示与恢复&lt;/Text&gt;&#13;&#10;                &lt;/Box&gt;&#13;&#10;                &lt;Text style={{ fontSize: 15, color: '#4A5568', lineHeight: 1.55, marginTop: 10 }}&gt;业务事件入 PostgreSQL，SSE 游标续传；租约与 fencing 接管未完成任务。&lt;/Text&gt;&#13;&#10;            &lt;/Box&gt;&#13;&#10;        &lt;/Box&gt;&#13;&#10;&#13;&#10;        {/* 结论条 */}&#13;&#10;        &lt;Box style={{ height: 56, background: '#0E3F8C', borderRadius: 10, padding: '0 24px', flexDirection: 'row', alignItems: 'center', gap: 14 }}&gt;&#13;&#10;            &lt;Text style={{ fontSize: 16, fontWeight: 'bold', color: '#3D7BD9' }}&gt;写路径原则&lt;/Text&gt;&#13;&#10;            &lt;Text style={{ fontSize: 15, color: '#FFFFFF' }}&gt;结果不靠模型文字推断写入成功，必须与商家事务状态及 operation receipt 一致；无法确认即转人工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8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1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核心执行闭环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381000" y="1371600"/>
            <a:ext cx="11430000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7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476375"/>
            <a:ext cx="171450" cy="171450"/>
          </a:xfrm>
          <a:prstGeom prst="rect">
            <a:avLst/>
          </a:prstGeom>
          <a:ln/>
        </p:spPr>
      </p:pic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76300" y="1466850"/>
            <a:ext cx="624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从任务受理到人工接管的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七步受控流程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：每一步都有明确的进入条件、证据要求与退出动作。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381000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38" name=""/>
          <p:cNvSpPr/>
          <p:nvPr/>
        </p:nvSpPr>
        <p:spPr>
          <a:xfrm rot="0" flipH="0" flipV="0">
            <a:off x="552450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47700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33450" y="20478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接收任务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552450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会话确定客户、租户与角色；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完成资源授权与幂等接纳。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3267075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3438525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3533775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3819525" y="2047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解析并计划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438525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解析为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TaskSpec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，绑定订单与商品实体，编译可验证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DAG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6153150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6324600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6419850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6705600" y="2047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取当前事实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324600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经权限过滤的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工具读取订单、物流、政策与售后资格。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9039225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3" name=""/>
          <p:cNvSpPr/>
          <p:nvPr/>
        </p:nvSpPr>
        <p:spPr>
          <a:xfrm rot="0" flipH="0" flipV="0">
            <a:off x="9210675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305925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9591675" y="2047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核验并决策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9210675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检查目标覆盖与证据时效；按预算继续、刷新或转人工。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3810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58" name=""/>
          <p:cNvSpPr/>
          <p:nvPr/>
        </p:nvSpPr>
        <p:spPr>
          <a:xfrm rot="0" flipH="0" flipV="0">
            <a:off x="5524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647700" y="39814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933450" y="39719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受控写入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552450" y="43243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生成绑定状态版本与金额的提案；客户确认与主管审批独立记录，执行前重查当前版本。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42291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44005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495800" y="39814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4781550" y="39719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回执对账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4400550" y="43243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事务携带幂等键；响应丢失先按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operation receipt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查询对账，不重放非幂等写入。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80772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68" name=""/>
          <p:cNvSpPr/>
          <p:nvPr/>
        </p:nvSpPr>
        <p:spPr>
          <a:xfrm rot="0" flipH="0" flipV="0">
            <a:off x="82486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343900" y="39814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8629650" y="39719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持久展示与恢复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248650" y="43243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业务事件入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PostgreSQL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SSE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游标续传；租约与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fencing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接管未完成任务。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381000" y="571500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09600" y="58864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写路径原则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1504950" y="5895975"/>
            <a:ext cx="655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结果不靠模型文字推断写入成功，必须与商家事务状态及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operation receipt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一致；无法确认即转人工。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79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80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83" name="" descr="&lt;Slide style={{ width: 1280, height: 720, background: '#FFFFFF', position: 'relative', fontFamily: 'Microsoft YaHei', padding: '88px 40px 56px 40px' }}&gt;&#10;    {/* A 页眉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网络计算与边缘智能 · 开题答辩&lt;/Text&gt;&#10;        &lt;Box style={{ flexDirection: 'row', alignItems: 'center' }}&gt;&#10;            &lt;Text style={{ fontSize: 14, color: '#B9CDEA', marginRight: 22 }}&gt;电商 L4 级智能客服 Agent 系统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标题块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技术方案：技术选型与部署形态&lt;/Text&gt;&#10;        &lt;Text style={{ fontSize: 15, color: '#8B97A8', marginLeft: 'auto' }}&gt;03 / 06&lt;/Text&gt;&#10;    &lt;/Box&gt;&#10;&#10;    {/* C 内容区 */}&#10;    &lt;Box style={{ flexDirection: 'column', gap: 12, marginTop: 16, height: 520 }}&gt;&#10;        {/* 技术栈条 */}&#10;        &lt;Box style={{ height: 76, background: '#0E3F8C', borderRadius: 10, padding: '0 22px', flexDirection: 'row', alignItems: 'center', gap: 10 }}&gt;&#10;            &lt;Text style={{ fontSize: 16, fontWeight: 'bold', color: '#3D7BD9', width: 96 }}&gt;拟采用技术栈&lt;/Text&gt;&#10;            &lt;Box style={{ padding: '6px 14px', background: '#FFFFFF', borderRadius: 14 }}&gt;&#10;                &lt;Text style={{ fontSize: 14, fontWeight: 'bold', color: '#0E3F8C', lineHeight: 1.2 }}&gt;React + Ant Design&lt;/Text&gt;&#10;            &lt;/Box&gt;&#10;            &lt;Box style={{ padding: '6px 14px', background: '#FFFFFF', borderRadius: 14 }}&gt;&#10;                &lt;Text style={{ fontSize: 14, fontWeight: 'bold', color: '#0E3F8C', lineHeight: 1.2 }}&gt;FastAPI&lt;/Text&gt;&#10;            &lt;/Box&gt;&#10;            &lt;Box style={{ padding: '6px 14px', background: '#FFFFFF', borderRadius: 14 }}&gt;&#10;                &lt;Text style={{ fontSize: 14, fontWeight: 'bold', color: '#0E3F8C', lineHeight: 1.2 }}&gt;LangGraph&lt;/Text&gt;&#10;            &lt;/Box&gt;&#10;            &lt;Box style={{ padding: '6px 14px', background: '#FFFFFF', borderRadius: 14 }}&gt;&#10;                &lt;Text style={{ fontSize: 14, fontWeight: 'bold', color: '#0E3F8C', lineHeight: 1.2 }}&gt;MCP&lt;/Text&gt;&#10;            &lt;/Box&gt;&#10;            &lt;Box style={{ padding: '6px 14px', background: '#FFFFFF', borderRadius: 14 }}&gt;&#10;                &lt;Text style={{ fontSize: 14, fontWeight: 'bold', color: '#0E3F8C', lineHeight: 1.2 }}&gt;PostgreSQL&lt;/Text&gt;&#10;            &lt;/Box&gt;&#10;            &lt;Box style={{ padding: '6px 14px', background: '#FFFFFF', borderRadius: 14 }}&gt;&#10;                &lt;Text style={{ fontSize: 14, fontWeight: 'bold', color: '#0E3F8C', lineHeight: 1.2 }}&gt;Redis&lt;/Text&gt;&#10;            &lt;/Box&gt;&#10;            &lt;Box style={{ padding: '6px 14px', background: '#FFFFFF', borderRadius: 14 }}&gt;&#10;                &lt;Text style={{ fontSize: 14, fontWeight: 'bold', color: '#0E3F8C', lineHeight: 1.2 }}&gt;Elasticsearch + pgvector&lt;/Text&gt;&#10;            &lt;/Box&gt;&#10;            &lt;Box style={{ padding: '6px 14px', background: '#3D7BD9', borderRadius: 14 }}&gt;&#10;                &lt;Text style={{ fontSize: 14, fontWeight: 'bold', color: '#FFFFFF', lineHeight: 1.2 }}&gt;Docker Compose&lt;/Text&gt;&#10;            &lt;/Box&gt;&#10;        &lt;/Box&gt;&#10;&#10;        &lt;Box style={{ flexDirection: 'row', gap: 20, height: 320 }}&gt;&#10;            {/* 左：选型理由 */}&#10;            &lt;Box style={{ width: 700, background: '#F7F9FC', border: '1px solid #D6DCE5', borderRadius: 10, padding: '20px 24px', flexDirection: 'column' }}&gt;&#10;                &lt;Text style={{ fontSize: 23, fontWeight: 'bold', color: '#0E3F8C' }}&gt;关键选型理由&lt;/Text&gt;&#10;                &lt;Box style={{ flexDirection: 'column', gap: 10, marginTop: 14 }}&gt;&#10;                    &lt;Box style={{ flexDirection: 'row', gap: 12, alignItems: 'flex-start' }}&gt;&#10;                        &lt;Text style={{ fontSize: 15, fontWeight: 'bold', color: '#1E4FA8', width: 82 }}&gt;执行编排&lt;/Text&gt;&#10;                        &lt;Text style={{ fontSize: 16, color: '#1A2230', lineHeight: 1.5, flex: 1 }}&gt;LangGraph 提供持久状态、暂停与恢复；Pydantic 契约让计划可静态校验。&lt;/Text&gt;&#10;                    &lt;/Box&gt;&#10;                    &lt;Box style={{ flexDirection: 'row', gap: 12, alignItems: 'flex-start' }}&gt;&#10;                        &lt;Text style={{ fontSize: 15, fontWeight: 'bold', color: '#1E4FA8', width: 82 }}&gt;数据一致性&lt;/Text&gt;&#10;                        &lt;Text style={{ fontSize: 16, color: '#1A2230', lineHeight: 1.5, flex: 1 }}&gt;PostgreSQL 作为唯一权威源，承载任务、事件、审批、幂等记录与业务账本。&lt;/Text&gt;&#10;                    &lt;/Box&gt;&#10;                    &lt;Box style={{ flexDirection: 'row', gap: 12, alignItems: 'flex-start' }}&gt;&#10;                        &lt;Text style={{ fontSize: 15, fontWeight: 'bold', color: '#1E4FA8', width: 82 }}&gt;检索策略&lt;/Text&gt;&#10;                        &lt;Text style={{ fontSize: 16, color: '#1A2230', lineHeight: 1.5, flex: 1 }}&gt;BM25 词法召回 + 向量语义召回 + RRF 融合 + 精排，两类召回互补。&lt;/Text&gt;&#10;                    &lt;/Box&gt;&#10;                    &lt;Box style={{ flexDirection: 'row', gap: 12, alignItems: 'flex-start' }}&gt;&#10;                        &lt;Text style={{ fontSize: 15, fontWeight: 'bold', color: '#1E4FA8', width: 82 }}&gt;模型接入&lt;/Text&gt;&#10;                        &lt;Text style={{ fontSize: 16, color: '#1A2230', lineHeight: 1.5, flex: 1 }}&gt;走兼容接口并记录真实供应商与用量，降低与单一供应商的耦合。&lt;/Text&gt;&#10;                    &lt;/Box&gt;&#10;                &lt;/Box&gt;&#10;            &lt;/Box&gt;&#10;&#10;            {/* 右：部署与可观测形态 */}&#10;            &lt;Box style={{ width: 480, background: '#FFFFFF', border: '1px solid #D6DCE5', borderRadius: 10, padding: '20px 24px', flexDirection: 'column' }}&gt;&#10;                &lt;Text style={{ fontSize: 23, fontWeight: 'bold', color: '#0E3F8C' }}&gt;部署与可观测形态&lt;/Text&gt;&#10;                &lt;Box style={{ flexDirection: 'column', gap: 6, marginTop: 10 }}&gt;&#10;                    &lt;Box style={{ flexDirection: 'row', gap: 12, alignItems: 'flex-start' }}&gt;&#10;                        &lt;Text style={{ fontSize: 15, fontWeight: 'bold', color: '#1E4FA8', width: 72 }}&gt;分容器&lt;/Text&gt;&#10;                        &lt;Text style={{ fontSize: 15, color: '#1A2230', lineHeight: 1.5, flex: 1 }}&gt;API / Worker / MCP / Sandbox / 数据库独立进程，单机编排。&lt;/Text&gt;&#10;                    &lt;/Box&gt;&#10;                    &lt;Box style={{ flexDirection: 'row', gap: 12, alignItems: 'flex-start' }}&gt;&#10;                        &lt;Text style={{ fontSize: 15, fontWeight: 'bold', color: '#1E4FA8', width: 72 }}&gt;依赖冻结&lt;/Text&gt;&#10;                        &lt;Text style={{ fontSize: 15, color: '#1A2230', lineHeight: 1.5, flex: 1 }}&gt;锁文件与镜像 digest 固定，保证实验可复现。&lt;/Text&gt;&#10;                    &lt;/Box&gt;&#10;                    &lt;Box style={{ flexDirection: 'row', gap: 12, alignItems: 'flex-start' }}&gt;&#10;                        &lt;Text style={{ fontSize: 15, fontWeight: 'bold', color: '#1E4FA8', width: 72 }}&gt;通知兜底&lt;/Text&gt;&#10;                        &lt;Text style={{ fontSize: 15, color: '#1A2230', lineHeight: 1.5, flex: 1 }}&gt;Outbox + Redis 唤醒，通知丢失由数据库轮询发现任务。&lt;/Text&gt;&#10;                    &lt;/Box&gt;&#10;                    &lt;Box style={{ flexDirection: 'row', gap: 12, alignItems: 'flex-start' }}&gt;&#10;                        &lt;Text style={{ fontSize: 15, fontWeight: 'bold', color: '#1E4FA8', width: 72 }}&gt;可观测&lt;/Text&gt;&#10;                        &lt;Text style={{ fontSize: 15, color: '#1A2230', lineHeight: 1.5, flex: 1 }}&gt;OpenTelemetry → Jaeger；Prometheus → Grafana。&lt;/Text&gt;&#10;                    &lt;/Box&gt;&#10;                &lt;/Box&gt;&#10;            &lt;/Box&gt;&#10;        &lt;/Box&gt;&#10;&#10;        {/* 选型原则条 */}&#10;        &lt;Box style={{ height: 100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cogs' style={{ fill: '#FFFFFF', width: 22, height: 22 }} /&gt;&#10;            &lt;/Box&gt;&#10;            &lt;Box style={{ flex: 1 }}&gt;&#10;                &lt;Text style={{ fontSize: 18, fontWeight: 'bold', color: '#0E3F8C' }}&gt;选型原则&lt;/Text&gt;&#10;                &lt;Text style={{ fontSize: 16, color: '#1A2230', lineHeight: 1.55, marginTop: 2 }}&gt;组件由明确需求触发引入，不以堆叠代表质量；本期&lt;b&gt;不引入&lt;/b&gt; Kafka / Kubernetes / Istio，也&lt;b&gt;不接入&lt;/b&gt;真实商家系统与组织 IdP。&lt;/Text&gt;&#10;            &lt;/Box&gt;&#10;        &lt;/Box&gt;&#10;    &lt;/Box&gt;&#10;&#10;    {/* D 页脚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北京交通大学 · 软件工程（专硕）&lt;/Text&gt;&#10;        &lt;Text style={{ fontSize: 14, color: '#0E3F8C', fontWeight: 'bold' }}&gt;09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技术方案：技术选型与部署形态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381000" y="1371600"/>
            <a:ext cx="11430000" cy="723900"/>
          </a:xfrm>
          <a:prstGeom prst="roundRect">
            <a:avLst>
              <a:gd name="adj" fmla="val 1315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590550" y="16383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拟采用技术栈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1600200" y="1581150"/>
            <a:ext cx="156210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1733550" y="16383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React + Ant Design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3257550" y="1581150"/>
            <a:ext cx="771525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3390900" y="1638300"/>
            <a:ext cx="504825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FastAPI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4124325" y="1581150"/>
            <a:ext cx="10096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4257675" y="1638300"/>
            <a:ext cx="7429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LangGraph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229225" y="1581150"/>
            <a:ext cx="5905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362575" y="16383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MCP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5915025" y="1581150"/>
            <a:ext cx="10477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6048375" y="1638300"/>
            <a:ext cx="7810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PostgreSQL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7058025" y="1581150"/>
            <a:ext cx="6286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7191375" y="1638300"/>
            <a:ext cx="3619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Redis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7781925" y="1581150"/>
            <a:ext cx="190500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7915275" y="1638300"/>
            <a:ext cx="16383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Elasticsearch + pgvector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9782175" y="1581150"/>
            <a:ext cx="1409700" cy="314325"/>
          </a:xfrm>
          <a:prstGeom prst="roundRect">
            <a:avLst>
              <a:gd name="adj" fmla="val 42424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9915525" y="163830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Docker Compose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381000" y="2209800"/>
            <a:ext cx="666750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6210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关键选型理由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609600" y="2800350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执行编排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504950" y="2800350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LangGraph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提供持久状态、暂停与恢复；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Pydantic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契约让计划可静态校验。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数据一致性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1504950" y="3171825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作为唯一权威源，承载任务、事件、审批、幂等记录与业务账本。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609600" y="3543300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检索策略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1504950" y="3543300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BM25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词法召回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向量语义召回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RRF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融合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精排，两类召回互补。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09600" y="3914775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模型接入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504950" y="3914775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走兼容接口并记录真实供应商与用量，降低与单一供应商的耦合。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7239000" y="2209800"/>
            <a:ext cx="45720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7467600" y="2400300"/>
            <a:ext cx="4114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部署与可观测形态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7467600" y="27622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分容器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267700" y="27622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API / Worker / MCP / Sandbox /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数据库独立进程，单机编排。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7467600" y="33337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依赖冻结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8267700" y="333375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锁文件与镜像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digest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固定，保证实验可复现。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7467600" y="364807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通知兜底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267700" y="3648075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Outbox + Redis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唤醒，通知丢失由数据库轮询发现任务。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467600" y="421957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可观测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8267700" y="4219575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OpenTelemetry → Jaeger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Prometheus → Grafana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827" name=""/>
          <p:cNvSpPr/>
          <p:nvPr/>
        </p:nvSpPr>
        <p:spPr>
          <a:xfrm rot="0" flipH="0" flipV="0">
            <a:off x="62865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8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" y="5743575"/>
            <a:ext cx="209550" cy="209550"/>
          </a:xfrm>
          <a:prstGeom prst="rect">
            <a:avLst/>
          </a:prstGeom>
          <a:ln/>
        </p:spPr>
      </p:pic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1219200" y="55911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选型原则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1219200" y="58197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组件由明确需求触发引入，不以堆叠代表质量；本期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不引入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Kafka / Kubernetes / Istio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，也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不接入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真实商家系统与组织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IdP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35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836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① 可验证规划&lt;/Text&gt;&#13;&#10;        &lt;Box style={{ marginLeft: 'auto', padding: '4px 12px', background: '#E8EFF8', borderRadius: 12 }}&gt;&lt;Text style={{ fontSize: 13, color: '#1E4FA8', fontWeight: 'bold' }}&gt;含前期预研验证&lt;/Text&gt;&lt;/Box&gt;&lt;Text style={{ fontSize: 15, color: '#8B97A8', marginLeft: 14 }}&gt;04 / 06&lt;/Text&gt;&#13;&#10;    &lt;/Box&gt;&#13;&#10;&#13;&#10;    {/* C 内容区 */}&#13;&#10;    &lt;Box style={{ flexDirection: 'column', gap: 20, marginTop: 16, height: 520 }}&gt;&#13;&#10;        &lt;Box style={{ flexDirection: 'row', gap: 20, height: 400 }}&gt;&#13;&#10;            {/* 左：机制说明 */}&#13;&#10;            &lt;Box style={{ width: 720, background: '#F7F9FC', border: '1px solid #D6DCE5', borderRadius: 10, padding: '20px 24px', flexDirection: 'column' }}&gt;&#13;&#10;                &lt;Box style={{ flexDirection: 'row', alignItems: 'center', gap: 10 }}&gt;&#13;&#10;                    &lt;FAIcon name='sitemap' style={{ fill: '#3D7BD9', width: 22, height: 22 }} /&gt;&#13;&#10;                    &lt;Text style={{ fontSize: 25, fontWeight: 'bold', color: '#0E3F8C' }}&gt;TaskSpec 约束 + 校验 DAG 编译&lt;/Text&gt;&#13;&#10;                &lt;/Box&gt;&#13;&#10;                &lt;Text style={{ fontSize: 16, color: '#4A5568', lineHeight: 1.6, marginTop: 8 }}&gt;把「用户目标」变成可静态检查的结构，而不是让模型自由生成一串动作。&lt;/Text&gt;&#13;&#10;&#13;&#10;                &lt;Box style={{ flexDirection: 'column', gap: 10, marginTop: 14 }}&gt;&#13;&#10;                    &lt;Box style={{ flexDirection: 'row', gap: 12, alignItems: 'flex-start' }}&gt;&#13;&#10;                        &lt;Text style={{ fontSize: 15, fontWeight: 'bold', color: '#1E4FA8', width: 76 }}&gt;输入约束&lt;/Text&gt;&#13;&#10;                        &lt;Text style={{ fontSize: 16, color: '#1A2230', lineHeight: 1.5, flex: 1 }}&gt;Pydantic TaskSpec 显式声明目标、实体、读写类型与预算上界。&lt;/Text&gt;&#13;&#10;                    &lt;/Box&gt;&#13;&#10;                    &lt;Box style={{ flexDirection: 'row', gap: 12, alignItems: 'flex-start' }}&gt;&#13;&#10;                        &lt;Text style={{ fontSize: 15, fontWeight: 'bold', color: '#1E4FA8', width: 76 }}&gt;依赖编译&lt;/Text&gt;&#13;&#10;                        &lt;Text style={{ fontSize: 16, color: '#1A2230', lineHeight: 1.5, flex: 1 }}&gt;节点、依赖、读写顺序与绑定实体均可静态校验，先读后写可验证。&lt;/Text&gt;&#13;&#10;                    &lt;/Box&gt;&#13;&#10;                    &lt;Box style={{ flexDirection: 'row', gap: 12, alignItems: 'flex-start' }}&gt;&#13;&#10;                        &lt;Text style={{ fontSize: 15, fontWeight: 'bold', color: '#1E4FA8', width: 76 }}&gt;覆盖检查&lt;/Text&gt;&#13;&#10;                        &lt;Text style={{ fontSize: 16, color: '#1A2230', lineHeight: 1.5, flex: 1 }}&gt;原文已识别的属性若在解析查询中遗漏，直接拒绝该计划，防止只完成复合请求的一部分。&lt;/Text&gt;&#13;&#10;                    &lt;/Box&gt;&#13;&#10;                    &lt;Box style={{ flexDirection: 'row', gap: 12, alignItems: 'flex-start' }}&gt;&#13;&#10;                        &lt;Text style={{ fontSize: 15, fontWeight: 'bold', color: '#1E4FA8', width: 76 }}&gt;有限修复&lt;/Text&gt;&#13;&#10;                        &lt;Text style={{ fontSize: 16, color: '#1A2230', lineHeight: 1.5, flex: 1 }}&gt;校验失败进入预算内重规划，次数、Token、工具数与活动时长均受限。&lt;/Text&gt;&#13;&#10;                    &lt;/Box&gt;&#13;&#10;                &lt;/Box&gt;&#13;&#10;&#13;&#10;                &lt;Box style={{ marginTop: 'auto', background: '#FFFFFF', border: '1px solid #E5E7EB', borderRadius: 8, padding: '10px 16px' }}&gt;&#13;&#10;                    &lt;Text style={{ fontSize: 15, color: '#4A5568', lineHeight: 1.5 }}&gt;否定表达保留语义路径；未知属性不声称被该检查覆盖。&lt;/Text&gt;&#13;&#10;                &lt;/Box&gt;&#13;&#10;            &lt;/Box&gt;&#13;&#10;&#13;&#10;            {/* 右：实测对比 */}&#13;&#10;            &lt;Box style={{ width: 460, background: '#FFFFFF', border: '1px solid #D6DCE5', borderRadius: 10, padding: '20px 24px', flexDirection: 'column' }}&gt;&#13;&#10;                &lt;Text style={{ fontSize: 22, fontWeight: 'bold', color: '#0E3F8C' }}&gt;前期预研验证（冻结模拟）&lt;/Text&gt;&#13;&#10;                &lt;Text style={{ fontSize: 14, color: '#8B97A8', marginTop: 4 }}&gt;36 个新复杂场景 × 5 trial = 180 单元 / 29 families&lt;/Text&gt;&#13;&#10;&#13;&#10;                &lt;Box style={{ marginTop: 12 }}&gt;&#13;&#10;                    &lt;Text style={{ fontSize: 48, fontWeight: 'bold', color: '#1E4FA8', lineHeight: 1 }}&gt;88.33%&lt;/Text&gt;&#13;&#10;                    &lt;Text style={{ fontSize: 15, color: '#4A5568', marginTop: 4 }}&gt;本方案 P：159 / 180 严格成功&lt;/Text&gt;&#13;&#10;                &lt;/Box&gt;&#13;&#10;&#13;&#10;                &lt;Box style={{ marginTop: 10 }}&gt;&#13;&#10;                    &lt;Text style={{ fontSize: 34, fontWeight: 'bold', color: '#8B97A8', lineHeight: 1 }}&gt;65.00%&lt;/Text&gt;&#13;&#10;                    &lt;Text style={{ fontSize: 15, color: '#4A5568', marginTop: 4 }}&gt;基线 B2（原生 ReAct + 混合检索）：117 / 180&lt;/Text&gt;&#13;&#10;                &lt;/Box&gt;&#13;&#10;&#13;&#10;                &lt;Box style={{ flexDirection: 'row', alignItems: 'baseline', gap: 10, marginTop: 12 }}&gt;&#13;&#10;                    &lt;Text style={{ fontSize: 28, fontWeight: 'bold', color: '#D9534F', lineHeight: 1 }}&gt;+9.14pp&lt;/Text&gt;&#13;&#10;                    &lt;Text style={{ fontSize: 15, color: '#4A5568' }}&gt;family 均衡差&lt;/Text&gt;&#13;&#10;                &lt;/Box&gt;&#13;&#10;                &lt;Text style={{ fontSize: 15, color: '#4A5568', marginTop: 6 }}&gt;95% 聚类区间 [−4.66, +23.45]pp&lt;/Text&gt;&#13;&#10;&#13;&#10;                &lt;Box style={{ marginTop: 'auto', background: '#FDF3F3', borderLeft: '4px solid #D9534F', borderRadius: 8, padding: '10px 14px' }}&gt;&#13;&#10;                    &lt;Text style={{ fontSize: 15, color: '#C0392B', lineHeight: 1.5 }}&gt;区间含 0，正效应尚未获统计支持；P 未达预登记 ≥90% 门槛，如实披露。&lt;/Text&gt;&#13;&#10;                &lt;/Box&gt;&#13;&#10;            &lt;/Box&gt;&#13;&#10;        &lt;/Box&gt;&#13;&#10;&#13;&#10;        {/* 结论条 */}&#13;&#10;        &lt;Box style={{ height: 100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clipboard-check' style={{ fill: '#FFFFFF', width: 22, height: 22 }} /&gt;&#13;&#10;            &lt;/Box&gt;&#13;&#10;            &lt;Box style={{ flex: 1 }}&gt;&#13;&#10;                &lt;Text style={{ fontSize: 18, fontWeight: 'bold', color: '#0E3F8C' }}&gt;拟解决的工程问题&lt;/Text&gt;&#13;&#10;                &lt;Text style={{ fontSize: 17, color: '#1A2230', lineHeight: 1.6, marginTop: 2 }}&gt;把「漏掉一个商品属性或订单实体」从隐性风险变成&lt;span style={{ color: '#1E4FA8', fontWeight: 'bold' }}&gt;显式失败&lt;/span&gt;，使复合售后请求的完成度可被审计；效果上限仍受模型与场景分布限制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0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438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①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可验证规划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0096500" y="914400"/>
            <a:ext cx="1095375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210800" y="9525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含前期预研验证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81000" y="1371600"/>
            <a:ext cx="6858000" cy="3810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209550" cy="20955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3600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TaskSpec </a:t>
            </a: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约束</a:t>
            </a: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校验</a:t>
            </a: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DAG </a:t>
            </a: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编译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6400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把「用户目标」变成可静态检查的结构，而不是让模型自由生成一串动作。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23526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输入约束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447800" y="2352675"/>
            <a:ext cx="5562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Pydantic TaskSpec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显式声明目标、实体、读写类型与预算上界。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依赖编译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447800" y="2724150"/>
            <a:ext cx="5562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节点、依赖、读写顺序与绑定实体均可静态校验，先读后写可验证。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30956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覆盖检查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447800" y="3095625"/>
            <a:ext cx="5562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原文已识别的属性若在解析查询中遗漏，直接拒绝该计划，防止只完成复合请求的一部分。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有限修复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743325"/>
            <a:ext cx="5562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校验失败进入预算内重规划，次数、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Token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、工具数与活动时长均受限。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4543425"/>
            <a:ext cx="64008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否定表达保留语义路径；未知属性不声称被该检查覆盖。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429500" y="1371600"/>
            <a:ext cx="4381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658100" y="15621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前期预研验证（冻结模拟）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658100" y="1857375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36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个新复杂场景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× 5 trial = 180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单元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29 families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658100" y="2133600"/>
            <a:ext cx="39243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88.33%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658100" y="27241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本方案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159 / 180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严格成功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658100" y="2990850"/>
            <a:ext cx="3924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B97A8"/>
                </a:solidFill>
                <a:latin typeface="Microsoft YaHei"/>
                <a:ea typeface="Microsoft YaHei"/>
              </a:rPr>
              <a:t>65.00%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658100" y="341947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B2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（原生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ReAct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混合检索）：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117 / 180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658100" y="3705225"/>
            <a:ext cx="11334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D9534F"/>
                </a:solidFill>
                <a:latin typeface="Microsoft YaHei"/>
                <a:ea typeface="Microsoft YaHei"/>
              </a:rPr>
              <a:t>+9.14pp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886825" y="3705225"/>
            <a:ext cx="885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family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均衡差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58100" y="40862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95%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聚类区间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[−4.66, +23.45]pp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696200" y="4286250"/>
            <a:ext cx="3924300" cy="704850"/>
          </a:xfrm>
          <a:prstGeom prst="roundRect">
            <a:avLst>
              <a:gd name="adj" fmla="val 10811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7696200" y="4286250"/>
            <a:ext cx="3924300" cy="704850"/>
          </a:xfrm>
          <a:custGeom>
            <a:pathLst>
              <a:path w="412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829550" y="4381500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区间含</a:t>
            </a:r>
            <a:r>
              <a:rPr lang="en-US" sz="1125">
                <a:solidFill>
                  <a:srgbClr val="C0392B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，正效应尚未获统计支持；</a:t>
            </a:r>
            <a:r>
              <a:rPr lang="en-US" sz="1125">
                <a:solidFill>
                  <a:srgbClr val="C0392B"/>
                </a:solidFill>
                <a:latin typeface="Microsoft YaHei"/>
                <a:ea typeface="Microsoft YaHei"/>
              </a:rPr>
              <a:t xml:space="preserve">P </a:t>
            </a: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未达预登记</a:t>
            </a:r>
            <a:r>
              <a:rPr lang="en-US" sz="1125">
                <a:solidFill>
                  <a:srgbClr val="C0392B"/>
                </a:solidFill>
                <a:latin typeface="Microsoft YaHei"/>
                <a:ea typeface="Microsoft YaHei"/>
              </a:rPr>
              <a:t xml:space="preserve"> ≥90% </a:t>
            </a: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门槛，如实披露。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62865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3425" y="5743575"/>
            <a:ext cx="209550" cy="209550"/>
          </a:xfrm>
          <a:prstGeom prst="rect">
            <a:avLst/>
          </a:prstGeom>
          <a:ln/>
        </p:spPr>
      </p:pic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219200" y="55816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拟解决的工程问题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219200" y="5810250"/>
            <a:ext cx="103441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把「漏掉一个商品属性或订单实体」从隐性风险变成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显式失败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，使复合售后请求的完成度可被审计；效果上限仍受模型与场景分布限制。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 r:embed="rId3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② 受权工具路由&lt;/Text&gt;&#13;&#10;        &lt;Box style={{ marginLeft: 'auto', padding: '4px 12px', background: '#E8EFF8', borderRadius: 12 }}&gt;&lt;Text style={{ fontSize: 13, color: '#1E4FA8', fontWeight: 'bold' }}&gt;含前期预研验证&lt;/Text&gt;&lt;/Box&gt;&lt;Text style={{ fontSize: 15, color: '#8B97A8', marginLeft: 14 }}&gt;04 / 06&lt;/Text&gt;&#13;&#10;    &lt;/Box&gt;&#13;&#10;&#13;&#10;    {/* C 内容区 */}&#13;&#10;    &lt;Box style={{ flexDirection: 'column', gap: 12, marginTop: 16, height: 520 }}&gt;&#13;&#10;        {/* 权限前置流程条 */}&#13;&#10;        &lt;Box style={{ height: 84, background: '#0E3F8C', borderRadius: 10, padding: '0 22px', flexDirection: 'row', alignItems: 'center', gap: 10 }}&gt;&#13;&#10;            &lt;Text style={{ fontSize: 16, fontWeight: 'bold', color: '#3D7BD9', width: 68 }}&gt;权限前置&lt;/Text&gt;&#13;&#10;            &lt;Box style={{ padding: '7px 16px', background: '#FFFFFF', borderRadius: 16 }}&gt;&#13;&#10;                &lt;Text style={{ fontSize: 15, fontWeight: 'bold', color: '#0E3F8C', lineHeight: 1.2 }}&gt;认证&lt;/Text&gt;&#13;&#10;            &lt;/Box&gt;&#13;&#10;            &lt;Text style={{ fontSize: 18, color: '#7FA3D6' }}&gt;→&lt;/Text&gt;&#13;&#10;            &lt;Box style={{ padding: '7px 16px', background: '#FFFFFF', borderRadius: 16 }}&gt;&#13;&#10;                &lt;Text style={{ fontSize: 15, fontWeight: 'bold', color: '#0E3F8C', lineHeight: 1.2 }}&gt;范围过滤&lt;/Text&gt;&#13;&#10;            &lt;/Box&gt;&#13;&#10;            &lt;Text style={{ fontSize: 18, color: '#7FA3D6' }}&gt;→&lt;/Text&gt;&#13;&#10;            &lt;Box style={{ padding: '7px 16px', background: '#FFFFFF', borderRadius: 16 }}&gt;&#13;&#10;                &lt;Text style={{ fontSize: 15, fontWeight: 'bold', color: '#0E3F8C', lineHeight: 1.2 }}&gt;候选检索&lt;/Text&gt;&#13;&#10;            &lt;/Box&gt;&#13;&#10;            &lt;Text style={{ fontSize: 18, color: '#7FA3D6' }}&gt;→&lt;/Text&gt;&#13;&#10;            &lt;Box style={{ padding: '7px 16px', background: '#FFFFFF', borderRadius: 16 }}&gt;&#13;&#10;                &lt;Text style={{ fontSize: 15, fontWeight: 'bold', color: '#0E3F8C', lineHeight: 1.2 }}&gt;参数 / 版本二次校验&lt;/Text&gt;&#13;&#10;            &lt;/Box&gt;&#13;&#10;            &lt;Text style={{ fontSize: 18, color: '#7FA3D6' }}&gt;→&lt;/Text&gt;&#13;&#10;            &lt;Box style={{ padding: '7px 16px', background: '#3D7BD9', borderRadius: 16 }}&gt;&#13;&#10;                &lt;Text style={{ fontSize: 15, fontWeight: 'bold', color: '#FFFFFF', lineHeight: 1.2 }}&gt;受控执行&lt;/Text&gt;&#13;&#10;            &lt;/Box&gt;&#13;&#10;        &lt;/Box&gt;&#13;&#10;&#13;&#10;        {/* 三栏 */}&#13;&#10;        &lt;Box style={{ flexDirection: 'row', gap: 15, height: 316 }}&gt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filter' style={{ fill: '#1E4FA8', width: 22, height: 22 }} /&gt;&#13;&#10;                &lt;/Box&gt;&#13;&#10;                &lt;Text style={{ fontSize: 22, fontWeight: 'bold', color: '#0E3F8C', marginTop: 12 }}&gt;过滤先于检索&lt;/Text&gt;&#13;&#10;                &lt;Text style={{ fontSize: 16, color: '#4A5568', lineHeight: 1.6, marginTop: 10 }}&gt;认证与资源授权在检索之前完成，未授权工具不进入候选集，从结构上消除「先召回、再拦截」的越权窗口。&lt;/Text&gt;&#13;&#10;                &lt;Box style={{ marginTop: 'auto', paddingTop: 12, borderTop: '1px solid #E5E7EB' }}&gt;&#13;&#10;                    &lt;Text style={{ fontSize: 15, fontWeight: 'bold', color: '#D9534F' }}&gt;模型无权扩张权限&lt;/Text&gt;&#13;&#10;                &lt;/Box&gt;&#13;&#10;            &lt;/Box&gt;&#13;&#10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plug' style={{ fill: '#1E4FA8', width: 22, height: 22 }} /&gt;&#13;&#10;                &lt;/Box&gt;&#13;&#10;                &lt;Text style={{ fontSize: 22, fontWeight: 'bold', color: '#0E3F8C', marginTop: 12 }}&gt;40 个真实 MCP 工具&lt;/Text&gt;&#13;&#10;                &lt;Text style={{ fontSize: 16, color: '#4A5568', lineHeight: 1.6, marginTop: 10 }}&gt;工具按发布方业务投影契约确定业务效果；明确效果走受控参数绑定，schema、目录版本与参数在调用前二次校验。&lt;/Text&gt;&#13;&#10;                &lt;Box style={{ marginTop: 'auto', paddingTop: 12, borderTop: '1px solid #E5E7EB' }}&gt;&#13;&#10;                    &lt;Text style={{ fontSize: 15, fontWeight: 'bold', color: '#1E4FA8' }}&gt;参数绑定受控，效果可枚举&lt;/Text&gt;&#13;&#10;                &lt;/Box&gt;&#13;&#10;            &lt;/Box&gt;&#13;&#10;&#13;&#10;            &lt;Box style={{ flex: 1, background: '#FFFFFF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chart-bar' style={{ fill: '#1E4FA8', width: 22, height: 22 }} /&gt;&#13;&#10;                &lt;/Box&gt;&#13;&#10;                &lt;Text style={{ fontSize: 22, fontWeight: 'bold', color: '#0E3F8C', marginTop: 12 }}&gt;预研：1000 项目录测量&lt;/Text&gt;&#13;&#10;                &lt;Text style={{ fontSize: 16, color: '#4A5568', lineHeight: 1.6, marginTop: 10 }}&gt;40 个真实工具 + 960 个固定公开描述作为干扰；50 例 × 3 trial，两组均 150/150，差值 0pp。&lt;/Text&gt;&#13;&#10;                &lt;Box style={{ marginTop: 'auto', paddingTop: 12, borderTop: '1px solid #E5E7EB' }}&gt;&#13;&#10;                    &lt;Text style={{ fontSize: 15, fontWeight: 'bold', color: '#D9534F' }}&gt;基线已达样本上限，未达 +5pp&lt;/Text&gt;&#13;&#10;                &lt;/Box&gt;&#13;&#10;            &lt;/Box&gt;&#13;&#10;        &lt;/Box&gt;&#13;&#10;&#13;&#10;        {/* 结论条 */}&#13;&#10;        &lt;Box style={{ height: 96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shield-alt' style={{ fill: '#FFFFFF', width: 22, height: 22 }} /&gt;&#13;&#10;            &lt;/Box&gt;&#13;&#10;            &lt;Box style={{ flex: 1 }}&gt;&#13;&#10;                &lt;Text style={{ fontSize: 18, fontWeight: 'bold', color: '#0E3F8C' }}&gt;结论与边界&lt;/Text&gt;&#13;&#10;                &lt;Text style={{ fontSize: 16, color: '#1A2230', lineHeight: 1.6, marginTop: 2 }}&gt;路由在 1000 项规模下无质量回退；但该结果不支持「路由准确率胜过混合检索」，也不代表 960 个公开描述对应的真实 API 均可调用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1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762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②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受权工具路由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0096500" y="914400"/>
            <a:ext cx="1095375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0210800" y="9525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含前期预研验证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81000" y="13716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90550" y="1676400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权限前置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1333500" y="1600200"/>
            <a:ext cx="59055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85900" y="16668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认证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019300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2286000" y="1600200"/>
            <a:ext cx="8763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2438400" y="166687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范围过滤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257550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524250" y="1600200"/>
            <a:ext cx="8763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676650" y="166687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候选检索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495800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762500" y="1600200"/>
            <a:ext cx="1609725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914900" y="1666875"/>
            <a:ext cx="13049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参数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版本二次校验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467475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734175" y="1600200"/>
            <a:ext cx="876300" cy="342900"/>
          </a:xfrm>
          <a:prstGeom prst="roundRect">
            <a:avLst>
              <a:gd name="adj" fmla="val 44444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886575" y="166687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受控执行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590550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2581275"/>
            <a:ext cx="209550" cy="20955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90550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过滤先于检索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90550" y="33623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认证与资源授权在检索之前完成，未授权工具不进入候选集，从结构上消除「先召回、再拦截」的越权窗口。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9055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9055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模型无权扩张权限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238625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4448175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52950" y="2581275"/>
            <a:ext cx="209550" cy="20955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448175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个真实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448175" y="33623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工具按发布方业务投影契约确定业务效果；明确效果走受控参数绑定，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schema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、目录版本与参数在调用前二次校验。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448175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448175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参数绑定受控，效果可枚举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096250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8305800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10575" y="2581275"/>
            <a:ext cx="209550" cy="20955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05800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预研：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1000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项目录测量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05800" y="33623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个真实工具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+ 960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个固定公开描述作为干扰；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3 trial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，两组均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150/150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，差值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0pp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30580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30580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基线已达样本上限，未达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+5pp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81000" y="54102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28650" y="56578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3425" y="5762625"/>
            <a:ext cx="209550" cy="20955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219200" y="561022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结论与边界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219200" y="58388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路由在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1000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项规模下无质量回退；但该结果不支持「路由准确率胜过混合检索」，也不代表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960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个公开描述对应的真实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均可调用。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12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2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③ 时效记忆与上下文&lt;/Text&gt;&#13;&#10;        &lt;Box style={{ marginLeft: 'auto', padding: '4px 12px', background: '#E8EFF8', borderRadius: 12 }}&gt;&lt;Text style={{ fontSize: 13, color: '#1E4FA8', fontWeight: 'bold' }}&gt;含前期预研验证&lt;/Text&gt;&lt;/Box&gt;&lt;Text style={{ fontSize: 15, color: '#8B97A8', marginLeft: 14 }}&gt;04 / 06&lt;/Text&gt;&#13;&#10;    &lt;/Box&gt;&#13;&#10;&#13;&#10;    {/* C 内容区 */}&#13;&#10;    &lt;Box style={{ flexDirection: 'column', gap: 12, marginTop: 16, height: 520 }}&gt;&#13;&#10;        {/* 引导条 */}&#13;&#10;        &lt;Box style={{ height: 60, background: '#F0F5FC', border: '1px solid #C9DCF5', borderRadius: 8, padding: '0 22px', flexDirection: 'row', alignItems: 'center', gap: 12 }}&gt;&#13;&#10;            &lt;FAIcon name='brain' style={{ fill: '#1E4FA8', width: 20, height: 20 }} /&gt;&#13;&#10;            &lt;Text style={{ fontSize: 16, color: '#1A2230' }}&gt;上下文 = &lt;span style={{ fontWeight: 'bold', color: '#1E4FA8' }}&gt;拥有者隔离的实体账本&lt;/span&gt; + 最近有限片段 + 历史引用卸载 + Token 预算；记忆只服务指代解析，不服务事实与授权。&lt;/Text&gt;&#13;&#10;        &lt;/Box&gt;&#13;&#10;&#13;&#10;        {/* 三栏 */}&#13;&#10;        &lt;Box style={{ flexDirection: 'row', gap: 15, height: 328 }}&gt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book' style={{ fill: '#1E4FA8', width: 22, height: 22 }} /&gt;&#13;&#10;                &lt;/Box&gt;&#13;&#10;                &lt;Text style={{ fontSize: 22, fontWeight: 'bold', color: '#0E3F8C', marginTop: 12 }}&gt;拥有者隔离实体账本&lt;/Text&gt;&#13;&#10;                &lt;Text style={{ fontSize: 16, color: '#4A5568', lineHeight: 1.6, marginTop: 10 }}&gt;会话实体账本按拥有者隔离，只用于解析「这件商品」「第一笔订单」这类回指；解析出的实体仍需经当前商家工具重新读取事实。&lt;/Text&gt;&#13;&#10;                &lt;Box style={{ marginTop: 'auto', paddingTop: 12, borderTop: '1px solid #E5E7EB' }}&gt;&#13;&#10;                    &lt;Text style={{ fontSize: 15, fontWeight: 'bold', color: '#D9534F' }}&gt;账本本身不授予任何权限&lt;/Text&gt;&#13;&#10;                &lt;/Box&gt;&#13;&#10;            &lt;/Box&gt;&#13;&#10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compress-alt' style={{ fill: '#1E4FA8', width: 22, height: 22 }} /&gt;&#13;&#10;                &lt;/Box&gt;&#13;&#10;                &lt;Text style={{ fontSize: 22, fontWeight: 'bold', color: '#0E3F8C', marginTop: 12 }}&gt;引用卸载与预算&lt;/Text&gt;&#13;&#10;                &lt;Text style={{ fontSize: 16, color: '#4A5568', lineHeight: 1.6, marginTop: 10 }}&gt;关键字段保留、历史引用卸载与保守 Token 上界共同约束上下文；多个实体共享同一原文片段，不通过补造实体句子来放宽来源校验。&lt;/Text&gt;&#13;&#10;                &lt;Box style={{ marginTop: 'auto', paddingTop: 12, borderTop: '1px solid #E5E7EB' }}&gt;&#13;&#10;                    &lt;Text style={{ fontSize: 15, fontWeight: 'bold', color: '#1E4FA8' }}&gt;共同属性复用同一原文片段&lt;/Text&gt;&#13;&#10;                &lt;/Box&gt;&#13;&#10;            &lt;/Box&gt;&#13;&#10;&#13;&#10;            &lt;Box style={{ flex: 1, background: '#FFFFFF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sync-alt' style={{ fill: '#1E4FA8', width: 22, height: 22 }} /&gt;&#13;&#10;                &lt;/Box&gt;&#13;&#10;                &lt;Text style={{ fontSize: 22, fontWeight: 'bold', color: '#0E3F8C', marginTop: 12 }}&gt;不继承原则&lt;/Text&gt;&#13;&#10;                &lt;Text style={{ fontSize: 16, color: '#4A5568', lineHeight: 1.6, marginTop: 10 }}&gt;旧金额、业务状态与历史审批不成为当前事实或授权；执行前重新读取商家系统，状态一旦变化，旧提案与旧审批立即失效。&lt;/Text&gt;&#13;&#10;                &lt;Box style={{ marginTop: 'auto', paddingTop: 12, borderTop: '1px solid #E5E7EB' }}&gt;&#13;&#10;                    &lt;Text style={{ fontSize: 15, fontWeight: 'bold', color: '#D9534F' }}&gt;旧金额与旧审批不继承&lt;/Text&gt;&#13;&#10;                &lt;/Box&gt;&#13;&#10;            &lt;/Box&gt;&#13;&#10;        &lt;/Box&gt;&#13;&#10;&#13;&#10;        {/* 数据条 */}&#13;&#10;        &lt;Box style={{ height: 108, background: '#F0F5FC', border: '1px solid #C9DCF5', borderRadius: 10, padding: '12px 26px', flexDirection: 'column', justifyContent: 'center', gap: 8 }}&gt;&#13;&#10;            &lt;Box style={{ flexDirection: 'row', alignItems: 'baseline', gap: 26 }}&gt;&#13;&#10;                &lt;Box style={{ flexDirection: 'row', alignItems: 'baseline', gap: 8 }}&gt;&#13;&#10;                    &lt;Text style={{ fontSize: 34, fontWeight: 'bold', color: '#1E4FA8', lineHeight: 1 }}&gt;180/180&lt;/Text&gt;&#13;&#10;                    &lt;Text style={{ fontSize: 15, color: '#4A5568' }}&gt;本方案 P（100%）&lt;/Text&gt;&#13;&#10;                &lt;/Box&gt;&#13;&#10;                &lt;Box style={{ flexDirection: 'row', alignItems: 'baseline', gap: 8 }}&gt;&#13;&#10;                    &lt;Text style={{ fontSize: 26, fontWeight: 'bold', color: '#8B97A8', lineHeight: 1 }}&gt;62/180&lt;/Text&gt;&#13;&#10;                    &lt;Text style={{ fontSize: 15, color: '#4A5568' }}&gt;基线 M-vector（34.44%）&lt;/Text&gt;&#13;&#10;                &lt;/Box&gt;&#13;&#10;                &lt;Text style={{ fontSize: 22, fontWeight: 'bold', color: '#D9534F' }}&gt;+75.64pp&lt;/Text&gt;&#13;&#10;                &lt;Text style={{ fontSize: 15, color: '#4A5568' }}&gt;95% CI [+55.13, +92.31]pp&lt;/Text&gt;&#13;&#10;            &lt;/Box&gt;&#13;&#10;            &lt;Text style={{ fontSize: 15, color: '#4A5568' }}&gt;条件口径 Prompt Token：&lt;span style={{ fontWeight: 'bold', color: '#1E4FA8' }}&gt;513,308 → 180,291（−64.88%）&lt;/span&gt;，仅覆盖 62 对两组都正确的配对，不含离线 Embedding 成本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2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410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③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时效记忆与上下文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10096500" y="914400"/>
            <a:ext cx="1095375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210800" y="9525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含前期预研验证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81000" y="1371600"/>
            <a:ext cx="11430000" cy="57150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562100"/>
            <a:ext cx="190500" cy="19050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95350" y="1562100"/>
            <a:ext cx="844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上下文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拥有者隔离的实体账本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最近有限片段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历史引用卸载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Token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预算；记忆只服务指代解析，不服务事实与授权。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81000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590550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5325" y="2352675"/>
            <a:ext cx="209550" cy="20955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90550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拥有者隔离实体账本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90550" y="31337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会话实体账本按拥有者隔离，只用于解析「这件商品」「第一笔订单」这类回指；解析出的实体仍需经当前商家工具重新读取事实。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90550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90550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账本本身不授予任何权限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238625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4448175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52950" y="2352675"/>
            <a:ext cx="209550" cy="209550"/>
          </a:xfrm>
          <a:prstGeom prst="rect">
            <a:avLst/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448175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引用卸载与预算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448175" y="31337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关键字段保留、历史引用卸载与保守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上界共同约束上下文；多个实体共享同一原文片段，不通过补造实体句子来放宽来源校验。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448175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448175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共同属性复用同一原文片段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8096250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8305800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10575" y="2352675"/>
            <a:ext cx="209550" cy="209550"/>
          </a:xfrm>
          <a:prstGeom prst="rect">
            <a:avLst/>
          </a:prstGeom>
          <a:ln/>
        </p:spPr>
      </p:pic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05800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不继承原则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305800" y="31337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旧金额、业务状态与历史审批不成为当前事实或授权；执行前重新读取商家系统，状态一旦变化，旧提案与旧审批立即失效。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8305800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05800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旧金额与旧审批不继承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381000" y="5295900"/>
            <a:ext cx="11430000" cy="1028700"/>
          </a:xfrm>
          <a:prstGeom prst="roundRect">
            <a:avLst>
              <a:gd name="adj" fmla="val 9259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28650" y="5495925"/>
            <a:ext cx="1352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180/180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2057400" y="5495925"/>
            <a:ext cx="1228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本方案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100%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533775" y="5495925"/>
            <a:ext cx="88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B97A8"/>
                </a:solidFill>
                <a:latin typeface="Microsoft YaHei"/>
                <a:ea typeface="Microsoft YaHei"/>
              </a:rPr>
              <a:t>62/180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495800" y="5495925"/>
            <a:ext cx="1743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M-vector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34.44%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486525" y="5495925"/>
            <a:ext cx="101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+75.64pp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753350" y="5495925"/>
            <a:ext cx="1828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95% CI [+55.13, +92.31]pp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28650" y="596265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条件口径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Prompt Token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513,308 → 180,291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（−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64.88%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，仅覆盖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62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对两组都正确的配对，不含离线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成本。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176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9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④ 证据反思与故障恢复&lt;/Text&gt;&#13;&#10;        &lt;Box style={{ marginLeft: 'auto', padding: '4px 12px', background: '#E8EFF8', borderRadius: 12 }}&gt;&lt;Text style={{ fontSize: 13, color: '#1E4FA8', fontWeight: 'bold' }}&gt;含前期预研验证&lt;/Text&gt;&lt;/Box&gt;&lt;Text style={{ fontSize: 15, color: '#8B97A8', marginLeft: 14 }}&gt;04 / 06&lt;/Text&gt;&#13;&#10;    &lt;/Box&gt;&#13;&#10;&#13;&#10;    {/* C 内容区 */}&#13;&#10;    &lt;Box style={{ flexDirection: 'column', gap: 12, marginTop: 16, height: 520 }}&gt;&#13;&#10;        {/* 观察包四字段 */}&#13;&#10;        &lt;Box style={{ flexDirection: 'row', gap: 12, height: 72 }}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来源&lt;/Text&gt;&#13;&#10;                &lt;Text style={{ fontSize: 15, color: '#4A5568' }}&gt;数据出处可追溯&lt;/Text&gt;&#13;&#10;            &lt;/Box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实体&lt;/Text&gt;&#13;&#10;                &lt;Text style={{ fontSize: 15, color: '#4A5568' }}&gt;绑定订单 / 商品&lt;/Text&gt;&#13;&#10;            &lt;/Box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版本&lt;/Text&gt;&#13;&#10;                &lt;Text style={{ fontSize: 15, color: '#4A5568' }}&gt;状态版本可比对&lt;/Text&gt;&#13;&#10;            &lt;/Box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时间&lt;/Text&gt;&#13;&#10;                &lt;Text style={{ fontSize: 15, color: '#4A5568' }}&gt;时效与 schema 校验&lt;/Text&gt;&#13;&#10;            &lt;/Box&gt;&#13;&#10;        &lt;/Box&gt;&#13;&#10;&#13;&#10;        &lt;Box style={{ flexDirection: 'row', gap: 20, height: 344 }}&gt;&#13;&#10;            {/* 左：机制 */}&#13;&#10;            &lt;Box style={{ width: 720, background: '#F7F9FC', border: '1px solid #D6DCE5', borderRadius: 10, padding: '20px 24px', flexDirection: 'column' }}&gt;&#13;&#10;                &lt;Box style={{ flexDirection: 'row', alignItems: 'center', gap: 10 }}&gt;&#13;&#10;                    &lt;FAIcon name='sync-alt' style={{ fill: '#3D7BD9', width: 22, height: 22 }} /&gt;&#13;&#10;                    &lt;Text style={{ fontSize: 24, fontWeight: 'bold', color: '#0E3F8C' }}&gt;观察包驱动的反思与恢复&lt;/Text&gt;&#13;&#10;                &lt;/Box&gt;&#13;&#10;                &lt;Box style={{ flexDirection: 'column', gap: 10, marginTop: 16 }}&gt;&#13;&#10;                    &lt;Box style={{ flexDirection: 'row', gap: 14, alignItems: 'flex-start' }}&gt;&#13;&#10;                        &lt;Text style={{ fontSize: 15, fontWeight: 'bold', color: '#1E4FA8', width: 76 }}&gt;证据反思&lt;/Text&gt;&#13;&#10;                        &lt;Text style={{ fontSize: 16, color: '#1A2230', lineHeight: 1.5, flex: 1 }}&gt;确定性证据与业务矛盾检查优先；模型建议只能缩小动作范围，不能扩大权限。&lt;/Text&gt;&#13;&#10;                    &lt;/Box&gt;&#13;&#10;                    &lt;Box style={{ flexDirection: 'row', gap: 14, alignItems: 'flex-start' }}&gt;&#13;&#10;                        &lt;Text style={{ fontSize: 15, fontWeight: 'bold', color: '#1E4FA8', width: 76 }}&gt;变化感知&lt;/Text&gt;&#13;&#10;                        &lt;Text style={{ fontSize: 16, color: '#1A2230', lineHeight: 1.5, flex: 1 }}&gt;状态变化触发证据刷新与提案失效，重新取证后必须重新确认。&lt;/Text&gt;&#13;&#10;                    &lt;/Box&gt;&#13;&#10;                    &lt;Box style={{ flexDirection: 'row', gap: 14, alignItems: 'flex-start' }}&gt;&#13;&#10;                        &lt;Text style={{ fontSize: 15, fontWeight: 'bold', color: '#1E4FA8', width: 76 }}&gt;写入幂等&lt;/Text&gt;&#13;&#10;                        &lt;Text style={{ fontSize: 16, color: '#1A2230', lineHeight: 1.5, flex: 1 }}&gt;PostgreSQL 唯一约束 + 合法状态迁移 + 事务 + operation receipt 共同构成幂等边界。&lt;/Text&gt;&#13;&#10;                    &lt;/Box&gt;&#13;&#10;                    &lt;Box style={{ flexDirection: 'row', gap: 14, alignItems: 'flex-start' }}&gt;&#13;&#10;                        &lt;Text style={{ fontSize: 15, fontWeight: 'bold', color: '#1E4FA8', width: 76 }}&gt;故障接管&lt;/Text&gt;&#13;&#10;                        &lt;Text style={{ fontSize: 16, color: '#1A2230', lineHeight: 1.5, flex: 1 }}&gt;租约、fencing 与 LangGraph checkpoint 保证未完成任务被接管，而不是被重复执行。&lt;/Text&gt;&#13;&#10;                    &lt;/Box&gt;&#13;&#10;                &lt;/Box&gt;&#13;&#10;            &lt;/Box&gt;&#13;&#10;&#13;&#10;            {/* 右：数据 */}&#13;&#10;            &lt;Box style={{ width: 460, background: '#FFFFFF', border: '1px solid #D6DCE5', borderRadius: 10, padding: '20px 24px', flexDirection: 'column' }}&gt;&#13;&#10;                &lt;Text style={{ fontSize: 22, fontWeight: 'bold', color: '#0E3F8C' }}&gt;前期预研验证（可恢复故障）&lt;/Text&gt;&#13;&#10;&#13;&#10;                &lt;Box style={{ marginTop: 10 }}&gt;&#13;&#10;                    &lt;Text style={{ fontSize: 36, fontWeight: 'bold', color: '#1E4FA8', lineHeight: 1 }}&gt;144/144&lt;/Text&gt;&#13;&#10;                    &lt;Text style={{ fontSize: 15, color: '#4A5568', marginTop: 4 }}&gt;本方案 P（100%）&lt;/Text&gt;&#13;&#10;                &lt;/Box&gt;&#13;&#10;&#13;&#10;                &lt;Box style={{ marginTop: 6 }}&gt;&#13;&#10;                    &lt;Text style={{ fontSize: 26, fontWeight: 'bold', color: '#8B97A8', lineHeight: 1 }}&gt;48/144&lt;/Text&gt;&#13;&#10;                    &lt;Text style={{ fontSize: 15, color: '#4A5568', marginTop: 4 }}&gt;基线 A-reflect（33.33%）&lt;/Text&gt;&#13;&#10;                &lt;/Box&gt;&#13;&#10;&#13;&#10;                &lt;Box style={{ flexDirection: 'row', alignItems: 'baseline', gap: 10, marginTop: 8 }}&gt;&#13;&#10;                    &lt;Text style={{ fontSize: 24, fontWeight: 'bold', color: '#D9534F', lineHeight: 1 }}&gt;+66.67pp&lt;/Text&gt;&#13;&#10;                    &lt;Text style={{ fontSize: 15, color: '#4A5568' }}&gt;family 均衡差&lt;/Text&gt;&#13;&#10;                &lt;/Box&gt;&#13;&#10;                &lt;Text style={{ fontSize: 15, color: '#4A5568', marginTop: 4 }}&gt;95% CI [+33.33, +100]pp&lt;/Text&gt;&#13;&#10;&#13;&#10;                &lt;Box style={{ marginTop: 'auto', background: '#F7F9FC', border: '1px solid #E5E7EB', borderRadius: 8, padding: '10px 14px' }}&gt;&#13;&#10;                    &lt;Text style={{ fontSize: 15, color: '#4A5568', lineHeight: 1.5 }}&gt;永久故障的安全停止与无故障对照单独计分，不混入此分母。&lt;/Text&gt;&#13;&#10;                &lt;/Box&gt;&#13;&#10;            &lt;/Box&gt;&#13;&#10;        &lt;/Box&gt;&#13;&#10;&#13;&#10;        {/* 结论条 */}&#13;&#10;        &lt;Box style={{ height: 80, background: '#0E3F8C', borderRadius: 10, padding: '0 24px', flexDirection: 'row', alignItems: 'center', gap: 16 }}&gt;&#13;&#10;            &lt;FAIcon name='exclamation-circle' style={{ fill: '#3D7BD9', width: 24, height: 24 }} /&gt;&#13;&#10;            &lt;Text style={{ fontSize: 16, color: '#FFFFFF', lineHeight: 1.55 }}&gt;超时&lt;span style={{ color: '#FFC107', fontWeight: 'bold' }}&gt;不等于&lt;/span&gt;「没写入」：先按 operation receipt 查询对账，无法确认即转人工；所有循环受模型请求、Token、工具数与活动时长预算约束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3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733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④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证据反思与故障恢复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10096500" y="914400"/>
            <a:ext cx="1095375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210800" y="9525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含前期预研验证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来源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71550" y="16287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数据出处可追溯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267075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438525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实体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57625" y="162877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绑定订单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商品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153150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324600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版本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743700" y="16287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状态版本可比对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9039225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210675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629775" y="16287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时效与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81000" y="2171700"/>
            <a:ext cx="6858000" cy="3276600"/>
          </a:xfrm>
          <a:prstGeom prst="roundRect">
            <a:avLst>
              <a:gd name="adj" fmla="val 290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400300"/>
            <a:ext cx="209550" cy="20955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14400" y="2362200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观察包驱动的反思与恢复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证据反思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466850" y="2790825"/>
            <a:ext cx="5543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确定性证据与业务矛盾检查优先；模型建议只能缩小动作范围，不能扩大权限。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变化感知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466850" y="3162300"/>
            <a:ext cx="5543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状态变化触发证据刷新与提案失效，重新取证后必须重新确认。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写入幂等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466850" y="3533775"/>
            <a:ext cx="5543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唯一约束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合法状态迁移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事务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operation receipt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共同构成幂等边界。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41814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故障接管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466850" y="4181475"/>
            <a:ext cx="5543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租约、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fencing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LangGraph checkpoint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保证未完成任务被接管，而不是被重复执行。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429500" y="2171700"/>
            <a:ext cx="4381500" cy="32766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58100" y="23622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前期预研验证（可恢复故障）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658100" y="2714625"/>
            <a:ext cx="3924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144/144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658100" y="31718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本方案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100%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658100" y="3400425"/>
            <a:ext cx="3924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B97A8"/>
                </a:solidFill>
                <a:latin typeface="Microsoft YaHei"/>
                <a:ea typeface="Microsoft YaHei"/>
              </a:rPr>
              <a:t>48/144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658100" y="37433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A-reflect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33.33%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658100" y="3990975"/>
            <a:ext cx="1114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534F"/>
                </a:solidFill>
                <a:latin typeface="Microsoft YaHei"/>
                <a:ea typeface="Microsoft YaHei"/>
              </a:rPr>
              <a:t>+66.67pp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867775" y="3990975"/>
            <a:ext cx="885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family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均衡差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658100" y="430530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95% CI [+33.33, +100]pp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658100" y="4552950"/>
            <a:ext cx="3924300" cy="704850"/>
          </a:xfrm>
          <a:prstGeom prst="roundRect">
            <a:avLst>
              <a:gd name="adj" fmla="val 108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791450" y="4648200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永久故障的安全停止与无故障对照单独计分，不混入此分母。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81000" y="5562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5829300"/>
            <a:ext cx="228600" cy="22860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90600" y="5800725"/>
            <a:ext cx="95535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超时</a:t>
            </a:r>
            <a:r>
              <a:rPr lang="zh-CN" sz="1200" b="1">
                <a:solidFill>
                  <a:srgbClr val="FFC107"/>
                </a:solidFill>
                <a:latin typeface="Microsoft YaHei"/>
                <a:ea typeface="Microsoft YaHei"/>
              </a:rPr>
              <a:t>不等于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「没写入」：先按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operation receipt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查询对账，无法确认即转人工；所有循环受模型请求、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Token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、工具数与活动时长预算约束。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7" name=""/>
          <p:cNvPicPr>
            <a:picLocks noChangeAspect="1"/>
          </p:cNvPicPr>
          <p:nvPr/>
        </p:nvPicPr>
        <p:blipFill>
          <a:blip r:embed="rId3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228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1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安全、权限与隔离体系&lt;/Text&gt;&#13;&#10;        &lt;Text style={{ fontSize: 15, color: '#8B97A8', marginLeft: 'auto' }}&gt;04 / 06&lt;/Text&gt;&#13;&#10;    &lt;/Box&gt;&#13;&#10;&#13;&#10;    {/* C 内容区 */}&#13;&#10;    &lt;Box style={{ flexDirection: 'column', gap: 12, marginTop: 16, height: 520 }}&gt;&#13;&#10;        {/* 引导条 */}&#13;&#10;        &lt;Box style={{ height: 44, background: '#F0F5FC', border: '1px solid #C9DCF5', borderRadius: 8, padding: '0 22px', flexDirection: 'row', alignItems: 'center', gap: 12 }}&gt;&#13;&#10;            &lt;FAIcon name='lock' style={{ fill: '#1E4FA8', width: 18, height: 18 }} /&gt;&#13;&#10;            &lt;Text style={{ fontSize: 16, color: '#1A2230' }}&gt;四条防线：从&lt;span style={{ fontWeight: 'bold', color: '#1E4FA8' }}&gt;传输、授权、输入到执行环境&lt;/span&gt;逐层收窄模型可影响的面。&lt;/Text&gt;&#13;&#10;        &lt;/Box&gt;&#13;&#10;&#13;&#10;        {/* 四栏 */}&#13;&#10;        &lt;Box style={{ flexDirection: 'row', gap: 16, height: 368 }}&gt;&#13;&#10;            &lt;Box style={{ flex: 1, background: '#F7F9FC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key' style={{ fill: '#1E4FA8', width: 22, height: 22 }} /&gt;&#13;&#10;                &lt;/Box&gt;&#13;&#10;                &lt;Text style={{ fontSize: 20, fontWeight: 'bold', color: '#0E3F8C', marginTop: 12 }}&gt;会话与传输安全&lt;/Text&gt;&#13;&#10;                &lt;Text style={{ fontSize: 16, color: '#4A5568', lineHeight: 1.6, marginTop: 10 }}&gt;HttpOnly 会话 Cookie 与 CSRF 校验；服务端共享会话使 API 扩容仍保持登录；OIDC 校验 issuer、audience、nonce、state、签名与 PKCE。&lt;/Text&gt;&#13;&#10;                &lt;Box style={{ marginTop: 'auto', paddingTop: 12, borderTop: '1px solid #E5E7EB' }}&gt;&#13;&#10;                    &lt;Text style={{ fontSize: 15, fontWeight: 'bold', color: '#D9534F', lineHeight: 1.45 }}&gt;演示账户 ≠ 组织 IdP 已接入&lt;/Text&gt;&#13;&#10;                &lt;/Box&gt;&#13;&#10;            &lt;/Box&gt;&#13;&#10;&#13;&#10;            &lt;Box style={{ flex: 1, background: '#F7F9FC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user-shield' style={{ fill: '#1E4FA8', width: 22, height: 22 }} /&gt;&#13;&#10;                &lt;/Box&gt;&#13;&#10;                &lt;Text style={{ fontSize: 20, fontWeight: 'bold', color: '#0E3F8C', marginTop: 12 }}&gt;双层授权模型&lt;/Text&gt;&#13;&#10;                &lt;Text style={{ fontSize: 16, color: '#4A5568', lineHeight: 1.6, marginTop: 10 }}&gt;Casbin RBAC 管角色，资源拥有者 / 租户 ABAC 管数据范围；客户身份取自服务端会话，模型不能指定客户、租户或审批人。&lt;/Text&gt;&#13;&#10;                &lt;Box style={{ marginTop: 'auto', paddingTop: 12, borderTop: '1px solid #E5E7EB' }}&gt;&#13;&#10;                    &lt;Text style={{ fontSize: 15, fontWeight: 'bold', color: '#D9534F', lineHeight: 1.45 }}&gt;权限不来自模型输入&lt;/Text&gt;&#13;&#10;                &lt;/Box&gt;&#13;&#10;            &lt;/Box&gt;&#13;&#10;&#13;&#10;            &lt;Box style={{ flex: 1, background: '#F7F9FC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shield-alt' style={{ fill: '#1E4FA8', width: 22, height: 22 }} /&gt;&#13;&#10;                &lt;/Box&gt;&#13;&#10;                &lt;Text style={{ fontSize: 20, fontWeight: 'bold', color: '#0E3F8C', marginTop: 12 }}&gt;提示注入防护&lt;/Text&gt;&#13;&#10;                &lt;Text style={{ fontSize: 16, color: '#4A5568', lineHeight: 1.6, marginTop: 10 }}&gt;对话中检索到的文本仅作数据处理，不能升级为可信指令或绕过授权；日志、Trace 与护栏共同维护信任边界。&lt;/Text&gt;&#13;&#10;                &lt;Box style={{ marginTop: 'auto', paddingTop: 12, borderTop: '1px solid #E5E7EB' }}&gt;&#13;&#10;                    &lt;Text style={{ fontSize: 15, fontWeight: 'bold', color: '#D9534F', lineHeight: 1.45 }}&gt;不宣称对未知攻击全免疫&lt;/Text&gt;&#13;&#10;                &lt;/Box&gt;&#13;&#10;            &lt;/Box&gt;&#13;&#10;&#13;&#10;            &lt;Box style={{ flex: 1, background: '#FFFFFF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microchip' style={{ fill: '#1E4FA8', width: 22, height: 22 }} /&gt;&#13;&#10;                &lt;/Box&gt;&#13;&#10;                &lt;Text style={{ fontSize: 20, fontWeight: 'bold', color: '#0E3F8C', marginTop: 12 }}&gt;隔离计算沙箱&lt;/Text&gt;&#13;&#10;                &lt;Text style={{ fontSize: 16, color: '#4A5568', lineHeight: 1.6, marginTop: 10 }}&gt;独立 Sandbox 容器：无网络、只读根文件系统、CPU / 内存 / PID 限额、Unix socket 通信；仅开放定额计算、CSV 摘要与文本统计。&lt;/Text&gt;&#13;&#10;                &lt;Box style={{ marginTop: 'auto', paddingTop: 12, borderTop: '1px solid #E5E7EB' }}&gt;&#13;&#10;                    &lt;Text style={{ fontSize: 15, fontWeight: 'bold', color: '#D9534F', lineHeight: 1.45 }}&gt;任意生成代码执行关闭&lt;/Text&gt;&#13;&#10;                &lt;/Box&gt;&#13;&#10;            &lt;/Box&gt;&#13;&#10;        &lt;/Box&gt;&#13;&#10;&#13;&#10;        {/* 边界条 */}&#13;&#10;        &lt;Box style={{ height: 84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info-circle' style={{ fill: '#FFFFFF', width: 22, height: 22 }} /&gt;&#13;&#10;            &lt;/Box&gt;&#13;&#10;            &lt;Box style={{ flex: 1 }}&gt;&#13;&#10;                &lt;Text style={{ fontSize: 18, fontWeight: 'bold', color: '#0E3F8C' }}&gt;边界声明&lt;/Text&gt;&#13;&#10;                &lt;Text style={{ fontSize: 16, color: '#1A2230', lineHeight: 1.55, marginTop: 2 }}&gt;本地演示账户与测试 OIDC issuer 不等于组织生产身份系统；组织 IdP、生产 TLS 与异地加密备份未在本机验收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4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安全、权限与隔离体系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81000" y="1371600"/>
            <a:ext cx="11430000" cy="419100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495425"/>
            <a:ext cx="171450" cy="17145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76300" y="1485900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四条防线：从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传输、授权、输入到执行环境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逐层收窄模型可影响的面。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3810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5715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6275" y="2200275"/>
            <a:ext cx="209550" cy="209550"/>
          </a:xfrm>
          <a:prstGeom prst="rect">
            <a:avLst/>
          </a:prstGeom>
          <a:ln/>
        </p:spPr>
      </p:pic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715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会话与传输安全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23622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HttpOnly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会话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Cookie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CSRF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校验；服务端共享会话使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扩容仍保持登录；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OIDC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校验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issuer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audience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nonce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state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、签名与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PKCE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5715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15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演示账户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组织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IdP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已接入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32766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34671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571875" y="2200275"/>
            <a:ext cx="209550" cy="209550"/>
          </a:xfrm>
          <a:prstGeom prst="rect">
            <a:avLst/>
          </a:prstGeom>
          <a:ln/>
        </p:spPr>
      </p:pic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4671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双层授权模型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467100" y="2952750"/>
            <a:ext cx="23622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Casbin RBAC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管角色，资源拥有者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租户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ABAC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管数据范围；客户身份取自服务端会话，模型不能指定客户、租户或审批人。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34671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4671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权限不来自模型输入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1722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3627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67475" y="2200275"/>
            <a:ext cx="209550" cy="209550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3627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提示注入防护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362700" y="2952750"/>
            <a:ext cx="23622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对话中检索到的文本仅作数据处理，不能升级为可信指令或绕过授权；日志、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Trace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与护栏共同维护信任边界。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3627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3627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不宣称对未知攻击全免疫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90678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92583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63075" y="2200275"/>
            <a:ext cx="209550" cy="209550"/>
          </a:xfrm>
          <a:prstGeom prst="rect">
            <a:avLst/>
          </a:prstGeom>
          <a:ln/>
        </p:spPr>
      </p:pic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2583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隔离计算沙箱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258300" y="2952750"/>
            <a:ext cx="23622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独立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Sandbox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容器：无网络、只读根文件系统、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CPU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内存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PID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限额、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Unix socket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通信；仅开放定额计算、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CSV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摘要与文本统计。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92583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2583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任意生成代码执行关闭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219200" y="56673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边界声明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219200" y="58959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本地演示账户与测试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OIDC issuer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不等于组织生产身份系统；组织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IdP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、生产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TLS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与异地加密备份未在本机验收。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6" name=""/>
          <p:cNvPicPr>
            <a:picLocks noChangeAspect="1"/>
          </p:cNvPicPr>
          <p:nvPr/>
        </p:nvPicPr>
        <p:blipFill>
          <a:blip r:embed="rId7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27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280" name="" descr="&lt;Slide style={{ width: 1280, height: 720, background: '#FFFFFF', position: 'relative', fontFamily: 'Microsoft YaHei', padding: '88px 40px 56px 40px' }}&gt;&#10;    {/* A 页眉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网络计算与边缘智能 · 开题答辩&lt;/Text&gt;&#10;        &lt;Box style={{ flexDirection: 'row', alignItems: 'center' }}&gt;&#10;            &lt;Text style={{ fontSize: 14, color: '#B9CDEA', marginRight: 22 }}&gt;电商 L4 级智能客服 Agent 系统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标题块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预期效果与验收指标&lt;/Text&gt;&#10;        &lt;Text style={{ fontSize: 15, color: '#8B97A8', marginLeft: 'auto' }}&gt;05 / 06&lt;/Text&gt;&#10;    &lt;/Box&gt;&#10;&#10;    {/* C 内容区 */}&#10;    &lt;Box style={{ flexDirection: 'column', gap: 12, marginTop: 16, height: 520 }}&gt;&#10;        {/* 预期效果表 */}&#10;        &lt;Box style={{ height: 312 }}&gt;&#10;            &lt;Table&#10;                style={{ width: '100%', height: '100%' }}&#10;                defaultTextStyle={{ fontSize: 15, textAlign: 'center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技术方向', textStyle: { bold: true, color: '#FFFFFF', fontSize: 16 }, cellStyle: { background: { color: '#0E3F8C' } } },&#10;                        { text: '预期目标', textStyle: { bold: true, color: '#FFFFFF', fontSize: 16 }, cellStyle: { background: { color: '#0E3F8C' } } },&#10;                        { text: '对照基线', textStyle: { bold: true, color: '#FFFFFF', fontSize: 16 }, cellStyle: { background: { color: '#0E3F8C' } } },&#10;                        { text: '预期提升', textStyle: { bold: true, color: '#FFFFFF', fontSize: 16 }, cellStyle: { background: { color: '#0E3F8C' } } },&#10;                        { text: '验收方式', textStyle: { bold: true, color: '#FFFFFF', fontSize: 16 }, cellStyle: { background: { color: '#0E3F8C' } } },&#10;                    ],&#10;                    [&#10;                        '可验证规划',&#10;                        { text: '复杂任务严格成功率 ≥ 85%', textStyle: { bold: true, color: '#1E4FA8' } },&#10;                        '原生 ReAct + 混合检索',&#10;                        { text: '≥ +8pp', textStyle: { bold: true, color: '#1E4FA8' } },&#10;                        '36 场景 × 5 trial，family 均衡差',&#10;                    ],&#10;                    [&#10;                        { text: '受权工具路由', cellStyle: { background: { color: '#F7F9FC' } } },&#10;                        { text: '1000 项候选下质量不回退', textStyle: { bold: true, color: '#1E4FA8' }, cellStyle: { background: { color: '#F7F9FC' } } },&#10;                        { text: '混合检索路由', cellStyle: { background: { color: '#F7F9FC' } } },&#10;                        { text: '≥ 0pp（不劣化）', cellStyle: { background: { color: '#F7F9FC' } } },&#10;                        { text: '50 例 × 3 trial，权限与参数校验', cellStyle: { background: { color: '#F7F9FC' } } },&#10;                    ],&#10;                    [&#10;                        '时效记忆与上下文',&#10;                        { text: '严格成功率 ≥ 90%', textStyle: { bold: true, color: '#1E4FA8' } },&#10;                        '最近对话 + 向量历史',&#10;                        { text: '≥ +50pp；Token 降 ≥ 50%', textStyle: { bold: true, color: '#1E4FA8' } },&#10;                        '长会话专项，配对 Token 口径',&#10;                    ],&#10;                    [&#10;                        { text: '证据反思与故障恢复', cellStyle: { background: { color: '#F7F9FC' } } },&#10;                        { text: '可恢复故障成功率 ≥ 90%', textStyle: { bold: true, color: '#1E4FA8' }, cellStyle: { background: { color: '#F7F9FC' } } },&#10;                        { text: '关闭反思基线', cellStyle: { background: { color: '#F7F9FC' } } },&#10;                        { text: '≥ +15pp', textStyle: { bold: true, color: '#1E4FA8' }, cellStyle: { background: { color: '#F7F9FC' } } },&#10;                        { text: '故障族对照；永久故障安全停止单列', cellStyle: { background: { color: '#F7F9FC' } } },&#10;                    ],&#10;                ]}&#10;            /&gt;&#10;        &lt;/Box&gt;&#10;&#10;        {/* 规模与工程验收预期 */}&#10;        &lt;Box style={{ height: 84, background: '#F0F5FC', border: '1px solid #C9DCF5', borderRadius: 10, padding: '0 26px', flexDirection: 'row', alignItems: 'center', gap: 28 }}&gt;&#10;            &lt;Box style={{ flexDirection: 'row', alignItems: 'baseline', gap: 8 }}&gt;&#10;                &lt;Text style={{ fontSize: 28, fontWeight: 'bold', color: '#1E4FA8', lineHeight: 1 }}&gt;≥ 3000&lt;/Text&gt;&#10;                &lt;Text style={{ fontSize: 15, color: '#4A5568' }}&gt;个冻结评测单元&lt;/Text&gt;&#10;            &lt;/Box&gt;&#10;            &lt;Box style={{ flexDirection: 'row', alignItems: 'baseline', gap: 8 }}&gt;&#10;                &lt;Text style={{ fontSize: 28, fontWeight: 'bold', color: '#1E4FA8', lineHeight: 1 }}&gt;4 项&lt;/Text&gt;&#10;                &lt;Text style={{ fontSize: 15, color: '#4A5568' }}&gt;主指标 + 4 类对照基线&lt;/Text&gt;&#10;            &lt;/Box&gt;&#10;            &lt;Text style={{ fontSize: 15, color: '#4A5568', flex: 1 }}&gt;工程验收预期：后端测试全通过 · 2 小时连续运行 0 失败 · 控制 API 50 并发 P95 &amp;lt; 1s&lt;/Text&gt;&#10;        &lt;/Box&gt;&#10;&#10;        {/* 验收原则条 */}&#10;        &lt;Box style={{ height: 100, background: '#0E3F8C', borderRadius: 10, padding: '0 26px', flexDirection: 'row', alignItems: 'center', gap: 18 }}&gt;&#10;            &lt;FAIcon name='balance-scale' style={{ fill: '#3D7BD9', width: 26, height: 26 }} /&gt;&#10;            &lt;Box style={{ flex: 1 }}&gt;&#10;                &lt;Text style={{ fontSize: 18, fontWeight: 'bold', color: '#FFFFFF' }}&gt;验收原则&lt;/Text&gt;&#10;                &lt;Text style={{ fontSize: 16, color: '#B9CDEA', lineHeight: 1.55, marginTop: 2 }}&gt;终态 SUCCEEDED 不等于成功：需联合检查订单作用域、当前证据与写入回执；未达标项按预登记规则如实记录，不更换分母。&lt;/Text&gt;&#10;            &lt;/Box&gt;&#10;        &lt;/Box&gt;&#10;    &lt;/Box&gt;&#10;&#10;    {/* D 页脚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北京交通大学 · 软件工程（专硕）&lt;/Text&gt;&#10;        &lt;Text style={{ fontSize: 14, color: '#0E3F8C', fontWeight: 'bold' }}&gt;1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预期效果与验收指标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05 / 06</a:t>
            </a:r>
            <a:endParaRPr/>
          </a:p>
        </p:txBody>
      </p:sp>
      <p:graphicFrame>
        <p:nvGraphicFramePr>
          <p:cNvPr id="285" name=""/>
          <p:cNvGraphicFramePr/>
          <p:nvPr/>
        </p:nvGraphicFramePr>
        <p:xfrm rot="0" flipH="0" flipV="0">
          <a:off x="381000" y="1371600"/>
          <a:ext cx="11430000" cy="2971800"/>
        </p:xfrm>
        <a:graphic>
          <a:graphicData uri="http://schemas.openxmlformats.org/drawingml/2006/table">
            <a:tbl>
              <a:tblGrid>
                <a:gridCol w="1710950">
                  <a:extLst>
                    <a:ext uri="{9D8B030D-6E8A-4147-A177-3AD203B41FA5}">
                      <a16:colId val="1"/>
                    </a:ext>
                  </a:extLst>
                </a:gridCol>
                <a:gridCol w="2338062">
                  <a:extLst>
                    <a:ext uri="{9D8B030D-6E8A-4147-A177-3AD203B41FA5}">
                      <a16:colId val="2"/>
                    </a:ext>
                  </a:extLst>
                </a:gridCol>
                <a:gridCol w="1959429">
                  <a:extLst>
                    <a:ext uri="{9D8B030D-6E8A-4147-A177-3AD203B41FA5}">
                      <a16:colId val="3"/>
                    </a:ext>
                  </a:extLst>
                </a:gridCol>
                <a:gridCol w="2468217">
                  <a:extLst>
                    <a:ext uri="{9D8B030D-6E8A-4147-A177-3AD203B41FA5}">
                      <a16:colId val="4"/>
                    </a:ext>
                  </a:extLst>
                </a:gridCol>
                <a:gridCol w="2953342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2407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技术方向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预期目标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对照基线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预期提升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验收方式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8693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可验证规划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复杂任务严格成功率 ≥ 85%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原生 ReAct + 混合检索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≥ +8pp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36 场景 × 5 trial，family 均衡差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8693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受权工具路由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1000 项候选下质量不回退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混合检索路由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≥ 0pp（不劣化）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50 例 × 3 trial，权限与参数校验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8693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时效记忆与上下文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严格成功率 ≥ 90%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最近对话 + 向量历史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≥ +50pp；Token 降 ≥ 50%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长会话专项，配对 Token 口径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8693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证据反思与故障恢复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可恢复故障成功率 ≥ 90%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关闭反思基线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≥ +15pp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故障族对照；永久故障安全停止单列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86" name=""/>
          <p:cNvSpPr/>
          <p:nvPr/>
        </p:nvSpPr>
        <p:spPr>
          <a:xfrm rot="0" flipH="0" flipV="0">
            <a:off x="381000" y="44577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28650" y="4695825"/>
            <a:ext cx="9429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E4FA8"/>
                </a:solidFill>
                <a:latin typeface="Microsoft YaHei"/>
                <a:ea typeface="Microsoft YaHei"/>
              </a:rPr>
              <a:t>≥ 3000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647825" y="4695825"/>
            <a:ext cx="10001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个冻结评测单元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2914650" y="4695825"/>
            <a:ext cx="5143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2100" b="1">
                <a:solidFill>
                  <a:srgbClr val="1E4FA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505200" y="4695825"/>
            <a:ext cx="1466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主指标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类对照基线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238750" y="4772025"/>
            <a:ext cx="632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工程验收预期：后端测试全通过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小时连续运行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失败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控制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50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并发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P95 &lt; 1s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5724525"/>
            <a:ext cx="247650" cy="247650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47750" y="5591175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验收原则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047750" y="5819775"/>
            <a:ext cx="105156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B9CDEA"/>
                </a:solidFill>
                <a:latin typeface="Microsoft YaHei"/>
                <a:ea typeface="Microsoft YaHei"/>
              </a:rPr>
              <a:t>终态</a:t>
            </a:r>
            <a:r>
              <a:rPr lang="en-US" sz="1200">
                <a:solidFill>
                  <a:srgbClr val="B9CDEA"/>
                </a:solidFill>
                <a:latin typeface="Microsoft YaHei"/>
                <a:ea typeface="Microsoft YaHei"/>
              </a:rPr>
              <a:t xml:space="preserve"> SUCCEEDED </a:t>
            </a:r>
            <a:r>
              <a:rPr lang="zh-CN" sz="1200">
                <a:solidFill>
                  <a:srgbClr val="B9CDEA"/>
                </a:solidFill>
                <a:latin typeface="Microsoft YaHei"/>
                <a:ea typeface="Microsoft YaHei"/>
              </a:rPr>
              <a:t>不等于成功：需联合检查订单作用域、当前证据与写入回执；未达标项按预登记规则如实记录，不更换分母。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00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301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304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可行性分析&lt;/Text&gt;&#13;&#10;        &lt;Text style={{ fontSize: 15, color: '#8B97A8', marginLeft: 'auto' }}&gt;06 / 06&lt;/Text&gt;&#13;&#10;    &lt;/Box&gt;&#13;&#10;&#13;&#10;    {/* C 内容区 */}&#13;&#10;    &lt;Box style={{ flexDirection: 'column', gap: 12, marginTop: 16, height: 520 }}&gt;&#13;&#10;        {/* 两栏可行性 */}&#13;&#10;        &lt;Box style={{ flexDirection: 'row', gap: 20, height: 216 }}&gt;&#13;&#10;            &lt;Box style={{ width: 590, background: '#F7F9FC', border: '1px solid #D6DCE5', borderRadius: 10, padding: '20px 24px', flexDirection: 'column' }}&gt;&#13;&#10;                &lt;Box style={{ flexDirection: 'row', alignItems: 'center', gap: 12 }}&gt;&#13;&#10;                    &lt;Box style={{ width: 40, height: 40, borderRadius: 10, background: '#E8EFF8', justifyContent: 'center', alignItems: 'center' }}&gt;&#13;&#10;                        &lt;FAIcon name='cogs' style={{ fill: '#1E4FA8', width: 20, height: 20 }} /&gt;&#13;&#10;                    &lt;/Box&gt;&#13;&#10;                    &lt;Text style={{ fontSize: 23, fontWeight: 'bold', color: '#0E3F8C' }}&gt;技术可行性&lt;/Text&gt;&#13;&#10;                &lt;/Box&gt;&#13;&#10;                &lt;Text style={{ fontSize: 16, color: '#4A5568', lineHeight: 1.6, marginTop: 12 }}&gt;团队已完成四项机制的前期预研，原型上均可运行并有验证记录；拟沿用真实模型与检索 API，商家侧采用可审计的模拟系统，保证方案可复现、可验证。&lt;/Text&gt;&#13;&#10;                &lt;Text style={{ fontSize: 15, fontWeight: 'bold', color: '#1E4FA8', marginTop: 'auto' }}&gt;结论：技术路径有前期预研支撑，非纸面设计&lt;/Text&gt;&#13;&#10;            &lt;/Box&gt;&#13;&#10;&#13;&#10;            &lt;Box style={{ width: 590, background: '#F7F9FC', border: '1px solid #D6DCE5', borderRadius: 10, padding: '20px 24px', flexDirection: 'column' }}&gt;&#13;&#10;                &lt;Box style={{ flexDirection: 'row', alignItems: 'center', gap: 12 }}&gt;&#13;&#10;                    &lt;Box style={{ width: 40, height: 40, borderRadius: 10, background: '#E8EFF8', justifyContent: 'center', alignItems: 'center' }}&gt;&#13;&#10;                        &lt;FAIcon name='database' style={{ fill: '#1E4FA8', width: 20, height: 20 }} /&gt;&#13;&#10;                    &lt;/Box&gt;&#13;&#10;                    &lt;Text style={{ fontSize: 23, fontWeight: 'bold', color: '#0E3F8C' }}&gt;资源可行性&lt;/Text&gt;&#13;&#10;                &lt;/Box&gt;&#13;&#10;                &lt;Text style={{ fontSize: 16, color: '#4A5568', lineHeight: 1.6, marginTop: 12 }}&gt;单机 Docker Compose 即可完整复现；依赖锁文件与镜像 digest 冻结；模型推理在远端，本机无需 GPU，3050 未承担 LLM 计算。&lt;/Text&gt;&#13;&#10;                &lt;Text style={{ fontSize: 15, fontWeight: 'bold', color: '#1E4FA8', marginTop: 'auto' }}&gt;结论：单机可复现，无专用硬件门槛&lt;/Text&gt;&#13;&#10;            &lt;/Box&gt;&#13;&#10;        &lt;/Box&gt;&#13;&#10;&#13;&#10;        {/* 风险与缓解表 */}&#13;&#10;        &lt;Box style={{ height: 196 }}&gt;&#13;&#10;            &lt;Table&#13;&#10;                style={{ width: '100%', height: '100%' }}&#13;&#10;                defaultTextStyle={{ fontSize: 15, textAlign: 'left', color: '#1A2230' }}&#13;&#10;                defaultCellStyle={{&#13;&#10;                    border: {&#13;&#10;                        left: { width: 1, color: '#E5E7EB' },&#13;&#10;                        right: { width: 1, color: '#E5E7EB' },&#13;&#10;                        top: { width: 1, color: '#E5E7EB' },&#13;&#10;                        bottom: { width: 1, color: '#E5E7EB' },&#13;&#10;                    },&#13;&#10;                }}&#13;&#10;                cells={[&#13;&#10;                    [&#13;&#10;                        { text: '主要风险', textStyle: { bold: true, color: '#FFFFFF', fontSize: 16 }, cellStyle: { background: { color: '#0E3F8C' } } },&#13;&#10;                        { text: '影响', textStyle: { bold: true, color: '#FFFFFF', fontSize: 16 }, cellStyle: { background: { color: '#0E3F8C' } } },&#13;&#10;                        { text: '缓解措施', textStyle: { bold: true, color: '#FFFFFF', fontSize: 16 }, cellStyle: { background: { color: '#0E3F8C' } } },&#13;&#10;                    ],&#13;&#10;                    ['外部模型 revision 漂移', '结果不可逐字复现', 'provider 白名单 + fallback；冻结 schedule 与评分器；披露 provider mix 差异'],&#13;&#10;                    [&#13;&#10;                        { text: '评测无独立人工盲审', cellStyle: { background: { color: '#F7F9FC' } } },&#13;&#10;                        { text: '结论强度受限', cellStyle: { background: { color: '#F7F9FC' } } },&#13;&#10;                        { text: '标注为探索性证据，未达标项如实交付、不修饰', cellStyle: { background: { color: '#F7F9FC' } } },&#13;&#10;                    ],&#13;&#10;                    ['单宿主单实例部署', '无跨故障域 HA', '明确交付边界；同宿主接管仅作工程演练，不外推为 HA'],&#13;&#10;                    [&#13;&#10;                        { text: '商家账本为模拟系统', cellStyle: { background: { color: '#F7F9FC' } } },&#13;&#10;                        { text: '不能外推生产效果', cellStyle: { background: { color: '#F7F9FC' } } },&#13;&#10;                        { text: '不宣称生产商家 SLA，真实商家接入列为后续项', cellStyle: { background: { color: '#F7F9FC' } } },&#13;&#10;                    ],&#13;&#10;                ]}&#13;&#10;            /&gt;&#13;&#10;        &lt;/Box&gt;&#13;&#10;&#13;&#10;        {/* 结论条 */}&#13;&#10;        &lt;Box style={{ height: 84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balance-scale' style={{ fill: '#FFFFFF', width: 22, height: 22 }} /&gt;&#13;&#10;            &lt;/Box&gt;&#13;&#10;            &lt;Box style={{ flex: 1 }}&gt;&#13;&#10;                &lt;Text style={{ fontSize: 18, fontWeight: 'bold', color: '#0E3F8C' }}&gt;可行性判断&lt;/Text&gt;&#13;&#10;                &lt;Text style={{ fontSize: 16, color: '#1A2230', lineHeight: 1.55, marginTop: 2 }}&gt;技术上已有前期预研基础；资源上单机可复现；主要风险集中在外部模型漂移与评测强度，均已给出缓解手段与披露方式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6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可行性分析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06 / 06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81000" y="1371600"/>
            <a:ext cx="5619750" cy="2057400"/>
          </a:xfrm>
          <a:prstGeom prst="roundRect">
            <a:avLst>
              <a:gd name="adj" fmla="val 463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609600" y="15621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657350"/>
            <a:ext cx="190500" cy="190500"/>
          </a:xfrm>
          <a:prstGeom prst="rect">
            <a:avLst/>
          </a:prstGeom>
          <a:ln/>
        </p:spPr>
      </p:pic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04900" y="1619250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技术可行性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09600" y="2057400"/>
            <a:ext cx="51625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团队已完成四项机制的前期预研，原型上均可运行并有验证记录；拟沿用真实模型与检索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，商家侧采用可审计的模拟系统，保证方案可复现、可验证。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9600" y="3067050"/>
            <a:ext cx="516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结论：技术路径有前期预研支撑，非纸面设计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191250" y="1371600"/>
            <a:ext cx="5619750" cy="2057400"/>
          </a:xfrm>
          <a:prstGeom prst="roundRect">
            <a:avLst>
              <a:gd name="adj" fmla="val 463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6419850" y="15621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15100" y="1657350"/>
            <a:ext cx="190500" cy="190500"/>
          </a:xfrm>
          <a:prstGeom prst="rect">
            <a:avLst/>
          </a:prstGeom>
          <a:ln/>
        </p:spPr>
      </p:pic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915150" y="1619250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资源可行性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419850" y="2057400"/>
            <a:ext cx="5162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单机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Docker Compose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即可完整复现；依赖锁文件与镜像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digest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冻结；模型推理在远端，本机无需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GPU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3050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未承担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计算。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419850" y="3067050"/>
            <a:ext cx="516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结论：单机可复现，无专用硬件门槛</a:t>
            </a:r>
            <a:endParaRPr/>
          </a:p>
        </p:txBody>
      </p:sp>
      <p:graphicFrame>
        <p:nvGraphicFramePr>
          <p:cNvPr id="321" name=""/>
          <p:cNvGraphicFramePr/>
          <p:nvPr/>
        </p:nvGraphicFramePr>
        <p:xfrm rot="0" flipH="0" flipV="0">
          <a:off x="381000" y="3543300"/>
          <a:ext cx="11430000" cy="1866900"/>
        </p:xfrm>
        <a:graphic>
          <a:graphicData uri="http://schemas.openxmlformats.org/drawingml/2006/table">
            <a:tbl>
              <a:tblGrid>
                <a:gridCol w="2237605">
                  <a:extLst>
                    <a:ext uri="{9D8B030D-6E8A-4147-A177-3AD203B41FA5}">
                      <a16:colId val="1"/>
                    </a:ext>
                  </a:extLst>
                </a:gridCol>
                <a:gridCol w="1761808">
                  <a:extLst>
                    <a:ext uri="{9D8B030D-6E8A-4147-A177-3AD203B41FA5}">
                      <a16:colId val="2"/>
                    </a:ext>
                  </a:extLst>
                </a:gridCol>
                <a:gridCol w="743058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920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主要风险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影响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缓解措施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外部模型 revision 漂移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结果不可逐字复现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provider 白名单 + fallback；冻结 schedule 与评分器；披露 provider mix 差异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评测无独立人工盲审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结论强度受限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标注为探索性证据，未达标项如实交付、不修饰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单宿主单实例部署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无跨故障域 HA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明确交付边界；同宿主接管仅作工程演练，不外推为 HA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商家账本为模拟系统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不能外推生产效果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不宣称生产商家 SLA，真实商家接入列为后续项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22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219200" y="56673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可行性判断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219200" y="58959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技术上已有前期预研基础；资源上单机可复现；主要风险集中在外部模型漂移与评测强度，均已给出缓解手段与披露方式。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31" name=""/>
          <p:cNvPicPr>
            <a:picLocks noChangeAspect="1"/>
          </p:cNvPicPr>
          <p:nvPr/>
        </p:nvPicPr>
        <p:blipFill>
          <a:blip r:embed="rId4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33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5" name="" descr="&lt;Slide style={{ width: 1280, height: 720, background: '#FFFFFF', position: 'relative', fontFamily: 'Microsoft YaHei', padding: '88px 40px 56px 40px' }}&gt;&#10;    {/* A 页眉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网络计算与边缘智能 · 开题答辩&lt;/Text&gt;&#10;        &lt;Box style={{ flexDirection: 'row', alignItems: 'center' }}&gt;&#10;            &lt;Text style={{ fontSize: 14, color: '#B9CDEA', marginRight: 22 }}&gt;电商 L4 级智能客服 Agent 系统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标题块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实施计划与团队分工&lt;/Text&gt;&#10;        &lt;Text style={{ fontSize: 15, color: '#8B97A8', marginLeft: 'auto' }}&gt;06 / 06&lt;/Text&gt;&#10;    &lt;/Box&gt;&#10;&#10;    {/* C 内容区 */}&#10;    &lt;Box style={{ flexDirection: 'column', gap: 12, marginTop: 16, height: 520 }}&gt;&#10;        {/* 六阶段计划 */}&#10;        &lt;Box style={{ flexDirection: 'column', gap: 12, height: 156 }}&gt;&#10;            &lt;Box style={{ flexDirection: 'row', gap: 12, height: 72 }}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1&lt;/Text&gt;&#10;                        &lt;/Box&gt;&#10;                        &lt;Text style={{ fontSize: 15, fontWeight: 'bold', color: '#0E3F8C' }}&gt;需求分析与方案设计&lt;/Text&gt;&#10;                    &lt;/Box&gt;&#10;                    &lt;Text style={{ fontSize: 13, color: '#4A5568', marginTop: 6 }}&gt;第 1–2 周 · 场景梳理、指标定义、架构设计&lt;/Text&gt;&#10;                &lt;/Box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2&lt;/Text&gt;&#10;                        &lt;/Box&gt;&#10;                        &lt;Text style={{ fontSize: 15, fontWeight: 'bold', color: '#0E3F8C' }}&gt;核心执行链路搭建&lt;/Text&gt;&#10;                    &lt;/Box&gt;&#10;                    &lt;Text style={{ fontSize: 13, color: '#4A5568', marginTop: 6 }}&gt;第 3–5 周 · API / Worker、契约与 DAG、工具层&lt;/Text&gt;&#10;                &lt;/Box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3&lt;/Text&gt;&#10;                        &lt;/Box&gt;&#10;                        &lt;Text style={{ fontSize: 15, fontWeight: 'bold', color: '#0E3F8C' }}&gt;四项关键技术实现&lt;/Text&gt;&#10;                    &lt;/Box&gt;&#10;                    &lt;Text style={{ fontSize: 13, color: '#4A5568', marginTop: 6 }}&gt;第 6–8 周 · 规划、路由、记忆、反思与恢复&lt;/Text&gt;&#10;                &lt;/Box&gt;&#10;            &lt;/Box&gt;&#10;&#10;            &lt;Box style={{ flexDirection: 'row', gap: 12, height: 72 }}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4&lt;/Text&gt;&#10;                        &lt;/Box&gt;&#10;                        &lt;Text style={{ fontSize: 15, fontWeight: 'bold', color: '#0E3F8C' }}&gt;安全隔离与工作台&lt;/Text&gt;&#10;                    &lt;/Box&gt;&#10;                    &lt;Text style={{ fontSize: 13, color: '#4A5568', marginTop: 6 }}&gt;第 9–10 周 · 权限、沙箱、React 工作台、SSE&lt;/Text&gt;&#10;                &lt;/Box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5&lt;/Text&gt;&#10;                        &lt;/Box&gt;&#10;                        &lt;Text style={{ fontSize: 15, fontWeight: 'bold', color: '#0E3F8C' }}&gt;评测协议与对照实验&lt;/Text&gt;&#10;                    &lt;/Box&gt;&#10;                    &lt;Text style={{ fontSize: 13, color: '#4A5568', marginTop: 6 }}&gt;第 11–12 周 · 黄金集、基线对照、冻结复现&lt;/Text&gt;&#10;                &lt;/Box&gt;&#10;                &lt;Box style={{ flex: 1, background: '#E8EFF8', border: '1px solid #1E4FA8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6&lt;/Text&gt;&#10;                        &lt;/Box&gt;&#10;                        &lt;Text style={{ fontSize: 15, fontWeight: 'bold', color: '#0E3F8C' }}&gt;验收、文档与结题&lt;/Text&gt;&#10;                    &lt;/Box&gt;&#10;                    &lt;Text style={{ fontSize: 13, color: '#4A5568', marginTop: 6 }}&gt;第 13–14 周 · 连续运行验收、交付文档、答辩&lt;/Text&gt;&#10;                &lt;/Box&gt;&#10;            &lt;/Box&gt;&#10;        &lt;/Box&gt;&#10;&#10;        {/* 里程碑 / 分工 */}&#10;        &lt;Box style={{ flexDirection: 'row', gap: 20, height: 256 }}&gt;&#10;            &lt;Box style={{ width: 700, background: '#F7F9FC', border: '1px solid #D6DCE5', borderRadius: 10, padding: '20px 24px', flexDirection: 'column' }}&gt;&#10;                &lt;Text style={{ fontSize: 22, fontWeight: 'bold', color: '#0E3F8C' }}&gt;里程碑与交付物&lt;/Text&gt;&#10;                &lt;Box style={{ flexDirection: 'column', gap: 6, marginTop: 12 }}&gt;&#10;                    &lt;Box style={{ flexDirection: 'row', gap: 12, alignItems: 'center' }}&gt;&#10;                        &lt;Text style={{ fontSize: 14, fontWeight: 'bold', color: '#FFFFFF', background: '#1E4FA8', padding: '2px 8px', borderRadius: 4 }}&gt;M1&lt;/Text&gt;&#10;                        &lt;Text style={{ fontSize: 16, color: '#1A2230' }}&gt;第 2 周末 · 需求文档、架构设计、评测协议预登记&lt;/Text&gt;&#10;                    &lt;/Box&gt;&#10;                    &lt;Box style={{ flexDirection: 'row', gap: 12, alignItems: 'center' }}&gt;&#10;                        &lt;Text style={{ fontSize: 14, fontWeight: 'bold', color: '#FFFFFF', background: '#1E4FA8', padding: '2px 8px', borderRadius: 4 }}&gt;M2&lt;/Text&gt;&#10;                        &lt;Text style={{ fontSize: 16, color: '#1A2230' }}&gt;第 5 周末 · 核心链路可运行，业务闭环贯通&lt;/Text&gt;&#10;                    &lt;/Box&gt;&#10;                    &lt;Box style={{ flexDirection: 'row', gap: 12, alignItems: 'center' }}&gt;&#10;                        &lt;Text style={{ fontSize: 14, fontWeight: 'bold', color: '#FFFFFF', background: '#1E4FA8', padding: '2px 8px', borderRadius: 4 }}&gt;M3&lt;/Text&gt;&#10;                        &lt;Text style={{ fontSize: 16, color: '#1A2230' }}&gt;第 8 周末 · 四项关键技术就位并通过内部验收&lt;/Text&gt;&#10;                    &lt;/Box&gt;&#10;                    &lt;Box style={{ flexDirection: 'row', gap: 12, alignItems: 'center' }}&gt;&#10;                        &lt;Text style={{ fontSize: 14, fontWeight: 'bold', color: '#FFFFFF', background: '#1E4FA8', padding: '2px 8px', borderRadius: 4 }}&gt;M4&lt;/Text&gt;&#10;                        &lt;Text style={{ fontSize: 16, color: '#1A2230' }}&gt;第 14 周末 · 对照实验、连续运行验收、交付文档与答辩&lt;/Text&gt;&#10;                    &lt;/Box&gt;&#10;                &lt;/Box&gt;&#10;            &lt;/Box&gt;&#10;&#10;            &lt;Box style={{ width: 480, background: '#FFFFFF', border: '1px solid #D6DCE5', borderRadius: 10, padding: '20px 24px', flexDirection: 'column' }}&gt;&#10;                &lt;Text style={{ fontSize: 22, fontWeight: 'bold', color: '#0E3F8C' }}&gt;团队分工&lt;/Text&gt;&#10;                &lt;Box style={{ flexDirection: 'column', gap: 4, marginTop: 8 }}&gt;&#10;                    &lt;Box style={{ flexDirection: 'row', gap: 12, alignItems: 'flex-start' }}&gt;&#10;                        &lt;Text style={{ fontSize: 15, fontWeight: 'bold', color: '#1E4FA8', width: 60 }}&gt;王富祥&lt;/Text&gt;&#10;                        &lt;Text style={{ fontSize: 15, color: '#1A2230', lineHeight: 1.5, flex: 1 }}&gt;Agent 核心与规划契约（TaskSpec / 校验 DAG）、评测协议与实验&lt;/Text&gt;&#10;                    &lt;/Box&gt;&#10;                    &lt;Box style={{ flexDirection: 'row', gap: 12, alignItems: 'flex-start' }}&gt;&#10;                        &lt;Text style={{ fontSize: 15, fontWeight: 'bold', color: '#1E4FA8', width: 60 }}&gt;曹树桐&lt;/Text&gt;&#10;                        &lt;Text style={{ fontSize: 15, color: '#1A2230', lineHeight: 1.5, flex: 1 }}&gt;商家业务与工具路由（MCP 工具层）、检索与记忆模块&lt;/Text&gt;&#10;                    &lt;/Box&gt;&#10;                    &lt;Box style={{ flexDirection: 'row', gap: 12, alignItems: 'flex-start' }}&gt;&#10;                        &lt;Text style={{ fontSize: 15, fontWeight: 'bold', color: '#1E4FA8', width: 60 }}&gt;张藩&lt;/Text&gt;&#10;                        &lt;Text style={{ fontSize: 15, color: '#1A2230', lineHeight: 1.5, flex: 1 }}&gt;API 与权限安全、React 工作台、部署与可观测（本次汇报人）&lt;/Text&gt;&#10;                    &lt;/Box&gt;&#10;                &lt;/Box&gt;&#10;            &lt;/Box&gt;&#10;        &lt;/Box&gt;&#10;&#10;        {/* 计划说明条 */}&#10;        &lt;Box style={{ height: 84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calendar-check' style={{ fill: '#FFFFFF', width: 22, height: 22 }} /&gt;&#10;            &lt;/Box&gt;&#10;            &lt;Box style={{ flex: 1 }}&gt;&#10;                &lt;Text style={{ fontSize: 18, fontWeight: 'bold', color: '#0E3F8C' }}&gt;计划说明&lt;/Text&gt;&#10;                &lt;Text style={{ fontSize: 16, color: '#1A2230', lineHeight: 1.55, marginTop: 2 }}&gt;阶段之间预留约 1 周缓冲；对照实验依赖真实模型 API，需提前申请额度；若单项未达预期目标，按预登记规则如实记录并调整后续阶段范围。&lt;/Text&gt;&#10;            &lt;/Box&gt;&#10;        &lt;/Box&gt;&#10;    &lt;/Box&gt;&#10;&#10;    {/* D 页脚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北京交通大学 · 软件工程（专硕）&lt;/Text&gt;&#10;        &lt;Text style={{ fontSize: 14, color: '#0E3F8C', fontWeight: 'bold' }}&gt;1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实施计划与团队分工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06 / 06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381000" y="13716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5143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8102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00100" y="14859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需求分析与方案设计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14350" y="17335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1–2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场景梳理、指标定义、架构设计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229100" y="13716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43624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42912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648200" y="14859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核心执行链路搭建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362450" y="17335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3–5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API / Worker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、契约与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DAG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、工具层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077200" y="13716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82105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27722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496300" y="14859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四项关键技术实现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210550" y="17335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6–8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规划、路由、记忆、反思与恢复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1000" y="21717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5143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81025" y="22860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安全隔离与工作台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14350" y="25336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9–10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权限、沙箱、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工作台、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SSE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229100" y="21717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43624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429125" y="22860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648200" y="22860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评测协议与对照实验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362450" y="25336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11–12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黄金集、基线对照、冻结复现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8077200" y="21717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82105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277225" y="22860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496300" y="22860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验收、文档与结题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210550" y="25336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13–14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连续运行验收、交付文档、答辩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381000" y="2971800"/>
            <a:ext cx="6667500" cy="2438400"/>
          </a:xfrm>
          <a:prstGeom prst="roundRect">
            <a:avLst>
              <a:gd name="adj" fmla="val 390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里程碑与交付物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3533775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38100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M1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04900" y="3543300"/>
            <a:ext cx="3362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周末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需求文档、架构设计、评测协议预登记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37909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3790950"/>
            <a:ext cx="38100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M2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04900" y="3800475"/>
            <a:ext cx="2905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周末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核心链路可运行，业务闭环贯通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4048125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38100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M3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104900" y="4057650"/>
            <a:ext cx="3057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周末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四项关键技术就位并通过内部验收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43053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38100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M4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04900" y="4314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周末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对照实验、连续运行验收、交付文档与答辩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7239000" y="2971800"/>
            <a:ext cx="4572000" cy="24384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467600" y="3162300"/>
            <a:ext cx="411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团队分工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467600" y="3495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王富祥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153400" y="34956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核心与规划契约（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TaskSpec /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校验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DAG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）、评测协议与实验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467600" y="4048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曹树桐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153400" y="404812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商家业务与工具路由（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工具层）、检索与记忆模块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467600" y="4600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张藩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153400" y="46005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与权限安全、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工作台、部署与可观测（本次汇报人）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3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219200" y="56673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计划说明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219200" y="58959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阶段之间预留约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周缓冲；对照实验依赖真实模型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，需提前申请额度；若单项未达预期目标，按预登记规则如实记录并调整后续阶段范围。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01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40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5" name="" descr="&lt;Slide style={{ width: 1280, height: 720, background: '#FFFFFF', position: 'relative', fontFamily: 'Microsoft YaHei', padding: '64px 0 72px 0' }}&gt;&#13;&#10;    {/* 顶部深蓝条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主体 */}&#13;&#10;    &lt;Box style={{ flexDirection: 'column', alignItems: 'center', padding: '52px 120px 0 120px' }}&gt;&#13;&#10;        &lt;Text style={{ fontSize: 46, fontWeight: 'bold', color: '#0E3F8C', letterSpacing: 5 }}&gt;敬请各位老师批评指正&lt;/Text&gt;&#13;&#10;        &lt;Text style={{ fontFamily: 'Times New Roman', fontSize: 20, color: '#3D7BD9', letterSpacing: 2, marginTop: 12 }}&gt;Thank you — questions and comments are welcome&lt;/Text&gt;&#13;&#10;        &lt;Box style={{ width: 120, height: 5, background: '#1E4FA8', borderRadius: 3, marginTop: 26 }} /&gt;&#13;&#10;        &lt;Text style={{ fontSize: 18, color: '#4A5568', lineHeight: 1.8, marginTop: 24, textAlign: 'center' }}&gt;感谢高博老师的悉心指导，感谢王富祥、曹树桐两位同学的协作，也感谢课程组提供的学习机会。&lt;/Text&gt;&#13;&#10;&#13;&#10;        &lt;Box style={{ width: 1040, background: '#F7F9FC', border: '1px solid #D6DCE5', borderRadius: 10, padding: '18px 24px', marginTop: 24, flexDirection: 'column', gap: 6 }}&gt;&#13;&#10;            &lt;Text style={{ fontSize: 17, fontWeight: 'bold', color: '#0E3F8C' }}&gt;主要参考来源与前期基础&lt;/Text&gt;&#13;&#10;            &lt;Text style={{ fontSize: 15, color: '#4A5568', lineHeight: 1.6 }}&gt;1. 团队前期预研材料：系统架构设计文档、关键技术原型与评测协议（2026-10-11）。&lt;/Text&gt;&#13;&#10;            &lt;Text style={{ fontSize: 15, color: '#4A5568', lineHeight: 1.6 }}&gt;2. IDC 数据：2025 年中国企业级智能客服市场规模 71.9 亿元、同比增长 55.3%（2026 年报道）。&lt;/Text&gt;&#13;&#10;            &lt;Text style={{ fontSize: 15, color: '#4A5568', lineHeight: 1.6 }}&gt;3. 中国信通院《智能体技术和应用研究报告（2025 年）》：认知规划能力、场景创新与安全治理仍待解决。&lt;/Text&gt;&#13;&#10;            &lt;Text style={{ fontSize: 15, color: '#4A5568', lineHeight: 1.6 }}&gt;4. LangGraph、MCP（Model Context Protocol）与 AG-UI 官方文档及协议规范。&lt;/Text&gt;&#13;&#10;            &lt;Text style={{ fontSize: 15, color: '#4A5568', lineHeight: 1.6 }}&gt;5. 模型与检索 API：OpenRouter deepseek/deepseek-v4.1-flash；阿里云百炼 text-embedding-v4 与 qwen3-rerank。&lt;/Text&gt;&#13;&#10;        &lt;/Box&gt;&#13;&#10;    &lt;/Box&gt;&#13;&#10;&#13;&#10;    {/* 底部信息条 */}&#13;&#10;    &lt;Box style={{ position: 'absolute', bottom: 0, left: 0, width: 1280, height: 72, background: '#F7F9FC', borderTop: '1px solid #D6DCE5', flexDirection: 'row', alignItems: 'center', justifyContent: 'space-between', padding: '0 44px' }}&gt;&#13;&#10;        &lt;Text style={{ fontSize: 16, color: '#4A5568', letterSpacing: 1 }}&gt;北京交通大学 · 软件工程（专硕）&lt;/Text&gt;&#13;&#10;        &lt;Text style={{ fontSize: 16, color: '#0E3F8C', fontWeight: 'bold', letterSpacing: 1 }}&gt;2026 年 10 月&lt;/Text&gt;&#13;&#10;        &lt;Text style={{ fontSize: 15, color: '#0E3F8C', fontWeight: 'bold' }}&gt;18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3667125" y="1104900"/>
            <a:ext cx="48577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375">
                <a:solidFill>
                  <a:srgbClr val="0E3F8C"/>
                </a:solidFill>
                <a:latin typeface="Microsoft YaHei"/>
                <a:ea typeface="Microsoft YaHei"/>
              </a:rPr>
              <a:t>敬请各位老师批评指正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657600" y="17526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3D7BD9"/>
                </a:solidFill>
                <a:latin typeface="Times New Roman"/>
                <a:ea typeface="Times New Roman"/>
              </a:rPr>
              <a:t>Thank you — questions and comments are welcome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5524500" y="2228850"/>
            <a:ext cx="1143000" cy="47625"/>
          </a:xfrm>
          <a:prstGeom prst="roundRect">
            <a:avLst>
              <a:gd name="adj" fmla="val 6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2409825" y="2505075"/>
            <a:ext cx="737235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感谢高博老师的悉心指导，感谢王富祥、曹树桐两位同学的协作，也感谢课程组提供的学习机会。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1143000" y="3105150"/>
            <a:ext cx="9906000" cy="2209800"/>
          </a:xfrm>
          <a:prstGeom prst="roundRect">
            <a:avLst>
              <a:gd name="adj" fmla="val 431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371600" y="3276600"/>
            <a:ext cx="944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主要参考来源与前期基础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371600" y="3533775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团队前期预研材料：系统架构设计文档、关键技术原型与评测协议（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2026-10-11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371600" y="3867150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2. IDC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年中国企业级智能客服市场规模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71.9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亿元、同比增长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55.3%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年报道）。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371600" y="4200525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3.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中国信通院《智能体技术和应用研究报告（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年）》：认知规划能力、场景创新与安全治理仍待解决。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371600" y="4533900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4. LangGraph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MCP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Model Context Protocol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AG-UI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官方文档及协议规范。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371600" y="4867275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5.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模型与检索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OpenRouter deepseek/deepseek-v4.1-flash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；阿里云百炼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text-embedding-v4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qwen3-rerank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22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423" name=""/>
          <p:cNvSpPr/>
          <p:nvPr/>
        </p:nvSpPr>
        <p:spPr>
          <a:xfrm rot="0" flipH="0" flipV="0">
            <a:off x="0" y="6181725"/>
            <a:ext cx="12192000" cy="676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0" y="6172200"/>
            <a:ext cx="12192000" cy="685800"/>
          </a:xfrm>
          <a:custGeom>
            <a:pathLst>
              <a:path w="1280" h="7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19100" y="642937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4A556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200" spc="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75">
                <a:solidFill>
                  <a:srgbClr val="4A556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496050" y="6429375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 b="1" spc="75">
                <a:solidFill>
                  <a:srgbClr val="0E3F8C"/>
                </a:solidFill>
                <a:latin typeface="Microsoft YaHei"/>
                <a:ea typeface="Microsoft YaHei"/>
              </a:rPr>
              <a:t>年</a:t>
            </a:r>
            <a:r>
              <a:rPr lang="en-US" sz="120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 b="1" spc="75">
                <a:solidFill>
                  <a:srgbClr val="0E3F8C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258550" y="64389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2026-10-13T23:17:56Z</dcterms:created>
  <dcterms:modified xsi:type="dcterms:W3CDTF">2026-10-13T23:17:56Z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{"AIGC":{"Label":"1","ContentProducer":"00119111010856365494821B355","ProduceID":"01a13585d3cd78b6b03351f483a2ebe0","ReservedCode1":"","ContentPropagator":"00119111010856365494821B355","PropagateID":"01a13585d3cd78b6b03351f483a2ebe0","ReservedCode2":""}}</vt:lpwstr>
  </property>
</Properties>
</file>