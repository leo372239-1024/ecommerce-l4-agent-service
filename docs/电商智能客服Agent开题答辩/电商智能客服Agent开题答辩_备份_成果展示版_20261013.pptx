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4" Type="http://schemas.openxmlformats.org/officeDocument/2006/relationships/slide" Target="slides/slide4.xml" /><Relationship Id="rId22" Type="http://schemas.openxmlformats.org/officeDocument/2006/relationships/viewProps" Target="viewProps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3.svg" /><Relationship Id="rId5" Type="http://schemas.openxmlformats.org/officeDocument/2006/relationships/image" Target="media/image1.png" /><Relationship Id="rId2" Type="http://schemas.openxmlformats.org/officeDocument/2006/relationships/image" Target="media/image20.svg" /><Relationship Id="rId3" Type="http://schemas.openxmlformats.org/officeDocument/2006/relationships/image" Target="media/image24.svg" /><Relationship Id="rId4" Type="http://schemas.openxmlformats.org/officeDocument/2006/relationships/image" Target="media/image2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6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.png" /><Relationship Id="rId1" Type="http://schemas.openxmlformats.org/officeDocument/2006/relationships/image" Target="media/image27.svg" /><Relationship Id="rId2" Type="http://schemas.openxmlformats.org/officeDocument/2006/relationships/image" Target="media/image28.svg" /></Relationships>
</file>

<file path=ppt/slides/_rels/slide9.xml.rels><?xml version="1.0" encoding="UTF-8" standalone="yes"?><Relationships xmlns="http://schemas.openxmlformats.org/package/2006/relationships"><Relationship Id="rId4" Type="http://schemas.openxmlformats.org/officeDocument/2006/relationships/image" Target="media/image32.svg" /><Relationship Id="rId0" Type="http://schemas.openxmlformats.org/officeDocument/2006/relationships/slideLayout" Target="../slideLayouts/slideLayout1.xml" /><Relationship Id="rId5" Type="http://schemas.openxmlformats.org/officeDocument/2006/relationships/image" Target="media/image1.png" /><Relationship Id="rId3" Type="http://schemas.openxmlformats.org/officeDocument/2006/relationships/image" Target="media/image31.svg" /><Relationship Id="rId1" Type="http://schemas.openxmlformats.org/officeDocument/2006/relationships/image" Target="media/image29.svg" /><Relationship Id="rId2" Type="http://schemas.openxmlformats.org/officeDocument/2006/relationships/image" Target="media/image30.svg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5" Type="http://schemas.openxmlformats.org/officeDocument/2006/relationships/image" Target="media/image1.png" /><Relationship Id="rId2" Type="http://schemas.openxmlformats.org/officeDocument/2006/relationships/image" Target="media/image3.svg" /><Relationship Id="rId4" Type="http://schemas.openxmlformats.org/officeDocument/2006/relationships/image" Target="media/image5.svg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1.png" /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7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5" Type="http://schemas.openxmlformats.org/officeDocument/2006/relationships/image" Target="media/image12.svg" /><Relationship Id="rId2" Type="http://schemas.openxmlformats.org/officeDocument/2006/relationships/image" Target="media/image9.svg" /><Relationship Id="rId7" Type="http://schemas.openxmlformats.org/officeDocument/2006/relationships/image" Target="media/image1.png" /><Relationship Id="rId6" Type="http://schemas.openxmlformats.org/officeDocument/2006/relationships/image" Target="media/image13.svg" /><Relationship Id="rId3" Type="http://schemas.openxmlformats.org/officeDocument/2006/relationships/image" Target="media/image10.svg" /><Relationship Id="rId4" Type="http://schemas.openxmlformats.org/officeDocument/2006/relationships/image" Target="media/image11.svg" 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3.svg" /><Relationship Id="rId3" Type="http://schemas.openxmlformats.org/officeDocument/2006/relationships/image" Target="media/image1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png" /><Relationship Id="rId1" Type="http://schemas.openxmlformats.org/officeDocument/2006/relationships/image" Target="media/image16.svg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4" Type="http://schemas.openxmlformats.org/officeDocument/2006/relationships/image" Target="media/image1.png" /><Relationship Id="rId3" Type="http://schemas.openxmlformats.org/officeDocument/2006/relationships/image" Target="media/image19.svg" /><Relationship Id="rId2" Type="http://schemas.openxmlformats.org/officeDocument/2006/relationships/image" Target="media/image18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Relationship Id="rId4" Type="http://schemas.openxmlformats.org/officeDocument/2006/relationships/image" Target="media/image1.png" /><Relationship Id="rId2" Type="http://schemas.openxmlformats.org/officeDocument/2006/relationships/image" Target="media/image21.svg" /><Relationship Id="rId3" Type="http://schemas.openxmlformats.org/officeDocument/2006/relationships/image" Target="media/image22.sv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position: 'relative', fontFamily: 'Microsoft YaHei', padding: 0 }}&gt;&#10;    {/* 顶部深蓝条 */}&#10;    &lt;Box style={{ position: 'absolute', top: 0, left: 0, width: 1280, height: 64, background: '#0E3F8C', flexDirection: 'row', alignItems: 'center', justifyContent: 'space-between', padding: '0 0 0 40px' }}&gt;&#10;        &lt;Text style={{ fontSize: 18, color: '#FFFFFF', letterSpacing: 2 }}&gt;网络计算与边缘智能&lt;/Text&gt;&#10;        &lt;Box style={{ flexDirection: 'row', alignItems: 'center' }}&gt;&#10;            &lt;Text style={{ fontSize: 16, color: '#B9CDEA', letterSpacing: 1, marginRight: 22 }}&gt;课程项目开题答辩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左侧竖向强调块 */}&#10;    &lt;Box style={{ position: 'absolute', top: 64, left: 0, width: 10, height: 568, background: '#1E4FA8' }} /&gt;&#10;    {/* 右上浅蓝装饰弧 */}&#10;    &lt;Box style={{ position: 'absolute', top: 64, right: 0, width: 300, height: 260, background: '#F0F5FC', borderBottomLeftRadius: 260 }} /&gt;&#10;&#10;    {/* 封面主体 */}&#10;    &lt;Box style={{ position: 'absolute', top: 132, left: 84, width: 1120, flexDirection: 'column' }}&gt;&#10;        &lt;Box style={{ flexDirection: 'row', alignItems: 'center', gap: 12, height: 36 }}&gt;&#10;            &lt;Box style={{ padding: '6px 20px', background: '#E8EFF8', borderRadius: 18, border: '1px solid #C9DCF5' }}&gt;&#10;                &lt;Text style={{ fontSize: 17, color: '#1E4FA8', fontWeight: 'bold', letterSpacing: 1 }}&gt;课程项目开题答辩&lt;/Text&gt;&#10;            &lt;/Box&gt;&#10;            &lt;Text style={{ fontSize: 16, color: '#8B97A8' }}&gt;Research Proposal Defense&lt;/Text&gt;&#10;        &lt;/Box&gt;&#10;&#10;        &lt;Text style={{ fontSize: 60, fontWeight: 'bold', color: '#0E3F8C', lineHeight: 1.25, marginTop: 22 }}&gt;电商 L4 级智能客服 Agent 系统&lt;/Text&gt;&#10;&#10;        &lt;Text style={{ fontFamily: 'Times New Roman', fontSize: 23, color: '#3D7BD9', lineHeight: 1.5, marginTop: 10 }}&gt;A Verifiable Execution Loop for High-Risk After-Sales Tasks&lt;/Text&gt;&#10;&#10;        &lt;Box style={{ width: 140, height: 5, background: '#1E4FA8', borderRadius: 3, marginTop: 26 }} /&gt;&#10;&#10;        &lt;Box style={{ flexDirection: 'row', gap: 56, marginTop: 34 }}&gt;&#10;            &lt;Box style={{ flexDirection: 'column', gap: 18 }}&gt;&#10;                &lt;Box style={{ flexDirection: 'row', gap: 10 }}&gt;&#10;                    &lt;Text style={{ fontSize: 20, color: '#8B97A8', width: 92 }}&gt;汇报人&lt;/Text&gt;&#10;                    &lt;Text style={{ fontSize: 22, color: '#1A2230', fontWeight: 'bold' }}&gt;张藩&lt;/Text&gt;&#10;                &lt;/Box&gt;&#10;                &lt;Box style={{ flexDirection: 'row', gap: 10 }}&gt;&#10;                    &lt;Text style={{ fontSize: 20, color: '#8B97A8', width: 92 }}&gt;指导教师&lt;/Text&gt;&#10;                    &lt;Text style={{ fontSize: 22, color: '#1A2230', fontWeight: 'bold' }}&gt;高博 老师&lt;/Text&gt;&#10;                &lt;/Box&gt;&#10;            &lt;/Box&gt;&#10;            &lt;Box style={{ flexDirection: 'column', gap: 18 }}&gt;&#10;                &lt;Box style={{ flexDirection: 'row', gap: 10 }}&gt;&#10;                    &lt;Text style={{ fontSize: 20, color: '#8B97A8', width: 92 }}&gt;小组成员&lt;/Text&gt;&#10;                    &lt;Text style={{ fontSize: 22, color: '#1A2230' }}&gt;王富祥 · 曹树桐 · 张藩&lt;/Text&gt;&#10;                &lt;/Box&gt;&#10;                &lt;Box style={{ flexDirection: 'row', gap: 10 }}&gt;&#10;                    &lt;Text style={{ fontSize: 20, color: '#8B97A8', width: 92 }}&gt;专业方向&lt;/Text&gt;&#10;                    &lt;Text style={{ fontSize: 22, color: '#1A2230' }}&gt;软件工程（专业硕士）&lt;/Text&gt;&#10;                &lt;/Box&gt;&#10;            &lt;/Box&gt;&#10;        &lt;/Box&gt;&#10;    &lt;/Box&gt;&#10;&#10;    {/* 底部信息条 */}&#10;    &lt;Box style={{ position: 'absolute', bottom: 0, left: 0, width: 1280, height: 88, background: '#F7F9FC', borderTop: '1px solid #D6DCE5', flexDirection: 'row', alignItems: 'center', justifyContent: 'space-between', padding: '0 44px' }}&gt;&#10;        &lt;Text style={{ fontSize: 18, color: '#4A5568', letterSpacing: 1 }}&gt;北京交通大学 · 软件工程（专硕）&lt;/Text&gt;&#10;        &lt;Text style={{ fontSize: 18, color: '#0E3F8C', fontWeight: 'bold', letterSpacing: 1 }}&gt;2026 年 10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2000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877300" y="2095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B9CDEA"/>
                </a:solidFill>
                <a:latin typeface="Microsoft YaHei"/>
                <a:ea typeface="Microsoft YaHei"/>
              </a:rPr>
              <a:t>课程项目开题答辩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0" y="609600"/>
            <a:ext cx="95250" cy="5410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9334500" y="609600"/>
            <a:ext cx="2857500" cy="2476500"/>
          </a:xfrm>
          <a:custGeom>
            <a:pathLst>
              <a:path w="300" h="260">
                <a:moveTo>
                  <a:pt x="0" y="0"/>
                </a:moveTo>
                <a:lnTo>
                  <a:pt x="300" y="0"/>
                </a:lnTo>
                <a:lnTo>
                  <a:pt x="300" y="0"/>
                </a:lnTo>
                <a:lnTo>
                  <a:pt x="300" y="260"/>
                </a:lnTo>
                <a:lnTo>
                  <a:pt x="300" y="260"/>
                </a:lnTo>
                <a:lnTo>
                  <a:pt x="260" y="260"/>
                </a:lnTo>
                <a:cubicBezTo>
                  <a:pt x="117" y="260"/>
                  <a:pt x="0" y="143"/>
                  <a:pt x="0" y="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00100" y="1276350"/>
            <a:ext cx="1752600" cy="314325"/>
          </a:xfrm>
          <a:prstGeom prst="roundRect">
            <a:avLst>
              <a:gd name="adj" fmla="val 54545"/>
            </a:avLst>
          </a:prstGeom>
          <a:solidFill>
            <a:srgbClr val="E8EFF8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90600" y="1333500"/>
            <a:ext cx="1371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75">
                <a:solidFill>
                  <a:srgbClr val="1E4FA8"/>
                </a:solidFill>
                <a:latin typeface="Microsoft YaHei"/>
                <a:ea typeface="Microsoft YaHei"/>
              </a:rPr>
              <a:t>课程项目开题答辩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667000" y="1333500"/>
            <a:ext cx="1971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Research Proposal Defense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00100" y="1809750"/>
            <a:ext cx="10668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电商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级智能客服</a:t>
            </a:r>
            <a:r>
              <a:rPr lang="en-US" sz="45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4500" b="1">
                <a:solidFill>
                  <a:srgbClr val="0E3F8C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2762250"/>
            <a:ext cx="10668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3D7BD9"/>
                </a:solidFill>
                <a:latin typeface="Times New Roman"/>
                <a:ea typeface="Times New Roman"/>
              </a:rPr>
              <a:t>A Verifiable Execution Loop for High-Risk After-Sales Tasks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800100" y="3409950"/>
            <a:ext cx="1333500" cy="47625"/>
          </a:xfrm>
          <a:prstGeom prst="roundRect">
            <a:avLst>
              <a:gd name="adj" fmla="val 6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00100" y="3781425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汇报人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771650" y="37814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张藩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4210050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指导教师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771650" y="4210050"/>
            <a:ext cx="904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高博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老师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209925" y="3781425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小组成员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181475" y="3781425"/>
            <a:ext cx="2028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王富祥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曹树桐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张藩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209925" y="4210050"/>
            <a:ext cx="876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Microsoft YaHei"/>
                <a:ea typeface="Microsoft YaHei"/>
              </a:rPr>
              <a:t>专业方向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181475" y="4210050"/>
            <a:ext cx="2095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软件工程（专业硕士）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6029325"/>
            <a:ext cx="12192000" cy="8286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0" y="6019800"/>
            <a:ext cx="12192000" cy="838200"/>
          </a:xfrm>
          <a:custGeom>
            <a:pathLst>
              <a:path w="1280" h="88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75">
                <a:solidFill>
                  <a:srgbClr val="4A556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350" spc="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 spc="75">
                <a:solidFill>
                  <a:srgbClr val="4A556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534650" y="6343650"/>
            <a:ext cx="1238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350" b="1" spc="75">
                <a:solidFill>
                  <a:srgbClr val="0E3F8C"/>
                </a:solidFill>
                <a:latin typeface="Microsoft YaHei"/>
                <a:ea typeface="Microsoft YaHei"/>
              </a:rPr>
              <a:t>年</a:t>
            </a:r>
            <a:r>
              <a:rPr lang="en-US" sz="135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 b="1" spc="75">
                <a:solidFill>
                  <a:srgbClr val="0E3F8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53" name="" descr="&lt;Slide style={{ width: 1280, height: 720, background: '#FFFFFF', fontFamily: 'Microsoft YaHei', padding: 0, flexDirection: 'row' }}&gt;&#10;    {/* 左侧深蓝导航栏（流式） */}&#10;    &lt;Box style={{ width: 380, height: 720, background: '#0E3F8C', flexDirection: 'column', justifyContent: 'center', padding: '0 48px' }}&gt;&#10;        &lt;Text style={{ fontSize: 46, fontWeight: 'bold', color: '#FFFFFF', letterSpacing: 8 }}&gt;目录&lt;/Text&gt;&#10;        &lt;Text style={{ fontFamily: 'Times New Roman', fontSize: 18, color: '#B9CDEA', letterSpacing: 3, marginTop: 12 }}&gt;CONTENTS&lt;/Text&gt;&#10;        &lt;Box style={{ width: 64, height: 4, background: '#3D7BD9', borderRadius: 2, marginTop: 24 }} /&gt;&#10;        &lt;Text style={{ fontSize: 17, color: '#B9CDEA', lineHeight: 1.9, marginTop: 30 }}&gt;从行业问题与能力断层出发，&lt;br /&gt;依次给出系统设计、关键技术、&lt;br /&gt;量化验证与实施计划。&lt;/Text&gt;&#10;        &lt;Text style={{ fontFamily: 'Times New Roman', fontSize: 14, color: '#7FA3D6', letterSpacing: 1, marginTop: 46 }}&gt;E-Commerce L4 Agent · 2026&lt;/Text&gt;&#10;    &lt;/Box&gt;&#10;&#10;    {/* 右侧六项导航 */}&#10;    &lt;Box style={{ flex: 1, height: 720, position: 'relative', padding: '92px 44px 0 72px' }}&gt;&#10;        &lt;Box style={{ flexDirection: 'row', flexWrap: 'wrap', gap: 20, height: 540 }}&gt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1&lt;/Text&gt;&#10;                    &lt;/Box&gt;&#10;                    &lt;Text style={{ fontSize: 23, fontWeight: 'bold', color: '#0E3F8C' }}&gt;研究背景与问题定义&lt;/Text&gt;&#10;                &lt;/Box&gt;&#10;                &lt;Text style={{ fontSize: 16, color: '#4A5568', lineHeight: 1.7, marginTop: 12 }}&gt;行业规模与需求增长；把「客服能回答」推进到「能办完受控事务」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2&lt;/Text&gt;&#10;                    &lt;/Box&gt;&#10;                    &lt;Text style={{ fontSize: 23, fontWeight: 'bold', color: '#0E3F8C' }}&gt;研究现状与能力断层&lt;/Text&gt;&#10;                &lt;/Box&gt;&#10;                &lt;Text style={{ fontSize: 16, color: '#4A5568', lineHeight: 1.7, marginTop: 12 }}&gt;现有 Agent 技术栈的成熟度盘点；高风险写操作的可验证闭环缺口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3&lt;/Text&gt;&#10;                    &lt;/Box&gt;&#10;                    &lt;Text style={{ fontSize: 23, fontWeight: 'bold', color: '#0E3F8C' }}&gt;研究目标与研究内容&lt;/Text&gt;&#10;                &lt;/Box&gt;&#10;                &lt;Text style={{ fontSize: 16, color: '#4A5568', lineHeight: 1.7, marginTop: 12 }}&gt;总目标拆解为四项深化技术；明确交付形态与验证边界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4&lt;/Text&gt;&#10;                    &lt;/Box&gt;&#10;                    &lt;Text style={{ fontSize: 23, fontWeight: 'bold', color: '#0E3F8C' }}&gt;系统设计与关键技术&lt;/Text&gt;&#10;                &lt;/Box&gt;&#10;                &lt;Text style={{ fontSize: 16, color: '#4A5568', lineHeight: 1.7, marginTop: 12 }}&gt;总体架构与执行闭环、四项关键技术、安全隔离与工程部署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5&lt;/Text&gt;&#10;                    &lt;/Box&gt;&#10;                    &lt;Text style={{ fontSize: 23, fontWeight: 'bold', color: '#0E3F8C' }}&gt;实验方案与量化结果&lt;/Text&gt;&#10;                &lt;/Box&gt;&#10;                &lt;Text style={{ fontSize: 16, color: '#4A5568', lineHeight: 1.7, marginTop: 12 }}&gt;冻结评测协议与基线设计；四项主指标与连续运行验收结果&lt;/Text&gt;&#10;            &lt;/Box&gt;&#10;&#10;            &lt;Box style={{ width: 382, height: 166, background: '#F7F9FC', border: '1px solid #E5E7EB', borderRadius: 10, padding: '18px 22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6&lt;/Text&gt;&#10;                    &lt;/Box&gt;&#10;                    &lt;Text style={{ fontSize: 23, fontWeight: 'bold', color: '#0E3F8C' }}&gt;可行性、进度与成果&lt;/Text&gt;&#10;                &lt;/Box&gt;&#10;                &lt;Text style={{ fontSize: 16, color: '#4A5568', lineHeight: 1.7, marginTop: 12 }}&gt;技术/资源可行性论证、阶段进度安排、预期成果与交付边界&lt;/Text&gt;&#10;            &lt;/Box&gt;&#10;        &lt;/Box&gt;&#10;&#10;        &lt;Box style={{ position: 'absolute', top: 20, right: 44 }}&gt;&#10;            &lt;Image src=&quot;assets/bjtu_logo.png&quot; style={{ width: 158, height: 46, objectFit: 'contain' }} /&gt;&#10;        &lt;/Box&gt;&#10;&#10;        &lt;Box style={{ position: 'absolute', bottom: 24, right: 44 }}&gt;&#10;            &lt;Text style={{ fontSize: 15, color: '#0E3F8C', fontWeight: 'bold' }}&gt;02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457200" y="1866900"/>
            <a:ext cx="2705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600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457200" y="2514600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B9CDEA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457200" y="295275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57200" y="3276600"/>
            <a:ext cx="2705100" cy="1114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A"/>
                </a:solidFill>
                <a:latin typeface="Microsoft YaHei"/>
                <a:ea typeface="Microsoft YaHei"/>
              </a:rPr>
              <a:t>从行业问题与能力断层出发，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A"/>
                </a:solidFill>
                <a:latin typeface="Microsoft YaHei"/>
                <a:ea typeface="Microsoft YaHei"/>
              </a:rPr>
              <a:t>依次给出系统设计、关键技术、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B9CDEA"/>
                </a:solidFill>
                <a:latin typeface="Microsoft YaHei"/>
                <a:ea typeface="Microsoft YaHei"/>
              </a:rPr>
              <a:t>量化验证与实施计划。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57200" y="48291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FA3D6"/>
                </a:solidFill>
                <a:latin typeface="Times New Roman"/>
                <a:ea typeface="Times New Roman"/>
              </a:rPr>
              <a:t>E-Commerce L4 Agent · 2026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4305300" y="876300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4514850" y="10477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581525" y="11239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4991100" y="1095375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研究背景与问题定义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514850" y="1524000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行业规模与需求增长；把「客服能回答」推进到「能办完受控事务」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8134350" y="876300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7" name=""/>
          <p:cNvSpPr/>
          <p:nvPr/>
        </p:nvSpPr>
        <p:spPr>
          <a:xfrm rot="0" flipH="0" flipV="0">
            <a:off x="8343900" y="104775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8410575" y="11239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820150" y="1095375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研究现状与能力断层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8343900" y="1524000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现有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技术栈的成熟度盘点；高风险写操作的可验证闭环缺口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4305300" y="265747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72" name=""/>
          <p:cNvSpPr/>
          <p:nvPr/>
        </p:nvSpPr>
        <p:spPr>
          <a:xfrm rot="0" flipH="0" flipV="0">
            <a:off x="4514850" y="28289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4581525" y="29051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4991100" y="287655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研究目标与研究内容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514850" y="330517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总目标拆解为四项深化技术；明确交付形态与验证边界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8134350" y="265747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8343900" y="28289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8410575" y="29051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820150" y="287655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系统设计与关键技术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343900" y="330517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总体架构与执行闭环、四项关键技术、安全隔离与工程部署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4305300" y="442912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4514850" y="460057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4581525" y="46767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4991100" y="464820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实验方案与量化结果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4514850" y="507682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冻结评测协议与基线设计；四项主指标与连续运行验收结果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8134350" y="442912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7" name=""/>
          <p:cNvSpPr/>
          <p:nvPr/>
        </p:nvSpPr>
        <p:spPr>
          <a:xfrm rot="0" flipH="0" flipV="0">
            <a:off x="8343900" y="460057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8410575" y="46767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820150" y="4648200"/>
            <a:ext cx="19716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可行性、进度与成果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343900" y="5076825"/>
            <a:ext cx="3219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技术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资源可行性论证、阶段进度安排、预期成果与交付边界</a:t>
            </a:r>
            <a:endParaRPr/>
          </a:p>
        </p:txBody>
      </p:sp>
      <p:pic>
        <p:nvPicPr>
          <p:cNvPr id="491" name=""/>
          <p:cNvPicPr>
            <a:picLocks noChangeAspect="1"/>
          </p:cNvPicPr>
          <p:nvPr/>
        </p:nvPicPr>
        <p:blipFill>
          <a:blip r:embed="rId1"/>
          <a:srcRect l="141" t="0" r="141" b="0"/>
          <a:stretch>
            <a:fillRect/>
          </a:stretch>
        </p:blipFill>
        <p:spPr>
          <a:xfrm rot="0" flipH="0" flipV="0">
            <a:off x="10267950" y="190500"/>
            <a:ext cx="1504950" cy="438150"/>
          </a:xfrm>
          <a:prstGeom prst="rect">
            <a:avLst/>
          </a:prstGeom>
          <a:ln/>
        </p:spPr>
      </p:pic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11258550" y="645795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93" name="" descr="&lt;Slide style={{ width: 1280, height: 720, background: '#FFFFFF', position: 'relative', fontFamily: 'Microsoft YaHei', padding: '88px 40px 56px 40px' }}&gt;&#13;&#10;    {/* A 页眉（A3 深蓝顶条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研究背景与问题定义&lt;/Text&gt;&#13;&#10;        &lt;Text style={{ fontSize: 15, color: '#8B97A8', marginLeft: 'auto' }}&gt;01 / 06&lt;/Text&gt;&#13;&#10;    &lt;/Box&gt;&#13;&#10;&#13;&#10;    {/* C 内容区 */}&#13;&#10;    &lt;Box style={{ flexDirection: 'column', gap: 20, marginTop: 16, height: 520 }}&gt;&#13;&#10;        &lt;Box style={{ flexDirection: 'row', gap: 20, height: 400 }}&gt;&#13;&#10;            {/* 左：行业背景与数据锚点 */}&#13;&#10;            &lt;Box style={{ width: 480, background: '#F7F9FC', border: '1px solid #D6DCE5', borderRadius: 10, padding: '22px 26px', flexDirection: 'column' }}&gt;&#13;&#10;                &lt;Box style={{ flexDirection: 'row', alignItems: 'center', gap: 10 }}&gt;&#13;&#10;                    &lt;Box style={{ width: 4, height: 20, background: '#1E4FA8', borderRadius: 2 }} /&gt;&#13;&#10;                    &lt;Text style={{ fontSize: 25, fontWeight: 'bold', color: '#0E3F8C' }}&gt;行业背景&lt;/Text&gt;&#13;&#10;                    &lt;Text style={{ fontSize: 14, color: '#8B97A8', marginLeft: 'auto' }}&gt;需求侧增长&lt;/Text&gt;&#13;&#10;                &lt;/Box&gt;&#13;&#10;                &lt;Text style={{ fontSize: 17, color: '#4A5568', lineHeight: 1.7, marginTop: 12 }}&gt;企业级智能客服已进入规模化采购阶段，市场规模与增速均处于高位。&lt;/Text&gt;&#13;&#10;&#13;&#10;                &lt;Box style={{ marginTop: 20 }}&gt;&#13;&#10;                    &lt;Text style={{ fontSize: 74, fontWeight: 'bold', color: '#1E4FA8', lineHeight: 1 }}&gt;71.9&lt;/Text&gt;&#13;&#10;                    &lt;Box style={{ flexDirection: 'row', alignItems: 'baseline', gap: 10, marginTop: 6 }}&gt;&#13;&#10;                        &lt;Text style={{ fontSize: 22, color: '#1A2230', fontWeight: 'bold' }}&gt;亿元&lt;/Text&gt;&#13;&#10;                        &lt;Text style={{ fontSize: 16, color: '#8B97A8' }}&gt;2025 年中国企业级智能客服市场规模&lt;/Text&gt;&#13;&#10;                    &lt;/Box&gt;&#13;&#10;                &lt;/Box&gt;&#13;&#10;&#13;&#10;                &lt;Box style={{ flexDirection: 'row', alignItems: 'baseline', gap: 12, marginTop: 18 }}&gt;&#13;&#10;                    &lt;Text style={{ fontSize: 44, fontWeight: 'bold', color: '#D9534F', lineHeight: 1 }}&gt;+55.3%&lt;/Text&gt;&#13;&#10;                    &lt;Text style={{ fontSize: 17, color: '#4A5568' }}&gt;同比增长&lt;/Text&gt;&#13;&#10;                &lt;/Box&gt;&#13;&#10;                &lt;Text style={{ fontSize: 14, color: '#8B97A8', marginTop: 'auto' }}&gt;数据来源：IDC 数据（2026 年报道）&lt;/Text&gt;&#13;&#10;            &lt;/Box&gt;&#13;&#10;&#13;&#10;            {/* 右：问题重定义 */}&#13;&#10;            &lt;Box style={{ width: 700, background: '#FFFFFF', border: '1px solid #D6DCE5', borderRadius: 10, padding: '22px 26px', flexDirection: 'column' }}&gt;&#13;&#10;                &lt;Box style={{ flexDirection: 'row', alignItems: 'center', gap: 10 }}&gt;&#13;&#10;                    &lt;Box style={{ width: 4, height: 20, background: '#1E4FA8', borderRadius: 2 }} /&gt;&#13;&#10;                    &lt;Text style={{ fontSize: 25, fontWeight: 'bold', color: '#0E3F8C' }}&gt;问题重定义&lt;/Text&gt;&#13;&#10;                    &lt;Text style={{ fontSize: 14, color: '#8B97A8', marginLeft: 'auto' }}&gt;能力侧缺口&lt;/Text&gt;&#13;&#10;                &lt;/Box&gt;&#13;&#10;                &lt;Text style={{ fontSize: 17, color: '#4A5568', lineHeight: 1.7, marginTop: 12 }}&gt;成熟厂商已解决「客服能回答」，但「客服能办完」仍存在工程能力断层。&lt;/Text&gt;&#13;&#10;&#13;&#10;                &lt;Box style={{ flexDirection: 'row', gap: 14, marginTop: 16 }}&gt;&#13;&#10;                    &lt;Box style={{ flex: 1, background: '#F0F5FC', borderRadius: 8, padding: '14px 16px', borderLeft: '4px solid #3D7BD9' }}&gt;&#13;&#10;                        &lt;Text style={{ fontSize: 18, fontWeight: 'bold', color: '#1E4FA8' }}&gt;已基本解决&lt;/Text&gt;&#13;&#10;                        &lt;Text style={{ fontSize: 16, color: '#4A5568', lineHeight: 1.6, marginTop: 6 }}&gt;FAQ 问答、知识检索、单轮查询——&lt;br /&gt;客服「能回答」&lt;/Text&gt;&#13;&#10;                    &lt;/Box&gt;&#13;&#10;                    &lt;Box style={{ flex: 1, background: '#FDF3F3', borderRadius: 8, padding: '14px 16px', borderLeft: '4px solid #D9534F' }}&gt;&#13;&#10;                        &lt;Text style={{ fontSize: 18, fontWeight: 'bold', color: '#D9534F' }}&gt;仍是缺口&lt;/Text&gt;&#13;&#10;                        &lt;Text style={{ fontSize: 16, color: '#4A5568', lineHeight: 1.6, marginTop: 6 }}&gt;退款、取消等高风险写操作——&lt;br /&gt;缺「能办完且可验证」&lt;/Text&gt;&#13;&#10;                    &lt;/Box&gt;&#13;&#10;                &lt;/Box&gt;&#13;&#10;&#13;&#10;                &lt;Box style={{ background: '#F7F9FC', borderRadius: 8, padding: '12px 16px', marginTop: 16, border: '1px solid #E5E7EB' }}&gt;&#13;&#10;                    &lt;Text style={{ fontSize: 16, color: '#4A5568', lineHeight: 1.6 }}&gt;中国信通院《智能体技术和应用研究报告（2025 年）》将认知规划能力、场景创新与安全治理列为仍需解决的挑战。&lt;/Text&gt;&#13;&#10;                &lt;/Box&gt;&#13;&#10;            &lt;/Box&gt;&#13;&#10;        &lt;/Box&gt;&#13;&#10;&#13;&#10;        {/* 底部结论条 */}&#13;&#10;        &lt;Box style={{ height: 100, background: '#0E3F8C', borderRadius: 10, padding: '0 28px', flexDirection: 'row', alignItems: 'center', gap: 20 }}&gt;&#13;&#10;            &lt;Text style={{ fontSize: 40, fontWeight: 'bold', color: '#3D7BD9', fontFamily: 'Times New Roman', lineHeight: 1 }}&gt;Q&lt;/Text&gt;&#13;&#10;            &lt;Text style={{ fontSize: 20, color: '#FFFFFF', lineHeight: 1.65 }}&gt;研究问题：如何把&lt;b&gt;身份权限、当前证据、客户授权、主管审批、事务幂等与回执对账&lt;/b&gt;，组织成一条对高风险售后事务可验证、可审计、可恢复的执行闭环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3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5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研究背景与问题定义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01 / 06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381000" y="1371600"/>
            <a:ext cx="457200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99" name=""/>
          <p:cNvSpPr/>
          <p:nvPr/>
        </p:nvSpPr>
        <p:spPr>
          <a:xfrm rot="0" flipH="0" flipV="0">
            <a:off x="628650" y="1628775"/>
            <a:ext cx="381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952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行业背景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4038600" y="16478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需求侧增长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28650" y="1981200"/>
            <a:ext cx="4076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企业级智能客服已进入规模化采购阶段，市场规模与增速均处于高位。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28650" y="2838450"/>
            <a:ext cx="407670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550" b="1">
                <a:solidFill>
                  <a:srgbClr val="1E4FA8"/>
                </a:solidFill>
                <a:latin typeface="Microsoft YaHei"/>
                <a:ea typeface="Microsoft YaHei"/>
              </a:rPr>
              <a:t>71.9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28650" y="37433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亿元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43000" y="3743325"/>
            <a:ext cx="25431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年中国企业级智能客服市场规模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28650" y="4171950"/>
            <a:ext cx="16097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534F"/>
                </a:solidFill>
                <a:latin typeface="Microsoft YaHei"/>
                <a:ea typeface="Microsoft YaHei"/>
              </a:rPr>
              <a:t>+55.3%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2352675" y="4171950"/>
            <a:ext cx="6477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同比增长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28650" y="481012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数据来源：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IDC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数据（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年报道）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5143500" y="1371600"/>
            <a:ext cx="6667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0" name=""/>
          <p:cNvSpPr/>
          <p:nvPr/>
        </p:nvSpPr>
        <p:spPr>
          <a:xfrm rot="0" flipH="0" flipV="0">
            <a:off x="5391150" y="1628775"/>
            <a:ext cx="381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5524500" y="1581150"/>
            <a:ext cx="11906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问题重定义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10896600" y="16478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能力侧缺口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391150" y="1981200"/>
            <a:ext cx="617220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成熟厂商已解决「客服能回答」，但「客服能办完」仍存在工程能力断层。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429250" y="2466975"/>
            <a:ext cx="3019425" cy="1123950"/>
          </a:xfrm>
          <a:prstGeom prst="roundRect">
            <a:avLst>
              <a:gd name="adj" fmla="val 678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15" name=""/>
          <p:cNvSpPr/>
          <p:nvPr/>
        </p:nvSpPr>
        <p:spPr>
          <a:xfrm rot="0" flipH="0" flipV="0">
            <a:off x="5429250" y="2466975"/>
            <a:ext cx="3019425" cy="1123950"/>
          </a:xfrm>
          <a:custGeom>
            <a:pathLst>
              <a:path w="317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581650" y="2600325"/>
            <a:ext cx="2676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已基本解决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581650" y="2867025"/>
            <a:ext cx="26765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FAQ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问答、知识检索、单轮查询——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客服「能回答」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8582025" y="2466975"/>
            <a:ext cx="3019425" cy="1123950"/>
          </a:xfrm>
          <a:prstGeom prst="roundRect">
            <a:avLst>
              <a:gd name="adj" fmla="val 6780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19" name=""/>
          <p:cNvSpPr/>
          <p:nvPr/>
        </p:nvSpPr>
        <p:spPr>
          <a:xfrm rot="0" flipH="0" flipV="0">
            <a:off x="8582025" y="2466975"/>
            <a:ext cx="3019425" cy="1123950"/>
          </a:xfrm>
          <a:custGeom>
            <a:pathLst>
              <a:path w="317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8734425" y="2600325"/>
            <a:ext cx="2676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D9534F"/>
                </a:solidFill>
                <a:latin typeface="Microsoft YaHei"/>
                <a:ea typeface="Microsoft YaHei"/>
              </a:rPr>
              <a:t>仍是缺口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734425" y="2867025"/>
            <a:ext cx="26765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退款、取消等高风险写操作——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缺「能办完且可验证」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5391150" y="3743325"/>
            <a:ext cx="6172200" cy="819150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543550" y="3857625"/>
            <a:ext cx="586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中国信通院《智能体技术和应用研究报告（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年）》将认知规划能力、场景创新与安全治理列为仍需解决的挑战。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47700" y="5619750"/>
            <a:ext cx="295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D7BD9"/>
                </a:solidFill>
                <a:latin typeface="Times New Roman"/>
                <a:ea typeface="Times New Roman"/>
              </a:rPr>
              <a:t>Q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1133475" y="5467350"/>
            <a:ext cx="1041082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研究问题：如何把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身份权限、当前证据、客户授权、主管审批、事务幂等与回执对账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，组织成一条对高风险售后事务可验证、可审计、可恢复的执行闭环。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31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53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35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研究现状与工程能力断层&lt;/Text&gt;&#13;&#10;        &lt;Text style={{ fontSize: 15, color: '#8B97A8', marginLeft: 'auto' }}&gt;02 / 06&lt;/Text&gt;&#13;&#10;    &lt;/Box&gt;&#13;&#10;&#13;&#10;    {/* C 内容区 */}&#13;&#10;    &lt;Box style={{ flexDirection: 'column', gap: 20, marginTop: 16, height: 520 }}&gt;&#13;&#10;        &lt;Box style={{ flexDirection: 'row', gap: 20, height: 400 }}&gt;&#13;&#10;            {/* 左：现有技术栈 */}&#13;&#10;            &lt;Box style={{ width: 590, background: '#F7F9FC', border: '1px solid #D6DCE5', borderRadius: 10, padding: '20px 24px', flexDirection: 'column' }}&gt;&#13;&#10;                &lt;Box style={{ flexDirection: 'row', alignItems: 'center', gap: 10 }}&gt;&#13;&#10;                    &lt;FAIcon name='layer-group' style={{ fill: '#3D7BD9', width: 22, height: 22 }} /&gt;&#13;&#10;                    &lt;Text style={{ fontSize: 24, fontWeight: 'bold', color: '#0E3F8C' }}&gt;现有技术栈：组件层面已成熟&lt;/Text&gt;&#13;&#10;                &lt;/Box&gt;&#13;&#10;                &lt;Text style={{ fontSize: 16, color: '#4A5568', lineHeight: 1.6, marginTop: 8 }}&gt;公开框架与协议已把「Agent 能调用工具并回答」做成工程标配。&lt;/Text&gt;&#13;&#10;&#13;&#10;                &lt;Box style={{ flexDirection: 'column', marginTop: 14 }}&gt;&#13;&#10;                    &lt;Box style={{ flexDirection: 'row', gap: 12, alignItems: 'flex-start', paddingBottom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规划与执行&lt;/Text&gt;&#13;&#10;                            &lt;Text style={{ fontSize: 15, color: '#4A5568', lineHeight: 1.5, marginTop: 2 }}&gt;ReAct 式工具调用、函数调用、LangGraph 持久执行与 checkpoint&lt;/Text&gt;&#13;&#10;                        &lt;/Box&gt;&#13;&#10;                    &lt;/Box&gt;&#13;&#10;                    &lt;Box style={{ flexDirection: 'row', gap: 12, alignItems: 'flex-start', paddingVertical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检索增强&lt;/Text&gt;&#13;&#10;                            &lt;Text style={{ fontSize: 15, color: '#4A5568', lineHeight: 1.5, marginTop: 2 }}&gt;BM25 词法召回 + 向量语义召回 + RRF 融合 + 精排模型&lt;/Text&gt;&#13;&#10;                        &lt;/Box&gt;&#13;&#10;                    &lt;/Box&gt;&#13;&#10;                    &lt;Box style={{ flexDirection: 'row', gap: 12, alignItems: 'flex-start', paddingVertical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记忆机制&lt;/Text&gt;&#13;&#10;                            &lt;Text style={{ fontSize: 15, color: '#4A5568', lineHeight: 1.5, marginTop: 2 }}&gt;情景 / 语义 / 程序记忆，AWM 工作流模板与受控复用&lt;/Text&gt;&#13;&#10;                        &lt;/Box&gt;&#13;&#10;                    &lt;/Box&gt;&#13;&#10;                    &lt;Box style={{ flexDirection: 'row', gap: 12, alignItems: 'flex-start', paddingVertical: 10, borderBottom: '1px solid #E5E7EB'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工具协议与网关&lt;/Text&gt;&#13;&#10;                            &lt;Text style={{ fontSize: 15, color: '#4A5568', lineHeight: 1.5, marginTop: 2 }}&gt;MCP 标准化商家接口，网关统一授权、提案与参数校验&lt;/Text&gt;&#13;&#10;                        &lt;/Box&gt;&#13;&#10;                    &lt;/Box&gt;&#13;&#10;                    &lt;Box style={{ flexDirection: 'row', gap: 12, alignItems: 'flex-start', paddingTop: 10 }}&gt;&#13;&#10;                        &lt;FAIcon name='check-circle' style={{ fill: '#1E4FA8', width: 20, height: 20, marginTop: 2 }} /&gt;&#13;&#10;                        &lt;Box style={{ flex: 1 }}&gt;&#13;&#10;                            &lt;Text style={{ fontSize: 18, fontWeight: 'bold', color: '#1A2230' }}&gt;可观测&lt;/Text&gt;&#13;&#10;                            &lt;Text style={{ fontSize: 15, color: '#4A5568', lineHeight: 1.5, marginTop: 2 }}&gt;OpenTelemetry → Jaeger / Prometheus / Grafana 全链路 Trace&lt;/Text&gt;&#13;&#10;                        &lt;/Box&gt;&#13;&#10;                    &lt;/Box&gt;&#13;&#10;                &lt;/Box&gt;&#13;&#10;            &lt;/Box&gt;&#13;&#10;&#13;&#10;            {/* 右：能力断层 */}&#13;&#10;            &lt;Box style={{ width: 590, background: '#FFFFFF', border: '1px solid #D6DCE5', borderRadius: 10, padding: '20px 24px', flexDirection: 'column' }}&gt;&#13;&#10;                &lt;Box style={{ flexDirection: 'row', alignItems: 'center', gap: 10 }}&gt;&#13;&#10;                    &lt;FAIcon name='exclamation-triangle' style={{ fill: '#D9534F', width: 22, height: 22 }} /&gt;&#13;&#10;                    &lt;Text style={{ fontSize: 24, fontWeight: 'bold', color: '#0E3F8C' }}&gt;能力断层：写操作闭环缺失&lt;/Text&gt;&#13;&#10;                &lt;/Box&gt;&#13;&#10;                &lt;Text style={{ fontSize: 16, color: '#4A5568', lineHeight: 1.6, marginTop: 8 }}&gt;一旦涉及退款、取消等高风险写操作，成熟组件的默认假设即失效。&lt;/Text&gt;&#13;&#10;&#13;&#10;                &lt;Box style={{ flexDirection: 'column', gap: 12, marginTop: 16 }}&gt;&#13;&#10;                    &lt;Box style={{ background: '#FDF3F3', borderLeft: '4px solid #D9534F', borderRadius: 8, padding: '12px 16px' }}&gt;&#13;&#10;                        &lt;Text style={{ fontSize: 19, fontWeight: 'bold', color: '#C0392B' }}&gt;证据与授权未联动&lt;/Text&gt;&#13;&#10;                        &lt;Text style={{ fontSize: 16, color: '#4A5568', lineHeight: 1.6, marginTop: 4 }}&gt;历史摘要被当作当前事实，旧金额与旧审批被继续沿用。&lt;/Text&gt;&#13;&#10;                    &lt;/Box&gt;&#13;&#10;                    &lt;Box style={{ background: '#FDF3F3', borderLeft: '4px solid #D9534F', borderRadius: 8, padding: '12px 16px' }}&gt;&#13;&#10;                        &lt;Text style={{ fontSize: 19, fontWeight: 'bold', color: '#C0392B' }}&gt;写入缺幂等边界&lt;/Text&gt;&#13;&#10;                        &lt;Text style={{ fontSize: 16, color: '#4A5568', lineHeight: 1.6, marginTop: 4 }}&gt;请求超时无法判断事务是否已提交，存在重复扣款 / 退款风险。&lt;/Text&gt;&#13;&#10;                    &lt;/Box&gt;&#13;&#10;                    &lt;Box style={{ background: '#FDF3F3', borderLeft: '4px solid #D9534F', borderRadius: 8, padding: '12px 16px' }}&gt;&#13;&#10;                        &lt;Text style={{ fontSize: 19, fontWeight: 'bold', color: '#C0392B' }}&gt;评测只看终态&lt;/Text&gt;&#13;&#10;                        &lt;Text style={{ fontSize: 16, color: '#4A5568', lineHeight: 1.6, marginTop: 4 }}&gt;SUCCEEDED 不等于订单作用域、当前证据与回执均正确。&lt;/Text&gt;&#13;&#10;                    &lt;/Box&gt;&#13;&#10;                &lt;/Box&gt;&#13;&#10;            &lt;/Box&gt;&#13;&#10;        &lt;/Box&gt;&#13;&#10;&#13;&#10;        {/* 底部定位声明条 */}&#13;&#10;        &lt;Box style={{ height: 100, background: '#F0F5FC', border: '1px solid #C9DCF5', borderRadius: 10, padding: '0 28px', flexDirection: 'row', alignItems: 'center', gap: 18 }}&gt;&#13;&#10;            &lt;Box style={{ width: 44, height: 44, borderRadius: 10, background: '#1E4FA8', justifyContent: 'center', alignItems: 'center' }}&gt;&#13;&#10;                &lt;FAIcon name='bullseye' style={{ fill: '#FFFFFF', width: 22, height: 22 }} /&gt;&#13;&#10;            &lt;/Box&gt;&#13;&#10;            &lt;Box style={{ flex: 1 }}&gt;&#13;&#10;                &lt;Text style={{ fontSize: 18, fontWeight: 'bold', color: '#0E3F8C' }}&gt;本课题的差异化定位&lt;/Text&gt;&#13;&#10;                &lt;Text style={{ fontSize: 17, color: '#1A2230', lineHeight: 1.6, marginTop: 2 }}&gt;不宣称国内市场空白、不宣称超越商业产品；定位是把高风险售后事务的&lt;span style={{ color: '#1E4FA8', fontWeight: 'bold' }}&gt;可验证执行闭环&lt;/span&gt;做出来，并以冻结模拟评测&lt;span style={{ color: '#1E4FA8', fontWeight: 'bold' }}&gt;逐项量化&lt;/span&gt;其效果与边界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4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7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研究现状与工程能力断层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02 / 06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381000" y="1371600"/>
            <a:ext cx="5619750" cy="3819525"/>
          </a:xfrm>
          <a:prstGeom prst="roundRect">
            <a:avLst>
              <a:gd name="adj" fmla="val 249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209550" cy="209550"/>
          </a:xfrm>
          <a:prstGeom prst="rect">
            <a:avLst/>
          </a:prstGeom>
          <a:ln/>
        </p:spPr>
      </p:pic>
      <p:sp>
        <p:nvSpPr>
          <p:cNvPr id="542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2971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现有技术栈：组件层面已成熟</a:t>
            </a:r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09600" y="1914525"/>
            <a:ext cx="5162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公开框架与协议已把「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能调用工具并回答」做成工程标配。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09600" y="2343150"/>
            <a:ext cx="5162550" cy="600075"/>
          </a:xfrm>
          <a:custGeom>
            <a:pathLst>
              <a:path w="542" h="63">
                <a:moveTo>
                  <a:pt x="0" y="62"/>
                </a:moveTo>
                <a:lnTo>
                  <a:pt x="542" y="62"/>
                </a:lnTo>
                <a:lnTo>
                  <a:pt x="542" y="63"/>
                </a:lnTo>
                <a:lnTo>
                  <a:pt x="0" y="6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2362200"/>
            <a:ext cx="190500" cy="190500"/>
          </a:xfrm>
          <a:prstGeom prst="rect">
            <a:avLst/>
          </a:prstGeom>
          <a:ln/>
        </p:spPr>
      </p:pic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14400" y="234315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规划与执行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14400" y="257175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式工具调用、函数调用、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LangGraph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持久执行与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checkpoint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2933700"/>
            <a:ext cx="5162550" cy="504825"/>
          </a:xfrm>
          <a:custGeom>
            <a:pathLst>
              <a:path w="542" h="53">
                <a:moveTo>
                  <a:pt x="0" y="52"/>
                </a:moveTo>
                <a:lnTo>
                  <a:pt x="542" y="52"/>
                </a:lnTo>
                <a:lnTo>
                  <a:pt x="542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2952750"/>
            <a:ext cx="190500" cy="190500"/>
          </a:xfrm>
          <a:prstGeom prst="rect">
            <a:avLst/>
          </a:prstGeom>
          <a:ln/>
        </p:spPr>
      </p:pic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914400" y="293370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检索增强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14400" y="31623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BM25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词法召回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向量语义召回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RRF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融合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精排模型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09600" y="3429000"/>
            <a:ext cx="5162550" cy="504825"/>
          </a:xfrm>
          <a:custGeom>
            <a:pathLst>
              <a:path w="542" h="53">
                <a:moveTo>
                  <a:pt x="0" y="52"/>
                </a:moveTo>
                <a:lnTo>
                  <a:pt x="542" y="52"/>
                </a:lnTo>
                <a:lnTo>
                  <a:pt x="542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448050"/>
            <a:ext cx="190500" cy="190500"/>
          </a:xfrm>
          <a:prstGeom prst="rect">
            <a:avLst/>
          </a:prstGeom>
          <a:ln/>
        </p:spPr>
      </p:pic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914400" y="342900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记忆机制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14400" y="36576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情景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语义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程序记忆，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AWM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工作流模板与受控复用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9600" y="3924300"/>
            <a:ext cx="5162550" cy="504825"/>
          </a:xfrm>
          <a:custGeom>
            <a:pathLst>
              <a:path w="542" h="53">
                <a:moveTo>
                  <a:pt x="0" y="52"/>
                </a:moveTo>
                <a:lnTo>
                  <a:pt x="542" y="52"/>
                </a:lnTo>
                <a:lnTo>
                  <a:pt x="542" y="53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943350"/>
            <a:ext cx="190500" cy="190500"/>
          </a:xfrm>
          <a:prstGeom prst="rect">
            <a:avLst/>
          </a:prstGeom>
          <a:ln/>
        </p:spPr>
      </p:pic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914400" y="392430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工具协议与网关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914400" y="415290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标准化商家接口，网关统一授权、提案与参数校验</a:t>
            </a:r>
            <a:endParaRPr/>
          </a:p>
        </p:txBody>
      </p:sp>
      <p:pic>
        <p:nvPicPr>
          <p:cNvPr id="5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533900"/>
            <a:ext cx="190500" cy="190500"/>
          </a:xfrm>
          <a:prstGeom prst="rect">
            <a:avLst/>
          </a:prstGeom>
          <a:ln/>
        </p:spPr>
      </p:pic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914400" y="4514850"/>
            <a:ext cx="4857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可观测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14400" y="4743450"/>
            <a:ext cx="4857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OpenTelemetry → Jaeger / Prometheus / Grafana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全链路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Trace</a:t>
            </a:r>
            <a:endParaRPr/>
          </a:p>
        </p:txBody>
      </p:sp>
      <p:sp>
        <p:nvSpPr>
          <p:cNvPr id="563" name=""/>
          <p:cNvSpPr/>
          <p:nvPr/>
        </p:nvSpPr>
        <p:spPr>
          <a:xfrm rot="0" flipH="0" flipV="0">
            <a:off x="6191250" y="1371600"/>
            <a:ext cx="561975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19850" y="1600200"/>
            <a:ext cx="209550" cy="209550"/>
          </a:xfrm>
          <a:prstGeom prst="rect">
            <a:avLst/>
          </a:prstGeom>
          <a:ln/>
        </p:spPr>
      </p:pic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6724650" y="156210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能力断层：写操作闭环缺失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419850" y="1914525"/>
            <a:ext cx="51625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一旦涉及退款、取消等高风险写操作，成熟组件的默认假设即失效。</a:t>
            </a:r>
            <a:endParaRPr/>
          </a:p>
        </p:txBody>
      </p:sp>
      <p:sp>
        <p:nvSpPr>
          <p:cNvPr id="567" name=""/>
          <p:cNvSpPr/>
          <p:nvPr/>
        </p:nvSpPr>
        <p:spPr>
          <a:xfrm rot="0" flipH="0" flipV="0">
            <a:off x="6457950" y="2362200"/>
            <a:ext cx="5162550" cy="781050"/>
          </a:xfrm>
          <a:prstGeom prst="roundRect">
            <a:avLst>
              <a:gd name="adj" fmla="val 9756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68" name=""/>
          <p:cNvSpPr/>
          <p:nvPr/>
        </p:nvSpPr>
        <p:spPr>
          <a:xfrm rot="0" flipH="0" flipV="0">
            <a:off x="6457950" y="2362200"/>
            <a:ext cx="5162550" cy="781050"/>
          </a:xfrm>
          <a:custGeom>
            <a:pathLst>
              <a:path w="542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610350" y="247650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证据与授权未联动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610350" y="2733675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历史摘要被当作当前事实，旧金额与旧审批被继续沿用。</a:t>
            </a:r>
            <a:endParaRPr/>
          </a:p>
        </p:txBody>
      </p:sp>
      <p:sp>
        <p:nvSpPr>
          <p:cNvPr id="571" name=""/>
          <p:cNvSpPr/>
          <p:nvPr/>
        </p:nvSpPr>
        <p:spPr>
          <a:xfrm rot="0" flipH="0" flipV="0">
            <a:off x="6457950" y="3257550"/>
            <a:ext cx="5162550" cy="781050"/>
          </a:xfrm>
          <a:prstGeom prst="roundRect">
            <a:avLst>
              <a:gd name="adj" fmla="val 9756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72" name=""/>
          <p:cNvSpPr/>
          <p:nvPr/>
        </p:nvSpPr>
        <p:spPr>
          <a:xfrm rot="0" flipH="0" flipV="0">
            <a:off x="6457950" y="3257550"/>
            <a:ext cx="5162550" cy="781050"/>
          </a:xfrm>
          <a:custGeom>
            <a:pathLst>
              <a:path w="542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6610350" y="337185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写入缺幂等边界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6610350" y="3629025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请求超时无法判断事务是否已提交，存在重复扣款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退款风险。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457950" y="4152900"/>
            <a:ext cx="5162550" cy="781050"/>
          </a:xfrm>
          <a:prstGeom prst="roundRect">
            <a:avLst>
              <a:gd name="adj" fmla="val 9756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6457950" y="4152900"/>
            <a:ext cx="5162550" cy="781050"/>
          </a:xfrm>
          <a:custGeom>
            <a:pathLst>
              <a:path w="542" h="82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8"/>
                </a:lnTo>
                <a:cubicBezTo>
                  <a:pt x="4" y="80"/>
                  <a:pt x="5" y="82"/>
                  <a:pt x="7" y="82"/>
                </a:cubicBezTo>
                <a:cubicBezTo>
                  <a:pt x="3" y="82"/>
                  <a:pt x="0" y="78"/>
                  <a:pt x="0" y="7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610350" y="4267200"/>
            <a:ext cx="4819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评测只看终态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6610350" y="4524375"/>
            <a:ext cx="48196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SUCCEEDED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不等于订单作用域、当前证据与回执均正确。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580" name=""/>
          <p:cNvSpPr/>
          <p:nvPr/>
        </p:nvSpPr>
        <p:spPr>
          <a:xfrm rot="0" flipH="0" flipV="0">
            <a:off x="64770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52475" y="5743575"/>
            <a:ext cx="209550" cy="209550"/>
          </a:xfrm>
          <a:prstGeom prst="rect">
            <a:avLst/>
          </a:prstGeom>
          <a:ln/>
        </p:spPr>
      </p:pic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1238250" y="5581650"/>
            <a:ext cx="1030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本课题的差异化定位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1238250" y="5810250"/>
            <a:ext cx="103060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不宣称国内市场空白、不宣称超越商业产品；定位是把高风险售后事务的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可验证执行闭环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做出来，并以冻结模拟评测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逐项量化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其效果与边界。</a:t>
            </a:r>
            <a:endParaRPr/>
          </a:p>
        </p:txBody>
      </p:sp>
      <p:sp>
        <p:nvSpPr>
          <p:cNvPr id="584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88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58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92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研究目标与研究内容&lt;/Text&gt;&#13;&#10;        &lt;Text style={{ fontSize: 15, color: '#8B97A8', marginLeft: 'auto' }}&gt;03 / 06&lt;/Text&gt;&#13;&#10;    &lt;/Box&gt;&#13;&#10;&#13;&#10;    {/* C 内容区 */}&#13;&#10;    &lt;Box style={{ flexDirection: 'column', gap: 12, marginTop: 16, height: 520 }}&gt;&#13;&#10;        {/* 总目标条 */}&#13;&#10;        &lt;Box style={{ height: 88, background: '#0E3F8C', borderRadius: 10, padding: '13px 26px', flexDirection: 'column', gap: 8 }}&gt;&#13;&#10;            &lt;Box style={{ flexDirection: 'row', alignItems: 'center', gap: 14 }}&gt;&#13;&#10;                &lt;Box style={{ height: 30, padding: '0 12px', background: '#3D7BD9', borderRadius: 6, justifyContent: 'center', alignItems: 'center' }}&gt;&#13;&#10;                    &lt;Text style={{ fontSize: 15, fontWeight: 'bold', color: '#FFFFFF', lineHeight: 1.2 }}&gt;总目标&lt;/Text&gt;&#13;&#10;                &lt;/Box&gt;&#13;&#10;                &lt;Text style={{ fontSize: 16, color: '#B9CDEA', letterSpacing: 1 }}&gt;A controlled, auditable after-sales agent loop&lt;/Text&gt;&#13;&#10;            &lt;/Box&gt;&#13;&#10;            &lt;Text style={{ fontSize: 17, color: '#FFFFFF', lineHeight: 1.45 }}&gt;构建中文单 Agent 全栈客服系统，打通「查询 → 计划 → 事实核验 → 提案 → 确认 / 审批 → 执行 → 回执 → 人工接管」闭环。&lt;/Text&gt;&#13;&#10;        &lt;/Box&gt;&#13;&#10;&#13;&#10;        {/* 四项深化技术 2×2 */}&#13;&#10;        &lt;Box style={{ flexDirection: 'row', flexWrap: 'wrap', gap: 12, height: 328 }}&gt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1&lt;/Text&gt;&#13;&#10;                    &lt;/Box&gt;&#13;&#10;                    &lt;Text style={{ fontSize: 22, fontWeight: 'bold', color: '#0E3F8C' }}&gt;可验证规划&lt;/Text&gt;&#13;&#10;                    &lt;Text style={{ fontSize: 14, color: '#8B97A8', marginLeft: 'auto' }}&gt;Planning&lt;/Text&gt;&#13;&#10;                &lt;/Box&gt;&#13;&#10;                &lt;Text style={{ fontSize: 16, color: '#4A5568', lineHeight: 1.55, marginTop: 10 }}&gt;用 Pydantic TaskSpec 约束输入，编译带依赖关系的可验证 DAG，并检查已发布业务投影的覆盖情况。&lt;/Text&gt;&#13;&#10;                &lt;Text style={{ fontSize: 15, color: '#D9534F', fontWeight: 'bold', marginTop: 'auto' }}&gt;遗漏目标即拒绝「成功」，进入有限修复&lt;/Text&gt;&#13;&#10;            &lt;/Box&gt;&#13;&#10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2&lt;/Text&gt;&#13;&#10;                    &lt;/Box&gt;&#13;&#10;                    &lt;Text style={{ fontSize: 22, fontWeight: 'bold', color: '#0E3F8C' }}&gt;受权工具路由&lt;/Text&gt;&#13;&#10;                    &lt;Text style={{ fontSize: 14, color: '#8B97A8', marginLeft: 'auto' }}&gt;Routing&lt;/Text&gt;&#13;&#10;                &lt;/Box&gt;&#13;&#10;                &lt;Text style={{ fontSize: 16, color: '#4A5568', lineHeight: 1.55, marginTop: 10 }}&gt;认证范围过滤先于检索；40 个真实 MCP 工具按发布方投影契约确定业务效果，参数与版本二次校验。&lt;/Text&gt;&#13;&#10;                &lt;Text style={{ fontSize: 15, color: '#D9534F', fontWeight: 'bold', marginTop: 'auto' }}&gt;模型无权扩张权限&lt;/Text&gt;&#13;&#10;            &lt;/Box&gt;&#13;&#10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3&lt;/Text&gt;&#13;&#10;                    &lt;/Box&gt;&#13;&#10;                    &lt;Text style={{ fontSize: 22, fontWeight: 'bold', color: '#0E3F8C' }}&gt;时效记忆与上下文&lt;/Text&gt;&#13;&#10;                    &lt;Text style={{ fontSize: 14, color: '#8B97A8', marginLeft: 'auto' }}&gt;Memory&lt;/Text&gt;&#13;&#10;                &lt;/Box&gt;&#13;&#10;                &lt;Text style={{ fontSize: 16, color: '#4A5568', lineHeight: 1.55, marginTop: 10 }}&gt;拥有者隔离的实体账本、最近有限片段、历史引用卸载与 Token 预算；回指只用于指代解析。&lt;/Text&gt;&#13;&#10;                &lt;Text style={{ fontSize: 15, color: '#D9534F', fontWeight: 'bold', marginTop: 'auto' }}&gt;旧金额与旧审批不继承&lt;/Text&gt;&#13;&#10;            &lt;/Box&gt;&#13;&#10;&#13;&#10;            &lt;Box style={{ width: 594, height: 158, background: '#F7F9FC', border: '1px solid #D6DCE5', borderRadius: 10, padding: '16px 22px', flexDirection: 'column' }}&gt;&#13;&#10;                &lt;Box style={{ flexDirection: 'row', alignItems: 'center', gap: 12 }}&gt;&#13;&#10;                    &lt;Box style={{ width: 30, height: 30, borderRadius: 8, background: '#1E4FA8', justifyContent: 'center', alignItems: 'center' }}&gt;&#13;&#10;                        &lt;Text style={{ fontSize: 16, fontWeight: 'bold', color: '#FFFFFF', lineHeight: 1.2 }}&gt;04&lt;/Text&gt;&#13;&#10;                    &lt;/Box&gt;&#13;&#10;                    &lt;Text style={{ fontSize: 22, fontWeight: 'bold', color: '#0E3F8C' }}&gt;证据反思与恢复&lt;/Text&gt;&#13;&#10;                    &lt;Text style={{ fontSize: 14, color: '#8B97A8', marginLeft: 'auto' }}&gt;Recovery&lt;/Text&gt;&#13;&#10;                &lt;/Box&gt;&#13;&#10;                &lt;Text style={{ fontSize: 16, color: '#4A5568', lineHeight: 1.55, marginTop: 10 }}&gt;观察包绑定来源、实体、版本与时间；确定性检查优先，幂等键与回执对账保证写入恰好一次。&lt;/Text&gt;&#13;&#10;                &lt;Text style={{ fontSize: 15, color: '#D9534F', fontWeight: 'bold', marginTop: 'auto' }}&gt;无界循环改为安全停止 / 转人工&lt;/Text&gt;&#13;&#10;            &lt;/Box&gt;&#13;&#10;        &lt;/Box&gt;&#13;&#10;&#13;&#10;        {/* 交付形态条 */}&#13;&#10;        &lt;Box style={{ height: 80, background: '#F0F5FC', border: '1px solid #C9DCF5', borderRadius: 10, padding: '0 26px', flexDirection: 'row', alignItems: 'center', gap: 22 }}&gt;&#13;&#10;            &lt;Text style={{ fontSize: 17, fontWeight: 'bold', color: '#0E3F8C', width: 84 }}&gt;交付形态&lt;/Text&gt;&#13;&#10;            &lt;Box style={{ flex: 1, flexDirection: 'row', gap: 20 }}&gt;&#13;&#10;                &lt;Text style={{ fontSize: 16, color: '#1A2230' }}&gt;本地可部署的&lt;span style={{ fontWeight: 'bold', color: '#1E4FA8' }}&gt;全栈 MVP&lt;/span&gt;&lt;/Text&gt;&#13;&#10;                &lt;Text style={{ fontSize: 16, color: '#1A2230' }}&gt;Docker Compose 单宿主编排&lt;/Text&gt;&#13;&#10;                &lt;Text style={{ fontSize: 16, color: '#1A2230' }}&gt;真实模型 API + &lt;span style={{ fontWeight: 'bold', color: '#1E4FA8' }}&gt;可审计模拟账本&lt;/span&gt;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5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4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研究目标与研究内容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03 / 06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381000" y="1371600"/>
            <a:ext cx="11430000" cy="838200"/>
          </a:xfrm>
          <a:prstGeom prst="roundRect">
            <a:avLst>
              <a:gd name="adj" fmla="val 11364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628650" y="1495425"/>
            <a:ext cx="657225" cy="285750"/>
          </a:xfrm>
          <a:prstGeom prst="roundRect">
            <a:avLst>
              <a:gd name="adj" fmla="val 2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742950" y="1533525"/>
            <a:ext cx="4286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总目标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419225" y="1543050"/>
            <a:ext cx="3743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B9CDEA"/>
                </a:solidFill>
                <a:latin typeface="Microsoft YaHei"/>
                <a:ea typeface="Microsoft YaHei"/>
              </a:rPr>
              <a:t>A controlled, auditable after-sales agent loop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28650" y="1857375"/>
            <a:ext cx="109347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构建中文单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全栈客服系统，打通「查询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计划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事实核验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提案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确认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审批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执行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回执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人工接管」闭环。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381000" y="232410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03" name=""/>
          <p:cNvSpPr/>
          <p:nvPr/>
        </p:nvSpPr>
        <p:spPr>
          <a:xfrm rot="0" flipH="0" flipV="0">
            <a:off x="590550" y="24765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38175" y="25050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990600" y="249555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可验证规划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5267325" y="2543175"/>
            <a:ext cx="561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Planning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590550" y="285750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Pydantic TaskSpec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约束输入，编译带依赖关系的可验证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DAG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，并检查已发布业务投影的覆盖情况。</a:t>
            </a:r>
            <a:endParaRPr/>
          </a:p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590550" y="350520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遗漏目标即拒绝「成功」，进入有限修复</a:t>
            </a:r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6153150" y="232410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0" name=""/>
          <p:cNvSpPr/>
          <p:nvPr/>
        </p:nvSpPr>
        <p:spPr>
          <a:xfrm rot="0" flipH="0" flipV="0">
            <a:off x="6362700" y="24765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6410325" y="250507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762750" y="24955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受权工具路由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1096625" y="2543175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Routing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362700" y="285750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认证范围过滤先于检索；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个真实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工具按发布方投影契约确定业务效果，参数与版本二次校验。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362700" y="350520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模型无权扩张权限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381000" y="394335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590550" y="40957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38175" y="41243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90600" y="4114800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时效记忆与上下文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5276850" y="416242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Memory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590550" y="447675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拥有者隔离的实体账本、最近有限片段、历史引用卸载与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预算；回指只用于指代解析。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90550" y="512445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旧金额与旧审批不继承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6153150" y="3943350"/>
            <a:ext cx="5657850" cy="1504950"/>
          </a:xfrm>
          <a:prstGeom prst="roundRect">
            <a:avLst>
              <a:gd name="adj" fmla="val 63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6362700" y="40957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6410325" y="4124325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762750" y="411480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证据反思与恢复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010900" y="4162425"/>
            <a:ext cx="59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Recovery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362700" y="4476750"/>
            <a:ext cx="5238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观察包绑定来源、实体、版本与时间；确定性检查优先，幂等键与回执对账保证写入恰好一次。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362700" y="5124450"/>
            <a:ext cx="523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无界循环改为安全停止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转人工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381000" y="5562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628650" y="5848350"/>
            <a:ext cx="800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交付形态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1638300" y="5848350"/>
            <a:ext cx="1638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本地可部署的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全栈</a:t>
            </a: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 MVP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467100" y="5848350"/>
            <a:ext cx="2066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Docker Compose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单宿主编排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5724525" y="5848350"/>
            <a:ext cx="2171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真实模型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API +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可审计模拟账本</a:t>
            </a:r>
            <a:endParaRPr/>
          </a:p>
        </p:txBody>
      </p:sp>
      <p:sp>
        <p:nvSpPr>
          <p:cNvPr id="635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39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640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43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系统总体架构&lt;/Text&gt;&#13;&#10;        &lt;Text style={{ fontSize: 15, color: '#8B97A8', marginLeft: 'auto' }}&gt;04 / 06&lt;/Text&gt;&#13;&#10;    &lt;/Box&gt;&#13;&#10;&#13;&#10;    {/* C 内容区：分层架构图 + 结论条 */}&#13;&#10;    &lt;Box style={{ flexDirection: 'column', gap: 12, marginTop: 16, height: 520 }}&gt;&#13;&#10;        &lt;Box style={{ flexDirection: 'column', gap: 10, height: 434, marginTop: 12 }}&gt;&#13;&#10;            {/* 用户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用户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客户 · 客服 · 主管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React + Ant Design 工作台&lt;/Text&gt;&#13;&#10;                    &lt;/Box&gt;&#13;&#10;                    &lt;Box style={{ flex: 1, height: 46, background: '#F0F5FC', border: '1px solid #C9DCF5', borderRadius: 6, justifyContent: 'center', padding: '0 14px' }}&gt;&#13;&#10;                        &lt;Text style={{ fontSize: 15, color: '#1E4FA8' }}&gt;REST 提交 · SSE（AG-UI）持久事件&lt;/Text&gt;&#13;&#10;                    &lt;/Box&gt;&#13;&#10;                &lt;/Box&gt;&#13;&#10;            &lt;/Box&gt;&#13;&#10;&#13;&#10;            {/* 接入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接入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Nginx 入口（动态 DNS 解析）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FastAPI API（async · OpenAPI）&lt;/Text&gt;&#13;&#10;                    &lt;/Box&gt;&#13;&#10;                    &lt;Box style={{ flex: 1, height: 46, background: '#F0F5FC', border: '1px solid #C9DCF5', borderRadius: 6, justifyContent: 'center', padding: '0 14px' }}&gt;&#13;&#10;                        &lt;Text style={{ fontSize: 15, color: '#1E4FA8' }}&gt;会话认证 · CSRF · RBAC + 资源 ABAC&lt;/Text&gt;&#13;&#10;                    &lt;/Box&gt;&#13;&#10;                &lt;/Box&gt;&#13;&#10;            &lt;/Box&gt;&#13;&#10;&#13;&#10;            {/* 执行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执行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Redis Pub/Sub 任务唤醒&lt;/Text&gt;&#13;&#10;                    &lt;/Box&gt;&#13;&#10;                    &lt;Box style={{ flex: 1, height: 46, background: '#F0F5FC', border: '1px solid #C9DCF5', borderRadius: 6, justifyContent: 'center', padding: '0 14px' }}&gt;&#13;&#10;                        &lt;Text style={{ fontSize: 15, color: '#1E4FA8' }}&gt;LangGraph Worker（租约 / checkpoint）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TaskSpec · 校验 DAG · 预算控制&lt;/Text&gt;&#13;&#10;                    &lt;/Box&gt;&#13;&#10;                &lt;/Box&gt;&#13;&#10;            &lt;/Box&gt;&#13;&#10;&#13;&#10;            {/* 能力层 */}&#13;&#10;            &lt;Box style={{ flexDirection: 'row', alignItems: 'center', height: 64, gap: 12 }}&gt;&#13;&#10;                &lt;Box style={{ width: 140, height: 64, background: '#1E4FA8', borderRadius: 8, justifyContent: 'center', alignItems: 'center' }}&gt;&#13;&#10;                    &lt;Text style={{ fontSize: 16, fontWeight: 'bold', color: '#FFFFFF' }}&gt;能力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可验证规划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受权工具路由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上下文与时效记忆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证据反思与恢复&lt;/Text&gt;&#13;&#10;                    &lt;/Box&gt;&#13;&#10;                &lt;/Box&gt;&#13;&#10;            &lt;/Box&gt;&#13;&#10;&#13;&#10;            {/* 集成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6, fontWeight: 'bold', color: '#FFFFFF' }}&gt;集成层&lt;/Text&gt;&#13;&#10;                &lt;/Box&gt;&#13;&#10;                &lt;Box style={{ flex: 1, flexDirection: 'row', gap: 12 }}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MCP 商家服务 · 40 个真实工具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混合检索：BM25 + 向量 + RRF + 精排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固定计算 Sandbox（无网络 / 只读）&lt;/Text&gt;&#13;&#10;                    &lt;/Box&gt;&#13;&#10;                &lt;/Box&gt;&#13;&#10;            &lt;/Box&gt;&#13;&#10;&#13;&#10;            {/* 存储与观测层 */}&#13;&#10;            &lt;Box style={{ flexDirection: 'row', alignItems: 'center', height: 64, gap: 12 }}&gt;&#13;&#10;                &lt;Box style={{ width: 140, height: 64, background: '#0E3F8C', borderRadius: 8, justifyContent: 'center', alignItems: 'center' }}&gt;&#13;&#10;                    &lt;Text style={{ fontSize: 15, fontWeight: 'bold', color: '#FFFFFF' }}&gt;存储与观测&lt;/Text&gt;&#13;&#10;                &lt;/Box&gt;&#13;&#10;                &lt;Box style={{ flex: 1, flexDirection: 'row', gap: 12 }}&gt;&#13;&#10;                    &lt;Box style={{ flex: 1, height: 46, background: '#F0F5FC', border: '1px solid #C9DCF5', borderRadius: 6, justifyContent: 'center', padding: '0 14px' }}&gt;&#13;&#10;                        &lt;Text style={{ fontSize: 15, color: '#1E4FA8', fontWeight: 'bold' }}&gt;PostgreSQL 权威存储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Redis 通知 / Outbox 轮询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Jaeger · Prometheus · Grafana&lt;/Text&gt;&#13;&#10;                    &lt;/Box&gt;&#13;&#10;                    &lt;Box style={{ flex: 1, height: 46, background: '#FFFFFF', border: '1px solid #C9DCF5', borderRadius: 6, justifyContent: 'center', padding: '0 14px' }}&gt;&#13;&#10;                        &lt;Text style={{ fontSize: 15, color: '#1A2230' }}&gt;OpenRouter LLM&lt;/Text&gt;&#13;&#10;                    &lt;/Box&gt;&#13;&#10;                &lt;/Box&gt;&#13;&#10;            &lt;/Box&gt;&#13;&#10;        &lt;/Box&gt;&#13;&#10;&#13;&#10;        {/* 结论条 */}&#13;&#10;        &lt;Box style={{ height: 56, background: '#F0F5FC', border: '1px solid #C9DCF5', borderRadius: 10, padding: '0 24px', flexDirection: 'row', alignItems: 'center', gap: 14 }}&gt;&#13;&#10;            &lt;Text style={{ fontSize: 16, fontWeight: 'bold', color: '#0E3F8C' }}&gt;关键约束&lt;/Text&gt;&#13;&#10;            &lt;Text style={{ fontSize: 15, color: '#1A2230' }}&gt;PostgreSQL 为唯一权威源；Redis 仅加速唤醒，丢失由 DB 轮询兜底；Jaeger 内存 Trace 重启即失，业务事件持久保留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6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5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系统总体架构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81000" y="14859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19150" y="16954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用户层</a:t>
            </a:r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1828800" y="15716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962150" y="17049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客户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客服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主管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5191125" y="15716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5324475" y="17049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React + Ant Design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工作台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8562975" y="15716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8696325" y="17049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REST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提交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SSE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AG-UI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）持久事件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381000" y="21907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19150" y="24003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1828800" y="227647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962150" y="240982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Nginx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入口（动态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DNS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解析）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5191125" y="227647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324475" y="240982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FastAPI API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async · OpenAPI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8562975" y="227647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8696325" y="240982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会话认证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· CSRF · RBAC + 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资源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ABAC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381000" y="28956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819150" y="31051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执行层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1828800" y="29813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962150" y="31146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Pub/Sub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任务唤醒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5191125" y="29813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5324475" y="31146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>LangGraph Worker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（租约</a:t>
            </a:r>
            <a:r>
              <a:rPr lang="en-US" sz="1125">
                <a:solidFill>
                  <a:srgbClr val="1E4FA8"/>
                </a:solidFill>
                <a:latin typeface="Microsoft YaHei"/>
                <a:ea typeface="Microsoft YaHei"/>
              </a:rPr>
              <a:t xml:space="preserve"> / checkpoint</a:t>
            </a:r>
            <a:r>
              <a:rPr lang="zh-CN" sz="1125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8562975" y="29813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8696325" y="31146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TaskSpec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校验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DAG ·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预算控制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381000" y="36004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19150" y="38100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能力层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1828800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1962150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可验证规划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4352925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4486275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受权工具路由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6877050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7010400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上下文与时效记忆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9401175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9534525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证据反思与恢复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381000" y="43053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819150" y="451485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集成层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1828800" y="43910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962150" y="45243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商家服务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· 40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个真实工具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5191125" y="43910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324475" y="45243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混合检索：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BM25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向量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RRF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精排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8562975" y="43910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96325" y="45243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固定计算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Sandbox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（无网络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只读）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381000" y="50101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695325" y="522922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存储与观测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1828800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962150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权威存储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352925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486275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通知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/ Outbox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轮询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877050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010400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Jaeger · Prometheus · Grafana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9401175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534525" y="52292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OpenRouter LLM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381000" y="573405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609600" y="59055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关键约束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1352550" y="5915025"/>
            <a:ext cx="773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为唯一权威源；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仅加速唤醒，丢失由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DB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轮询兜底；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Jaeger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内存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Trace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重启即失，业务事件持久保留。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0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0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11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核心执行闭环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引导条 */}&#13;&#10;        &lt;Box style={{ height: 40, background: '#F0F5FC', border: '1px solid #C9DCF5', borderRadius: 8, padding: '0 22px', flexDirection: 'row', alignItems: 'center', gap: 12 }}&gt;&#13;&#10;            &lt;FAIcon name='route' style={{ fill: '#1E4FA8', width: 18, height: 18 }} /&gt;&#13;&#10;            &lt;Text style={{ fontSize: 16, color: '#1A2230' }}&gt;从任务受理到人工接管的&lt;span style={{ fontWeight: 'bold', color: '#1E4FA8' }}&gt;七步受控流程&lt;/span&gt;：每一步都有明确的进入条件、证据要求与退出动作。&lt;/Text&gt;&#13;&#10;        &lt;/Box&gt;&#13;&#10;&#13;&#10;        {/* 步骤 1–4 */}&#13;&#10;        &lt;Box style={{ flexDirection: 'row', gap: 12, height: 190 }}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1&lt;/Text&gt;&#13;&#10;                    &lt;/Box&gt;&#13;&#10;                    &lt;Text style={{ fontSize: 20, fontWeight: 'bold', color: '#0E3F8C' }}&gt;接收任务&lt;/Text&gt;&#13;&#10;                &lt;/Box&gt;&#13;&#10;                &lt;Text style={{ fontSize: 15, color: '#4A5568', lineHeight: 1.55, marginTop: 10 }}&gt;会话确定客户、租户与角色；API 完成资源授权与幂等接纳。&lt;/Text&gt;&#13;&#10;            &lt;/Box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2&lt;/Text&gt;&#13;&#10;                    &lt;/Box&gt;&#13;&#10;                    &lt;Text style={{ fontSize: 20, fontWeight: 'bold', color: '#0E3F8C' }}&gt;解析并计划&lt;/Text&gt;&#13;&#10;                &lt;/Box&gt;&#13;&#10;                &lt;Text style={{ fontSize: 15, color: '#4A5568', lineHeight: 1.55, marginTop: 10 }}&gt;解析为 TaskSpec，绑定订单与商品实体，编译可验证 DAG。&lt;/Text&gt;&#13;&#10;            &lt;/Box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3&lt;/Text&gt;&#13;&#10;                    &lt;/Box&gt;&#13;&#10;                    &lt;Text style={{ fontSize: 20, fontWeight: 'bold', color: '#0E3F8C' }}&gt;取当前事实&lt;/Text&gt;&#13;&#10;                &lt;/Box&gt;&#13;&#10;                &lt;Text style={{ fontSize: 15, color: '#4A5568', lineHeight: 1.55, marginTop: 10 }}&gt;经权限过滤的 MCP 工具读取订单、物流、政策与售后资格。&lt;/Text&gt;&#13;&#10;            &lt;/Box&gt;&#13;&#10;            &lt;Box style={{ flex: 1, background: '#F7F9FC', border: '1px solid #D6DCE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4&lt;/Text&gt;&#13;&#10;                    &lt;/Box&gt;&#13;&#10;                    &lt;Text style={{ fontSize: 20, fontWeight: 'bold', color: '#0E3F8C' }}&gt;核验并决策&lt;/Text&gt;&#13;&#10;                &lt;/Box&gt;&#13;&#10;                &lt;Text style={{ fontSize: 15, color: '#4A5568', lineHeight: 1.55, marginTop: 10 }}&gt;检查目标覆盖与证据时效；按预算继续、刷新或转人工。&lt;/Text&gt;&#13;&#10;            &lt;/Box&gt;&#13;&#10;        &lt;/Box&gt;&#13;&#10;&#13;&#10;        {/* 步骤 5–7 */}&#13;&#10;        &lt;Box style={{ flexDirection: 'row', gap: 12, height: 190 }}&gt;&#13;&#10;            &lt;Box style={{ flex: 1, background: '#F0F5FC', border: '1px solid #C9DCF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5&lt;/Text&gt;&#13;&#10;                    &lt;/Box&gt;&#13;&#10;                    &lt;Text style={{ fontSize: 20, fontWeight: 'bold', color: '#0E3F8C' }}&gt;受控写入&lt;/Text&gt;&#13;&#10;                &lt;/Box&gt;&#13;&#10;                &lt;Text style={{ fontSize: 15, color: '#4A5568', lineHeight: 1.55, marginTop: 10 }}&gt;生成绑定状态版本与金额的提案；客户确认与主管审批独立记录，执行前重查当前版本。&lt;/Text&gt;&#13;&#10;            &lt;/Box&gt;&#13;&#10;            &lt;Box style={{ flex: 1, background: '#F0F5FC', border: '1px solid #C9DCF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6&lt;/Text&gt;&#13;&#10;                    &lt;/Box&gt;&#13;&#10;                    &lt;Text style={{ fontSize: 20, fontWeight: 'bold', color: '#0E3F8C' }}&gt;回执对账&lt;/Text&gt;&#13;&#10;                &lt;/Box&gt;&#13;&#10;                &lt;Text style={{ fontSize: 15, color: '#4A5568', lineHeight: 1.55, marginTop: 10 }}&gt;事务携带幂等键；响应丢失先按 operation receipt 查询对账，不重放非幂等写入。&lt;/Text&gt;&#13;&#10;            &lt;/Box&gt;&#13;&#10;            &lt;Box style={{ flex: 1, background: '#F0F5FC', border: '1px solid #C9DCF5', borderRadius: 10, padding: '16px 18px', flexDirection: 'column' }}&gt;&#13;&#10;                &lt;Box style={{ flexDirection: 'row', alignItems: 'center', gap: 10 }}&gt;&#13;&#10;                    &lt;Box style={{ width: 30, height: 30, borderRadius: 15, background: '#1E4FA8', justifyContent: 'center', alignItems: 'center' }}&gt;&#13;&#10;                        &lt;Text style={{ fontSize: 15, fontWeight: 'bold', color: '#FFFFFF', lineHeight: 1.2 }}&gt;7&lt;/Text&gt;&#13;&#10;                    &lt;/Box&gt;&#13;&#10;                    &lt;Text style={{ fontSize: 20, fontWeight: 'bold', color: '#0E3F8C' }}&gt;持久展示与恢复&lt;/Text&gt;&#13;&#10;                &lt;/Box&gt;&#13;&#10;                &lt;Text style={{ fontSize: 15, color: '#4A5568', lineHeight: 1.55, marginTop: 10 }}&gt;业务事件入 PostgreSQL，SSE 游标续传；租约与 fencing 接管未完成任务。&lt;/Text&gt;&#13;&#10;            &lt;/Box&gt;&#13;&#10;        &lt;/Box&gt;&#13;&#10;&#13;&#10;        {/* 结论条 */}&#13;&#10;        &lt;Box style={{ height: 56, background: '#0E3F8C', borderRadius: 10, padding: '0 24px', flexDirection: 'row', alignItems: 'center', gap: 14 }}&gt;&#13;&#10;            &lt;Text style={{ fontSize: 16, fontWeight: 'bold', color: '#3D7BD9' }}&gt;写路径原则&lt;/Text&gt;&#13;&#10;            &lt;Text style={{ fontSize: 15, color: '#FFFFFF' }}&gt;结果不靠模型文字推断写入成功，必须与商家事务状态及 operation receipt 一致；无法确认即转人工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7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3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14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核心执行闭环</a:t>
            </a:r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381000" y="1371600"/>
            <a:ext cx="1143000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7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476375"/>
            <a:ext cx="171450" cy="171450"/>
          </a:xfrm>
          <a:prstGeom prst="rect">
            <a:avLst/>
          </a:prstGeom>
          <a:ln/>
        </p:spPr>
      </p:pic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876300" y="1466850"/>
            <a:ext cx="6248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从任务受理到人工接管的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七步受控流程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：每一步都有明确的进入条件、证据要求与退出动作。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381000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552450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647700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933450" y="20478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接收任务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552450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会话确定客户、租户与角色；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完成资源授权与幂等接纳。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3267075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3438525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3533775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3819525" y="2047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解析并计划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3438525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解析为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TaskSpec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，绑定订单与商品实体，编译可验证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DAG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6153150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6324600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419850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705600" y="2047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取当前事实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6324600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经权限过滤的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工具读取订单、物流、政策与售后资格。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9039225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9210675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9305925" y="205740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9591675" y="2047875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核验并决策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9210675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检查目标覆盖与证据时效；按预算继续、刷新或转人工。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3810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5524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647700" y="3981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742" name="" descr="{&quot;isTemplate&quot;:true,&quot;type&quot;:&quot;text&quot;}"/>
          <p:cNvSpPr txBox="1"/>
          <p:nvPr/>
        </p:nvSpPr>
        <p:spPr>
          <a:xfrm rot="0" flipH="0" flipV="0">
            <a:off x="933450" y="39719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受控写入</a:t>
            </a:r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552450" y="4324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生成绑定状态版本与金额的提案；客户确认与主管审批独立记录，执行前重查当前版本。</a:t>
            </a:r>
            <a:endParaRPr/>
          </a:p>
        </p:txBody>
      </p:sp>
      <p:sp>
        <p:nvSpPr>
          <p:cNvPr id="744" name=""/>
          <p:cNvSpPr/>
          <p:nvPr/>
        </p:nvSpPr>
        <p:spPr>
          <a:xfrm rot="0" flipH="0" flipV="0">
            <a:off x="42291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45" name=""/>
          <p:cNvSpPr/>
          <p:nvPr/>
        </p:nvSpPr>
        <p:spPr>
          <a:xfrm rot="0" flipH="0" flipV="0">
            <a:off x="44005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4495800" y="3981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4781550" y="397192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回执对账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4400550" y="4324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事务携带幂等键；响应丢失先按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operation receipt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查询对账，不重放非幂等写入。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80772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50" name=""/>
          <p:cNvSpPr/>
          <p:nvPr/>
        </p:nvSpPr>
        <p:spPr>
          <a:xfrm rot="0" flipH="0" flipV="0">
            <a:off x="82486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8343900" y="3981450"/>
            <a:ext cx="952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8629650" y="3971925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持久展示与恢复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248650" y="4324350"/>
            <a:ext cx="3390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业务事件入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PostgreSQL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SSE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游标续传；租约与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fencing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接管未完成任务。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609600" y="588645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写路径原则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1504950" y="5895975"/>
            <a:ext cx="655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结果不靠模型文字推断写入成功，必须与商家事务状态及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operation receipt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一致；无法确认即转人工。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61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6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65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① 可验证规划&lt;/Text&gt;&#13;&#10;        &lt;Text style={{ fontSize: 15, color: '#8B97A8', marginLeft: 'auto' }}&gt;04 / 06&lt;/Text&gt;&#13;&#10;    &lt;/Box&gt;&#13;&#10;&#13;&#10;    {/* C 内容区 */}&#13;&#10;    &lt;Box style={{ flexDirection: 'column', gap: 20, marginTop: 16, height: 520 }}&gt;&#13;&#10;        &lt;Box style={{ flexDirection: 'row', gap: 20, height: 400 }}&gt;&#13;&#10;            {/* 左：机制说明 */}&#13;&#10;            &lt;Box style={{ width: 720, background: '#F7F9FC', border: '1px solid #D6DCE5', borderRadius: 10, padding: '20px 24px', flexDirection: 'column' }}&gt;&#13;&#10;                &lt;Box style={{ flexDirection: 'row', alignItems: 'center', gap: 10 }}&gt;&#13;&#10;                    &lt;FAIcon name='sitemap' style={{ fill: '#3D7BD9', width: 22, height: 22 }} /&gt;&#13;&#10;                    &lt;Text style={{ fontSize: 25, fontWeight: 'bold', color: '#0E3F8C' }}&gt;TaskSpec 约束 + 校验 DAG 编译&lt;/Text&gt;&#13;&#10;                &lt;/Box&gt;&#13;&#10;                &lt;Text style={{ fontSize: 16, color: '#4A5568', lineHeight: 1.6, marginTop: 8 }}&gt;把「用户目标」变成可静态检查的结构，而不是让模型自由生成一串动作。&lt;/Text&gt;&#13;&#10;&#13;&#10;                &lt;Box style={{ flexDirection: 'column', gap: 10, marginTop: 14 }}&gt;&#13;&#10;                    &lt;Box style={{ flexDirection: 'row', gap: 12, alignItems: 'flex-start' }}&gt;&#13;&#10;                        &lt;Text style={{ fontSize: 15, fontWeight: 'bold', color: '#1E4FA8', width: 76 }}&gt;输入约束&lt;/Text&gt;&#13;&#10;                        &lt;Text style={{ fontSize: 16, color: '#1A2230', lineHeight: 1.5, flex: 1 }}&gt;Pydantic TaskSpec 显式声明目标、实体、读写类型与预算上界。&lt;/Text&gt;&#13;&#10;                    &lt;/Box&gt;&#13;&#10;                    &lt;Box style={{ flexDirection: 'row', gap: 12, alignItems: 'flex-start' }}&gt;&#13;&#10;                        &lt;Text style={{ fontSize: 15, fontWeight: 'bold', color: '#1E4FA8', width: 76 }}&gt;依赖编译&lt;/Text&gt;&#13;&#10;                        &lt;Text style={{ fontSize: 16, color: '#1A2230', lineHeight: 1.5, flex: 1 }}&gt;节点、依赖、读写顺序与绑定实体均可静态校验，先读后写可验证。&lt;/Text&gt;&#13;&#10;                    &lt;/Box&gt;&#13;&#10;                    &lt;Box style={{ flexDirection: 'row', gap: 12, alignItems: 'flex-start' }}&gt;&#13;&#10;                        &lt;Text style={{ fontSize: 15, fontWeight: 'bold', color: '#1E4FA8', width: 76 }}&gt;覆盖检查&lt;/Text&gt;&#13;&#10;                        &lt;Text style={{ fontSize: 16, color: '#1A2230', lineHeight: 1.5, flex: 1 }}&gt;原文已识别的属性若在解析查询中遗漏，直接拒绝该计划，防止只完成复合请求的一部分。&lt;/Text&gt;&#13;&#10;                    &lt;/Box&gt;&#13;&#10;                    &lt;Box style={{ flexDirection: 'row', gap: 12, alignItems: 'flex-start' }}&gt;&#13;&#10;                        &lt;Text style={{ fontSize: 15, fontWeight: 'bold', color: '#1E4FA8', width: 76 }}&gt;有限修复&lt;/Text&gt;&#13;&#10;                        &lt;Text style={{ fontSize: 16, color: '#1A2230', lineHeight: 1.5, flex: 1 }}&gt;校验失败进入预算内重规划，次数、Token、工具数与活动时长均受限。&lt;/Text&gt;&#13;&#10;                    &lt;/Box&gt;&#13;&#10;                &lt;/Box&gt;&#13;&#10;&#13;&#10;                &lt;Box style={{ marginTop: 'auto', background: '#FFFFFF', border: '1px solid #E5E7EB', borderRadius: 8, padding: '10px 16px' }}&gt;&#13;&#10;                    &lt;Text style={{ fontSize: 15, color: '#4A5568', lineHeight: 1.5 }}&gt;否定表达保留语义路径；未知属性不声称被该检查覆盖。&lt;/Text&gt;&#13;&#10;                &lt;/Box&gt;&#13;&#10;            &lt;/Box&gt;&#13;&#10;&#13;&#10;            {/* 右：实测对比 */}&#13;&#10;            &lt;Box style={{ width: 460, background: '#FFFFFF', border: '1px solid #D6DCE5', borderRadius: 10, padding: '20px 24px', flexDirection: 'column' }}&gt;&#13;&#10;                &lt;Text style={{ fontSize: 22, fontWeight: 'bold', color: '#0E3F8C' }}&gt;实测对比（冻结模拟）&lt;/Text&gt;&#13;&#10;                &lt;Text style={{ fontSize: 14, color: '#8B97A8', marginTop: 4 }}&gt;36 个新复杂场景 × 5 trial = 180 单元 / 29 families&lt;/Text&gt;&#13;&#10;&#13;&#10;                &lt;Box style={{ marginTop: 12 }}&gt;&#13;&#10;                    &lt;Text style={{ fontSize: 48, fontWeight: 'bold', color: '#1E4FA8', lineHeight: 1 }}&gt;88.33%&lt;/Text&gt;&#13;&#10;                    &lt;Text style={{ fontSize: 15, color: '#4A5568', marginTop: 4 }}&gt;本方案 P：159 / 180 严格成功&lt;/Text&gt;&#13;&#10;                &lt;/Box&gt;&#13;&#10;&#13;&#10;                &lt;Box style={{ marginTop: 10 }}&gt;&#13;&#10;                    &lt;Text style={{ fontSize: 34, fontWeight: 'bold', color: '#8B97A8', lineHeight: 1 }}&gt;65.00%&lt;/Text&gt;&#13;&#10;                    &lt;Text style={{ fontSize: 15, color: '#4A5568', marginTop: 4 }}&gt;基线 B2（原生 ReAct + 混合检索）：117 / 180&lt;/Text&gt;&#13;&#10;                &lt;/Box&gt;&#13;&#10;&#13;&#10;                &lt;Box style={{ flexDirection: 'row', alignItems: 'baseline', gap: 10, marginTop: 12 }}&gt;&#13;&#10;                    &lt;Text style={{ fontSize: 28, fontWeight: 'bold', color: '#D9534F', lineHeight: 1 }}&gt;+9.14pp&lt;/Text&gt;&#13;&#10;                    &lt;Text style={{ fontSize: 15, color: '#4A5568' }}&gt;family 均衡差&lt;/Text&gt;&#13;&#10;                &lt;/Box&gt;&#13;&#10;                &lt;Text style={{ fontSize: 15, color: '#4A5568', marginTop: 6 }}&gt;95% 聚类区间 [−4.66, +23.45]pp&lt;/Text&gt;&#13;&#10;&#13;&#10;                &lt;Box style={{ marginTop: 'auto', background: '#FDF3F3', borderLeft: '4px solid #D9534F', borderRadius: 8, padding: '10px 14px' }}&gt;&#13;&#10;                    &lt;Text style={{ fontSize: 15, color: '#C0392B', lineHeight: 1.5 }}&gt;区间含 0，正效应尚未获统计支持；P 未达预登记 ≥90% 门槛，如实披露。&lt;/Text&gt;&#13;&#10;                &lt;/Box&gt;&#13;&#10;            &lt;/Box&gt;&#13;&#10;        &lt;/Box&gt;&#13;&#10;&#13;&#10;        {/* 结论条 */}&#13;&#10;        &lt;Box style={{ height: 100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clipboard-check' style={{ fill: '#FFFFFF', width: 22, height: 22 }} /&gt;&#13;&#10;            &lt;/Box&gt;&#13;&#10;            &lt;Box style={{ flex: 1 }}&gt;&#13;&#10;                &lt;Text style={{ fontSize: 18, fontWeight: 'bold', color: '#0E3F8C' }}&gt;工程价值&lt;/Text&gt;&#13;&#10;                &lt;Text style={{ fontSize: 17, color: '#1A2230', lineHeight: 1.6, marginTop: 2 }}&gt;把「漏掉一个商品属性或订单实体」从隐性风险变成&lt;span style={{ color: '#1E4FA8', fontWeight: 'bold' }}&gt;显式失败&lt;/span&gt;，使复合售后请求的完成度可被审计；效果上限仍受模型与场景分布限制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8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7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438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①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可验证规划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381000" y="1371600"/>
            <a:ext cx="685800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209550" cy="209550"/>
          </a:xfrm>
          <a:prstGeom prst="rect">
            <a:avLst/>
          </a:prstGeom>
          <a:ln/>
        </p:spPr>
      </p:pic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36004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TaskSpec 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约束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校验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DAG 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编译</a:t>
            </a:r>
            <a:endParaRPr/>
          </a:p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64008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把「用户目标」变成可静态检查的结构，而不是让模型自由生成一串动作。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609600" y="23526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输入约束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1447800" y="2352675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Pydantic TaskSpec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显式声明目标、实体、读写类型与预算上界。</a:t>
            </a:r>
            <a:endParaRPr/>
          </a:p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609600" y="272415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依赖编译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1447800" y="2724150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节点、依赖、读写顺序与绑定实体均可静态校验，先读后写可验证。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609600" y="30956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覆盖检查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1447800" y="3095625"/>
            <a:ext cx="55626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原文已识别的属性若在解析查询中遗漏，直接拒绝该计划，防止只完成复合请求的一部分。</a:t>
            </a:r>
            <a:endParaRPr/>
          </a:p>
        </p:txBody>
      </p:sp>
      <p:sp>
        <p:nvSpPr>
          <p:cNvPr id="780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有限修复</a:t>
            </a:r>
            <a:endParaRPr/>
          </a:p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1447800" y="3743325"/>
            <a:ext cx="5562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校验失败进入预算内重规划，次数、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Token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、工具数与活动时长均受限。</a:t>
            </a:r>
            <a:endParaRPr/>
          </a:p>
        </p:txBody>
      </p:sp>
      <p:sp>
        <p:nvSpPr>
          <p:cNvPr id="782" name=""/>
          <p:cNvSpPr/>
          <p:nvPr/>
        </p:nvSpPr>
        <p:spPr>
          <a:xfrm rot="0" flipH="0" flipV="0">
            <a:off x="609600" y="4543425"/>
            <a:ext cx="64008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否定表达保留语义路径；未知属性不声称被该检查覆盖。</a:t>
            </a:r>
            <a:endParaRPr/>
          </a:p>
        </p:txBody>
      </p:sp>
      <p:sp>
        <p:nvSpPr>
          <p:cNvPr id="784" name=""/>
          <p:cNvSpPr/>
          <p:nvPr/>
        </p:nvSpPr>
        <p:spPr>
          <a:xfrm rot="0" flipH="0" flipV="0">
            <a:off x="7429500" y="1371600"/>
            <a:ext cx="4381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7658100" y="15621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实测对比（冻结模拟）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7658100" y="1857375"/>
            <a:ext cx="3924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36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个新复杂场景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× 5 trial = 180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单元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/ 29 families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7658100" y="2133600"/>
            <a:ext cx="39243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88.33%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7658100" y="272415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本方案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159 / 180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严格成功</a:t>
            </a:r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7658100" y="2990850"/>
            <a:ext cx="3924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B97A8"/>
                </a:solidFill>
                <a:latin typeface="Microsoft YaHei"/>
                <a:ea typeface="Microsoft YaHei"/>
              </a:rPr>
              <a:t>65.00%</a:t>
            </a:r>
            <a:endParaRPr/>
          </a:p>
        </p:txBody>
      </p:sp>
      <p:sp>
        <p:nvSpPr>
          <p:cNvPr id="790" name="" descr="{&quot;isTemplate&quot;:true,&quot;type&quot;:&quot;text&quot;}"/>
          <p:cNvSpPr txBox="1"/>
          <p:nvPr/>
        </p:nvSpPr>
        <p:spPr>
          <a:xfrm rot="0" flipH="0" flipV="0">
            <a:off x="7658100" y="341947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B2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（原生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ReAct +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混合检索）：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117 / 180</a:t>
            </a:r>
            <a:endParaRPr/>
          </a:p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7658100" y="3705225"/>
            <a:ext cx="11334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D9534F"/>
                </a:solidFill>
                <a:latin typeface="Microsoft YaHei"/>
                <a:ea typeface="Microsoft YaHei"/>
              </a:rPr>
              <a:t>+9.14pp</a:t>
            </a:r>
            <a:endParaRPr/>
          </a:p>
        </p:txBody>
      </p:sp>
      <p:sp>
        <p:nvSpPr>
          <p:cNvPr id="792" name="" descr="{&quot;isTemplate&quot;:true,&quot;type&quot;:&quot;text&quot;}"/>
          <p:cNvSpPr txBox="1"/>
          <p:nvPr/>
        </p:nvSpPr>
        <p:spPr>
          <a:xfrm rot="0" flipH="0" flipV="0">
            <a:off x="8886825" y="3705225"/>
            <a:ext cx="8858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family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均衡差</a:t>
            </a:r>
            <a:endParaRPr/>
          </a:p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7658100" y="40862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95%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聚类区间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[−4.66, +23.45]pp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7696200" y="4286250"/>
            <a:ext cx="3924300" cy="704850"/>
          </a:xfrm>
          <a:prstGeom prst="roundRect">
            <a:avLst>
              <a:gd name="adj" fmla="val 10811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795" name=""/>
          <p:cNvSpPr/>
          <p:nvPr/>
        </p:nvSpPr>
        <p:spPr>
          <a:xfrm rot="0" flipH="0" flipV="0">
            <a:off x="7696200" y="4286250"/>
            <a:ext cx="3924300" cy="704850"/>
          </a:xfrm>
          <a:custGeom>
            <a:pathLst>
              <a:path w="412" h="74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0"/>
                </a:lnTo>
                <a:cubicBezTo>
                  <a:pt x="4" y="72"/>
                  <a:pt x="5" y="74"/>
                  <a:pt x="7" y="74"/>
                </a:cubicBezTo>
                <a:cubicBezTo>
                  <a:pt x="3" y="74"/>
                  <a:pt x="0" y="70"/>
                  <a:pt x="0" y="6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7829550" y="4381500"/>
            <a:ext cx="36195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区间含</a:t>
            </a:r>
            <a:r>
              <a:rPr lang="en-US" sz="1125">
                <a:solidFill>
                  <a:srgbClr val="C0392B"/>
                </a:solidFill>
                <a:latin typeface="Microsoft YaHei"/>
                <a:ea typeface="Microsoft YaHei"/>
              </a:rPr>
              <a:t xml:space="preserve"> 0</a:t>
            </a: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，正效应尚未获统计支持；</a:t>
            </a:r>
            <a:r>
              <a:rPr lang="en-US" sz="1125">
                <a:solidFill>
                  <a:srgbClr val="C0392B"/>
                </a:solidFill>
                <a:latin typeface="Microsoft YaHei"/>
                <a:ea typeface="Microsoft YaHei"/>
              </a:rPr>
              <a:t xml:space="preserve">P </a:t>
            </a: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未达预登记</a:t>
            </a:r>
            <a:r>
              <a:rPr lang="en-US" sz="1125">
                <a:solidFill>
                  <a:srgbClr val="C0392B"/>
                </a:solidFill>
                <a:latin typeface="Microsoft YaHei"/>
                <a:ea typeface="Microsoft YaHei"/>
              </a:rPr>
              <a:t xml:space="preserve"> ≥90% </a:t>
            </a:r>
            <a:r>
              <a:rPr lang="zh-CN" sz="1125">
                <a:solidFill>
                  <a:srgbClr val="C0392B"/>
                </a:solidFill>
                <a:latin typeface="Microsoft YaHei"/>
                <a:ea typeface="Microsoft YaHei"/>
              </a:rPr>
              <a:t>门槛，如实披露。</a:t>
            </a:r>
            <a:endParaRPr/>
          </a:p>
        </p:txBody>
      </p:sp>
      <p:sp>
        <p:nvSpPr>
          <p:cNvPr id="797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98" name=""/>
          <p:cNvSpPr/>
          <p:nvPr/>
        </p:nvSpPr>
        <p:spPr>
          <a:xfrm rot="0" flipH="0" flipV="0">
            <a:off x="62865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7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3425" y="5743575"/>
            <a:ext cx="209550" cy="209550"/>
          </a:xfrm>
          <a:prstGeom prst="rect">
            <a:avLst/>
          </a:prstGeom>
          <a:ln/>
        </p:spPr>
      </p:pic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1219200" y="55816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工程价值</a:t>
            </a:r>
            <a:endParaRPr/>
          </a:p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1219200" y="5810250"/>
            <a:ext cx="10344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把「漏掉一个商品属性或订单实体」从隐性风险变成</a:t>
            </a: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显式失败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，使复合售后请求的完成度可被审计；效果上限仍受模型与场景分布限制。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804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80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06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0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0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② 受权工具路由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权限前置流程条 */}&#13;&#10;        &lt;Box style={{ height: 84, background: '#0E3F8C', borderRadius: 10, padding: '0 22px', flexDirection: 'row', alignItems: 'center', gap: 10 }}&gt;&#13;&#10;            &lt;Text style={{ fontSize: 16, fontWeight: 'bold', color: '#3D7BD9', width: 68 }}&gt;权限前置&lt;/Text&gt;&#13;&#10;            &lt;Box style={{ padding: '7px 16px', background: '#FFFFFF', borderRadius: 16 }}&gt;&#13;&#10;                &lt;Text style={{ fontSize: 15, fontWeight: 'bold', color: '#0E3F8C', lineHeight: 1.2 }}&gt;认证&lt;/Text&gt;&#13;&#10;            &lt;/Box&gt;&#13;&#10;            &lt;Text style={{ fontSize: 18, color: '#7FA3D6' }}&gt;→&lt;/Text&gt;&#13;&#10;            &lt;Box style={{ padding: '7px 16px', background: '#FFFFFF', borderRadius: 16 }}&gt;&#13;&#10;                &lt;Text style={{ fontSize: 15, fontWeight: 'bold', color: '#0E3F8C', lineHeight: 1.2 }}&gt;范围过滤&lt;/Text&gt;&#13;&#10;            &lt;/Box&gt;&#13;&#10;            &lt;Text style={{ fontSize: 18, color: '#7FA3D6' }}&gt;→&lt;/Text&gt;&#13;&#10;            &lt;Box style={{ padding: '7px 16px', background: '#FFFFFF', borderRadius: 16 }}&gt;&#13;&#10;                &lt;Text style={{ fontSize: 15, fontWeight: 'bold', color: '#0E3F8C', lineHeight: 1.2 }}&gt;候选检索&lt;/Text&gt;&#13;&#10;            &lt;/Box&gt;&#13;&#10;            &lt;Text style={{ fontSize: 18, color: '#7FA3D6' }}&gt;→&lt;/Text&gt;&#13;&#10;            &lt;Box style={{ padding: '7px 16px', background: '#FFFFFF', borderRadius: 16 }}&gt;&#13;&#10;                &lt;Text style={{ fontSize: 15, fontWeight: 'bold', color: '#0E3F8C', lineHeight: 1.2 }}&gt;参数 / 版本二次校验&lt;/Text&gt;&#13;&#10;            &lt;/Box&gt;&#13;&#10;            &lt;Text style={{ fontSize: 18, color: '#7FA3D6' }}&gt;→&lt;/Text&gt;&#13;&#10;            &lt;Box style={{ padding: '7px 16px', background: '#3D7BD9', borderRadius: 16 }}&gt;&#13;&#10;                &lt;Text style={{ fontSize: 15, fontWeight: 'bold', color: '#FFFFFF', lineHeight: 1.2 }}&gt;受控执行&lt;/Text&gt;&#13;&#10;            &lt;/Box&gt;&#13;&#10;        &lt;/Box&gt;&#13;&#10;&#13;&#10;        {/* 三栏 */}&#13;&#10;        &lt;Box style={{ flexDirection: 'row', gap: 15, height: 316 }}&gt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filter' style={{ fill: '#1E4FA8', width: 22, height: 22 }} /&gt;&#13;&#10;                &lt;/Box&gt;&#13;&#10;                &lt;Text style={{ fontSize: 22, fontWeight: 'bold', color: '#0E3F8C', marginTop: 12 }}&gt;过滤先于检索&lt;/Text&gt;&#13;&#10;                &lt;Text style={{ fontSize: 16, color: '#4A5568', lineHeight: 1.6, marginTop: 10 }}&gt;认证与资源授权在检索之前完成，未授权工具不进入候选集，从结构上消除「先召回、再拦截」的越权窗口。&lt;/Text&gt;&#13;&#10;                &lt;Box style={{ marginTop: 'auto', paddingTop: 12, borderTop: '1px solid #E5E7EB' }}&gt;&#13;&#10;                    &lt;Text style={{ fontSize: 15, fontWeight: 'bold', color: '#D9534F' }}&gt;模型无权扩张权限&lt;/Text&gt;&#13;&#10;                &lt;/Box&gt;&#13;&#10;            &lt;/Box&gt;&#13;&#10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plug' style={{ fill: '#1E4FA8', width: 22, height: 22 }} /&gt;&#13;&#10;                &lt;/Box&gt;&#13;&#10;                &lt;Text style={{ fontSize: 22, fontWeight: 'bold', color: '#0E3F8C', marginTop: 12 }}&gt;40 个真实 MCP 工具&lt;/Text&gt;&#13;&#10;                &lt;Text style={{ fontSize: 16, color: '#4A5568', lineHeight: 1.6, marginTop: 10 }}&gt;工具按发布方业务投影契约确定业务效果；明确效果走受控参数绑定，schema、目录版本与参数在调用前二次校验。&lt;/Text&gt;&#13;&#10;                &lt;Box style={{ marginTop: 'auto', paddingTop: 12, borderTop: '1px solid #E5E7EB' }}&gt;&#13;&#10;                    &lt;Text style={{ fontSize: 15, fontWeight: 'bold', color: '#1E4FA8' }}&gt;参数绑定受控，效果可枚举&lt;/Text&gt;&#13;&#10;                &lt;/Box&gt;&#13;&#10;            &lt;/Box&gt;&#13;&#10;&#13;&#10;            &lt;Box style={{ flex: 1, background: '#FFFFFF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chart-bar' style={{ fill: '#1E4FA8', width: 22, height: 22 }} /&gt;&#13;&#10;                &lt;/Box&gt;&#13;&#10;                &lt;Text style={{ fontSize: 22, fontWeight: 'bold', color: '#0E3F8C', marginTop: 12 }}&gt;1000 项目录组件测量&lt;/Text&gt;&#13;&#10;                &lt;Text style={{ fontSize: 16, color: '#4A5568', lineHeight: 1.6, marginTop: 10 }}&gt;40 个真实工具 + 960 个固定公开描述作为干扰；50 例 × 3 trial，两组均 150/150，差值 0pp。&lt;/Text&gt;&#13;&#10;                &lt;Box style={{ marginTop: 'auto', paddingTop: 12, borderTop: '1px solid #E5E7EB' }}&gt;&#13;&#10;                    &lt;Text style={{ fontSize: 15, fontWeight: 'bold', color: '#D9534F' }}&gt;基线已达样本上限，未达 +5pp&lt;/Text&gt;&#13;&#10;                &lt;/Box&gt;&#13;&#10;            &lt;/Box&gt;&#13;&#10;        &lt;/Box&gt;&#13;&#10;&#13;&#10;        {/* 结论条 */}&#13;&#10;        &lt;Box style={{ height: 96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shield-alt' style={{ fill: '#FFFFFF', width: 22, height: 22 }} /&gt;&#13;&#10;            &lt;/Box&gt;&#13;&#10;            &lt;Box style={{ flex: 1 }}&gt;&#13;&#10;                &lt;Text style={{ fontSize: 18, fontWeight: 'bold', color: '#0E3F8C' }}&gt;结论与边界&lt;/Text&gt;&#13;&#10;                &lt;Text style={{ fontSize: 16, color: '#1A2230', lineHeight: 1.6, marginTop: 2 }}&gt;路由在 1000 项规模下无质量回退；但该结果不支持「路由准确率胜过混合检索」，也不代表 960 个公开描述对应的真实 API 均可调用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09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762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②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受权工具路由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381000" y="13716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590550" y="1676400"/>
            <a:ext cx="64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3D7BD9"/>
                </a:solidFill>
                <a:latin typeface="Microsoft YaHei"/>
                <a:ea typeface="Microsoft YaHei"/>
              </a:rPr>
              <a:t>权限前置</a:t>
            </a:r>
            <a:endParaRPr/>
          </a:p>
        </p:txBody>
      </p:sp>
      <p:sp>
        <p:nvSpPr>
          <p:cNvPr id="817" name=""/>
          <p:cNvSpPr/>
          <p:nvPr/>
        </p:nvSpPr>
        <p:spPr>
          <a:xfrm rot="0" flipH="0" flipV="0">
            <a:off x="1333500" y="1600200"/>
            <a:ext cx="59055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1485900" y="16668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认证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2019300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0" name=""/>
          <p:cNvSpPr/>
          <p:nvPr/>
        </p:nvSpPr>
        <p:spPr>
          <a:xfrm rot="0" flipH="0" flipV="0">
            <a:off x="2286000" y="1600200"/>
            <a:ext cx="8763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2438400" y="16668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范围过滤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3257550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3" name=""/>
          <p:cNvSpPr/>
          <p:nvPr/>
        </p:nvSpPr>
        <p:spPr>
          <a:xfrm rot="0" flipH="0" flipV="0">
            <a:off x="3524250" y="1600200"/>
            <a:ext cx="8763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3676650" y="16668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候选检索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4495800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4762500" y="1600200"/>
            <a:ext cx="1609725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914900" y="1666875"/>
            <a:ext cx="13049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参数</a:t>
            </a: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版本二次校验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6467475" y="166687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9" name=""/>
          <p:cNvSpPr/>
          <p:nvPr/>
        </p:nvSpPr>
        <p:spPr>
          <a:xfrm rot="0" flipH="0" flipV="0">
            <a:off x="6734175" y="1600200"/>
            <a:ext cx="876300" cy="342900"/>
          </a:xfrm>
          <a:prstGeom prst="roundRect">
            <a:avLst>
              <a:gd name="adj" fmla="val 4444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6886575" y="166687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受控执行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381000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32" name=""/>
          <p:cNvSpPr/>
          <p:nvPr/>
        </p:nvSpPr>
        <p:spPr>
          <a:xfrm rot="0" flipH="0" flipV="0">
            <a:off x="590550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8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2581275"/>
            <a:ext cx="209550" cy="209550"/>
          </a:xfrm>
          <a:prstGeom prst="rect">
            <a:avLst/>
          </a:prstGeom>
          <a:ln/>
        </p:spPr>
      </p:pic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590550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过滤先于检索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590550" y="33623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认证与资源授权在检索之前完成，未授权工具不进入候选集，从结构上消除「先召回、再拦截」的越权窗口。</a:t>
            </a:r>
            <a:endParaRPr/>
          </a:p>
        </p:txBody>
      </p:sp>
      <p:sp>
        <p:nvSpPr>
          <p:cNvPr id="836" name=""/>
          <p:cNvSpPr/>
          <p:nvPr/>
        </p:nvSpPr>
        <p:spPr>
          <a:xfrm rot="0" flipH="0" flipV="0">
            <a:off x="59055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59055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模型无权扩张权限</a:t>
            </a:r>
            <a:endParaRPr/>
          </a:p>
        </p:txBody>
      </p:sp>
      <p:sp>
        <p:nvSpPr>
          <p:cNvPr id="838" name=""/>
          <p:cNvSpPr/>
          <p:nvPr/>
        </p:nvSpPr>
        <p:spPr>
          <a:xfrm rot="0" flipH="0" flipV="0">
            <a:off x="4238625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39" name=""/>
          <p:cNvSpPr/>
          <p:nvPr/>
        </p:nvSpPr>
        <p:spPr>
          <a:xfrm rot="0" flipH="0" flipV="0">
            <a:off x="4448175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8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52950" y="2581275"/>
            <a:ext cx="209550" cy="209550"/>
          </a:xfrm>
          <a:prstGeom prst="rect">
            <a:avLst/>
          </a:prstGeom>
          <a:ln/>
        </p:spPr>
      </p:pic>
      <p:sp>
        <p:nvSpPr>
          <p:cNvPr id="841" name="" descr="{&quot;isTemplate&quot;:true,&quot;type&quot;:&quot;text&quot;}"/>
          <p:cNvSpPr txBox="1"/>
          <p:nvPr/>
        </p:nvSpPr>
        <p:spPr>
          <a:xfrm rot="0" flipH="0" flipV="0">
            <a:off x="4448175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个真实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MCP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4448175" y="33623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工具按发布方业务投影契约确定业务效果；明确效果走受控参数绑定，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schema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、目录版本与参数在调用前二次校验。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4448175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4448175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参数绑定受控，效果可枚举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8096250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46" name=""/>
          <p:cNvSpPr/>
          <p:nvPr/>
        </p:nvSpPr>
        <p:spPr>
          <a:xfrm rot="0" flipH="0" flipV="0">
            <a:off x="8305800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8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2581275"/>
            <a:ext cx="209550" cy="209550"/>
          </a:xfrm>
          <a:prstGeom prst="rect">
            <a:avLst/>
          </a:prstGeom>
          <a:ln/>
        </p:spPr>
      </p:pic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8305800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1000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项目录组件测量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8305800" y="33623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个真实工具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+ 960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个固定公开描述作为干扰；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3 trial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，两组均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150/150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，差值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0pp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830580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830580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基线已达样本上限，未达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+5pp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381000" y="54102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853" name=""/>
          <p:cNvSpPr/>
          <p:nvPr/>
        </p:nvSpPr>
        <p:spPr>
          <a:xfrm rot="0" flipH="0" flipV="0">
            <a:off x="628650" y="5657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8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3425" y="5762625"/>
            <a:ext cx="209550" cy="209550"/>
          </a:xfrm>
          <a:prstGeom prst="rect">
            <a:avLst/>
          </a:prstGeom>
          <a:ln/>
        </p:spPr>
      </p:pic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1219200" y="561022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结论与边界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1219200" y="5838825"/>
            <a:ext cx="103441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路由在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1000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项规模下无质量回退；但该结果不支持「路由准确率胜过混合检索」，也不代表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960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个公开描述对应的真实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均可调用。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5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86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61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6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③ 时效记忆与上下文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引导条 */}&#13;&#10;        &lt;Box style={{ height: 60, background: '#F0F5FC', border: '1px solid #C9DCF5', borderRadius: 8, padding: '0 22px', flexDirection: 'row', alignItems: 'center', gap: 12 }}&gt;&#13;&#10;            &lt;FAIcon name='brain' style={{ fill: '#1E4FA8', width: 20, height: 20 }} /&gt;&#13;&#10;            &lt;Text style={{ fontSize: 16, color: '#1A2230' }}&gt;上下文 = &lt;span style={{ fontWeight: 'bold', color: '#1E4FA8' }}&gt;拥有者隔离的实体账本&lt;/span&gt; + 最近有限片段 + 历史引用卸载 + Token 预算；记忆只服务指代解析，不服务事实与授权。&lt;/Text&gt;&#13;&#10;        &lt;/Box&gt;&#13;&#10;&#13;&#10;        {/* 三栏 */}&#13;&#10;        &lt;Box style={{ flexDirection: 'row', gap: 15, height: 328 }}&gt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book' style={{ fill: '#1E4FA8', width: 22, height: 22 }} /&gt;&#13;&#10;                &lt;/Box&gt;&#13;&#10;                &lt;Text style={{ fontSize: 22, fontWeight: 'bold', color: '#0E3F8C', marginTop: 12 }}&gt;拥有者隔离实体账本&lt;/Text&gt;&#13;&#10;                &lt;Text style={{ fontSize: 16, color: '#4A5568', lineHeight: 1.6, marginTop: 10 }}&gt;会话实体账本按拥有者隔离，只用于解析「这件商品」「第一笔订单」这类回指；解析出的实体仍需经当前商家工具重新读取事实。&lt;/Text&gt;&#13;&#10;                &lt;Box style={{ marginTop: 'auto', paddingTop: 12, borderTop: '1px solid #E5E7EB' }}&gt;&#13;&#10;                    &lt;Text style={{ fontSize: 15, fontWeight: 'bold', color: '#D9534F' }}&gt;账本本身不授予任何权限&lt;/Text&gt;&#13;&#10;                &lt;/Box&gt;&#13;&#10;            &lt;/Box&gt;&#13;&#10;&#13;&#10;            &lt;Box style={{ flex: 1, background: '#F7F9FC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compress-alt' style={{ fill: '#1E4FA8', width: 22, height: 22 }} /&gt;&#13;&#10;                &lt;/Box&gt;&#13;&#10;                &lt;Text style={{ fontSize: 22, fontWeight: 'bold', color: '#0E3F8C', marginTop: 12 }}&gt;引用卸载与预算&lt;/Text&gt;&#13;&#10;                &lt;Text style={{ fontSize: 16, color: '#4A5568', lineHeight: 1.6, marginTop: 10 }}&gt;关键字段保留、历史引用卸载与保守 Token 上界共同约束上下文；多个实体共享同一原文片段，不通过补造实体句子来放宽来源校验。&lt;/Text&gt;&#13;&#10;                &lt;Box style={{ marginTop: 'auto', paddingTop: 12, borderTop: '1px solid #E5E7EB' }}&gt;&#13;&#10;                    &lt;Text style={{ fontSize: 15, fontWeight: 'bold', color: '#1E4FA8' }}&gt;共同属性复用同一原文片段&lt;/Text&gt;&#13;&#10;                &lt;/Box&gt;&#13;&#10;            &lt;/Box&gt;&#13;&#10;&#13;&#10;            &lt;Box style={{ flex: 1, background: '#FFFFFF', border: '1px solid #D6DCE5', borderRadius: 10, padding: '20px 22px', flexDirection: 'column' }}&gt;&#13;&#10;                &lt;Box style={{ width: 44, height: 44, borderRadius: 10, background: '#E8EFF8', justifyContent: 'center', alignItems: 'center' }}&gt;&#13;&#10;                    &lt;FAIcon name='sync-alt' style={{ fill: '#1E4FA8', width: 22, height: 22 }} /&gt;&#13;&#10;                &lt;/Box&gt;&#13;&#10;                &lt;Text style={{ fontSize: 22, fontWeight: 'bold', color: '#0E3F8C', marginTop: 12 }}&gt;不继承原则&lt;/Text&gt;&#13;&#10;                &lt;Text style={{ fontSize: 16, color: '#4A5568', lineHeight: 1.6, marginTop: 10 }}&gt;旧金额、业务状态与历史审批不成为当前事实或授权；执行前重新读取商家系统，状态一旦变化，旧提案与旧审批立即失效。&lt;/Text&gt;&#13;&#10;                &lt;Box style={{ marginTop: 'auto', paddingTop: 12, borderTop: '1px solid #E5E7EB' }}&gt;&#13;&#10;                    &lt;Text style={{ fontSize: 15, fontWeight: 'bold', color: '#D9534F' }}&gt;旧金额与旧审批不继承&lt;/Text&gt;&#13;&#10;                &lt;/Box&gt;&#13;&#10;            &lt;/Box&gt;&#13;&#10;        &lt;/Box&gt;&#13;&#10;&#13;&#10;        {/* 数据条 */}&#13;&#10;        &lt;Box style={{ height: 108, background: '#F0F5FC', border: '1px solid #C9DCF5', borderRadius: 10, padding: '12px 26px', flexDirection: 'column', justifyContent: 'center', gap: 8 }}&gt;&#13;&#10;            &lt;Box style={{ flexDirection: 'row', alignItems: 'baseline', gap: 26 }}&gt;&#13;&#10;                &lt;Box style={{ flexDirection: 'row', alignItems: 'baseline', gap: 8 }}&gt;&#13;&#10;                    &lt;Text style={{ fontSize: 34, fontWeight: 'bold', color: '#1E4FA8', lineHeight: 1 }}&gt;180/180&lt;/Text&gt;&#13;&#10;                    &lt;Text style={{ fontSize: 15, color: '#4A5568' }}&gt;本方案 P（100%）&lt;/Text&gt;&#13;&#10;                &lt;/Box&gt;&#13;&#10;                &lt;Box style={{ flexDirection: 'row', alignItems: 'baseline', gap: 8 }}&gt;&#13;&#10;                    &lt;Text style={{ fontSize: 26, fontWeight: 'bold', color: '#8B97A8', lineHeight: 1 }}&gt;62/180&lt;/Text&gt;&#13;&#10;                    &lt;Text style={{ fontSize: 15, color: '#4A5568' }}&gt;基线 M-vector（34.44%）&lt;/Text&gt;&#13;&#10;                &lt;/Box&gt;&#13;&#10;                &lt;Text style={{ fontSize: 22, fontWeight: 'bold', color: '#D9534F' }}&gt;+75.64pp&lt;/Text&gt;&#13;&#10;                &lt;Text style={{ fontSize: 15, color: '#4A5568' }}&gt;95% CI [+55.13, +92.31]pp&lt;/Text&gt;&#13;&#10;            &lt;/Box&gt;&#13;&#10;            &lt;Text style={{ fontSize: 15, color: '#4A5568' }}&gt;条件口径 Prompt Token：&lt;span style={{ fontWeight: 'bold', color: '#1E4FA8' }}&gt;513,308 → 180,291（−64.88%）&lt;/span&gt;，仅覆盖 62 对两组都正确的配对，不含离线 Embedding 成本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0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410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③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时效记忆与上下文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381000" y="1371600"/>
            <a:ext cx="11430000" cy="57150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562100"/>
            <a:ext cx="190500" cy="19050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844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上下文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拥有者隔离的实体账本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最近有限片段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历史引用卸载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Token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预算；记忆只服务指代解析，不服务事实与授权。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81000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90550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" y="2352675"/>
            <a:ext cx="209550" cy="209550"/>
          </a:xfrm>
          <a:prstGeom prst="rect">
            <a:avLst/>
          </a:prstGeom>
          <a:ln/>
        </p:spPr>
      </p:pic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90550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拥有者隔离实体账本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590550" y="31337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会话实体账本按拥有者隔离，只用于解析「这件商品」「第一笔订单」这类回指；解析出的实体仍需经当前商家工具重新读取事实。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90550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90550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账本本身不授予任何权限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238625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4448175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52950" y="2352675"/>
            <a:ext cx="209550" cy="209550"/>
          </a:xfrm>
          <a:prstGeom prst="rect">
            <a:avLst/>
          </a:prstGeom>
          <a:ln/>
        </p:spPr>
      </p:pic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448175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引用卸载与预算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448175" y="31337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关键字段保留、历史引用卸载与保守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Token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上界共同约束上下文；多个实体共享同一原文片段，不通过补造实体句子来放宽来源校验。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4448175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4448175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共同属性复用同一原文片段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096250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8305800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10575" y="2352675"/>
            <a:ext cx="209550" cy="20955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05800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不继承原则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305800" y="3133725"/>
            <a:ext cx="329565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旧金额、业务状态与历史审批不成为当前事实或授权；执行前重新读取商家系统，状态一旦变化，旧提案与旧审批立即失效。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305800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305800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旧金额与旧审批不继承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81000" y="5295900"/>
            <a:ext cx="11430000" cy="1028700"/>
          </a:xfrm>
          <a:prstGeom prst="roundRect">
            <a:avLst>
              <a:gd name="adj" fmla="val 9259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28650" y="5495925"/>
            <a:ext cx="1352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Microsoft YaHei"/>
                <a:ea typeface="Microsoft YaHei"/>
              </a:rPr>
              <a:t>180/180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2057400" y="5495925"/>
            <a:ext cx="1228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本方案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100%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3533775" y="5495925"/>
            <a:ext cx="88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B97A8"/>
                </a:solidFill>
                <a:latin typeface="Microsoft YaHei"/>
                <a:ea typeface="Microsoft YaHei"/>
              </a:rPr>
              <a:t>62/180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495800" y="5495925"/>
            <a:ext cx="17430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M-vector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34.44%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486525" y="5495925"/>
            <a:ext cx="101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Microsoft YaHei"/>
                <a:ea typeface="Microsoft YaHei"/>
              </a:rPr>
              <a:t>+75.64pp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753350" y="5495925"/>
            <a:ext cx="1828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95% CI [+55.13, +92.31]pp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28650" y="596265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条件口径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Prompt Token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513,308 → 180,291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（−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64.88%</a:t>
            </a: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）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，仅覆盖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62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对两组都正确的配对，不含离线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Embedding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成本。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9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0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3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关键技术 ④ 证据反思与故障恢复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观察包四字段 */}&#13;&#10;        &lt;Box style={{ flexDirection: 'row', gap: 12, height: 72 }}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来源&lt;/Text&gt;&#13;&#10;                &lt;Text style={{ fontSize: 15, color: '#4A5568' }}&gt;数据出处可追溯&lt;/Text&gt;&#13;&#10;            &lt;/Box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实体&lt;/Text&gt;&#13;&#10;                &lt;Text style={{ fontSize: 15, color: '#4A5568' }}&gt;绑定订单 / 商品&lt;/Text&gt;&#13;&#10;            &lt;/Box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版本&lt;/Text&gt;&#13;&#10;                &lt;Text style={{ fontSize: 15, color: '#4A5568' }}&gt;状态版本可比对&lt;/Text&gt;&#13;&#10;            &lt;/Box&gt;&#13;&#10;            &lt;Box style={{ flex: 1, background: '#F0F5FC', border: '1px solid #C9DCF5', borderRadius: 8, padding: '0 18px', flexDirection: 'row', alignItems: 'center', gap: 12 }}&gt;&#13;&#10;                &lt;Text style={{ fontSize: 16, fontWeight: 'bold', color: '#1E4FA8' }}&gt;时间&lt;/Text&gt;&#13;&#10;                &lt;Text style={{ fontSize: 15, color: '#4A5568' }}&gt;时效与 schema 校验&lt;/Text&gt;&#13;&#10;            &lt;/Box&gt;&#13;&#10;        &lt;/Box&gt;&#13;&#10;&#13;&#10;        &lt;Box style={{ flexDirection: 'row', gap: 20, height: 344 }}&gt;&#13;&#10;            {/* 左：机制 */}&#13;&#10;            &lt;Box style={{ width: 720, background: '#F7F9FC', border: '1px solid #D6DCE5', borderRadius: 10, padding: '20px 24px', flexDirection: 'column' }}&gt;&#13;&#10;                &lt;Box style={{ flexDirection: 'row', alignItems: 'center', gap: 10 }}&gt;&#13;&#10;                    &lt;FAIcon name='sync-alt' style={{ fill: '#3D7BD9', width: 22, height: 22 }} /&gt;&#13;&#10;                    &lt;Text style={{ fontSize: 24, fontWeight: 'bold', color: '#0E3F8C' }}&gt;观察包驱动的反思与恢复&lt;/Text&gt;&#13;&#10;                &lt;/Box&gt;&#13;&#10;                &lt;Box style={{ flexDirection: 'column', gap: 10, marginTop: 16 }}&gt;&#13;&#10;                    &lt;Box style={{ flexDirection: 'row', gap: 14, alignItems: 'flex-start' }}&gt;&#13;&#10;                        &lt;Text style={{ fontSize: 15, fontWeight: 'bold', color: '#1E4FA8', width: 76 }}&gt;证据反思&lt;/Text&gt;&#13;&#10;                        &lt;Text style={{ fontSize: 16, color: '#1A2230', lineHeight: 1.5, flex: 1 }}&gt;确定性证据与业务矛盾检查优先；模型建议只能缩小动作范围，不能扩大权限。&lt;/Text&gt;&#13;&#10;                    &lt;/Box&gt;&#13;&#10;                    &lt;Box style={{ flexDirection: 'row', gap: 14, alignItems: 'flex-start' }}&gt;&#13;&#10;                        &lt;Text style={{ fontSize: 15, fontWeight: 'bold', color: '#1E4FA8', width: 76 }}&gt;变化感知&lt;/Text&gt;&#13;&#10;                        &lt;Text style={{ fontSize: 16, color: '#1A2230', lineHeight: 1.5, flex: 1 }}&gt;状态变化触发证据刷新与提案失效，重新取证后必须重新确认。&lt;/Text&gt;&#13;&#10;                    &lt;/Box&gt;&#13;&#10;                    &lt;Box style={{ flexDirection: 'row', gap: 14, alignItems: 'flex-start' }}&gt;&#13;&#10;                        &lt;Text style={{ fontSize: 15, fontWeight: 'bold', color: '#1E4FA8', width: 76 }}&gt;写入幂等&lt;/Text&gt;&#13;&#10;                        &lt;Text style={{ fontSize: 16, color: '#1A2230', lineHeight: 1.5, flex: 1 }}&gt;PostgreSQL 唯一约束 + 合法状态迁移 + 事务 + operation receipt 共同构成幂等边界。&lt;/Text&gt;&#13;&#10;                    &lt;/Box&gt;&#13;&#10;                    &lt;Box style={{ flexDirection: 'row', gap: 14, alignItems: 'flex-start' }}&gt;&#13;&#10;                        &lt;Text style={{ fontSize: 15, fontWeight: 'bold', color: '#1E4FA8', width: 76 }}&gt;故障接管&lt;/Text&gt;&#13;&#10;                        &lt;Text style={{ fontSize: 16, color: '#1A2230', lineHeight: 1.5, flex: 1 }}&gt;租约、fencing 与 LangGraph checkpoint 保证未完成任务被接管，而不是被重复执行。&lt;/Text&gt;&#13;&#10;                    &lt;/Box&gt;&#13;&#10;                &lt;/Box&gt;&#13;&#10;            &lt;/Box&gt;&#13;&#10;&#13;&#10;            {/* 右：数据 */}&#13;&#10;            &lt;Box style={{ width: 460, background: '#FFFFFF', border: '1px solid #D6DCE5', borderRadius: 10, padding: '20px 24px', flexDirection: 'column' }}&gt;&#13;&#10;                &lt;Text style={{ fontSize: 22, fontWeight: 'bold', color: '#0E3F8C' }}&gt;实测对比（可恢复故障）&lt;/Text&gt;&#13;&#10;&#13;&#10;                &lt;Box style={{ marginTop: 10 }}&gt;&#13;&#10;                    &lt;Text style={{ fontSize: 36, fontWeight: 'bold', color: '#1E4FA8', lineHeight: 1 }}&gt;144/144&lt;/Text&gt;&#13;&#10;                    &lt;Text style={{ fontSize: 15, color: '#4A5568', marginTop: 4 }}&gt;本方案 P（100%）&lt;/Text&gt;&#13;&#10;                &lt;/Box&gt;&#13;&#10;&#13;&#10;                &lt;Box style={{ marginTop: 6 }}&gt;&#13;&#10;                    &lt;Text style={{ fontSize: 26, fontWeight: 'bold', color: '#8B97A8', lineHeight: 1 }}&gt;48/144&lt;/Text&gt;&#13;&#10;                    &lt;Text style={{ fontSize: 15, color: '#4A5568', marginTop: 4 }}&gt;基线 A-reflect（33.33%）&lt;/Text&gt;&#13;&#10;                &lt;/Box&gt;&#13;&#10;&#13;&#10;                &lt;Box style={{ flexDirection: 'row', alignItems: 'baseline', gap: 10, marginTop: 8 }}&gt;&#13;&#10;                    &lt;Text style={{ fontSize: 24, fontWeight: 'bold', color: '#D9534F', lineHeight: 1 }}&gt;+66.67pp&lt;/Text&gt;&#13;&#10;                    &lt;Text style={{ fontSize: 15, color: '#4A5568' }}&gt;family 均衡差&lt;/Text&gt;&#13;&#10;                &lt;/Box&gt;&#13;&#10;                &lt;Text style={{ fontSize: 15, color: '#4A5568', marginTop: 4 }}&gt;95% CI [+33.33, +100]pp&lt;/Text&gt;&#13;&#10;&#13;&#10;                &lt;Box style={{ marginTop: 'auto', background: '#F7F9FC', border: '1px solid #E5E7EB', borderRadius: 8, padding: '10px 14px' }}&gt;&#13;&#10;                    &lt;Text style={{ fontSize: 15, color: '#4A5568', lineHeight: 1.5 }}&gt;永久故障的安全停止与无故障对照单独计分，不混入此分母。&lt;/Text&gt;&#13;&#10;                &lt;/Box&gt;&#13;&#10;            &lt;/Box&gt;&#13;&#10;        &lt;/Box&gt;&#13;&#10;&#13;&#10;        {/* 结论条 */}&#13;&#10;        &lt;Box style={{ height: 80, background: '#0E3F8C', borderRadius: 10, padding: '0 24px', flexDirection: 'row', alignItems: 'center', gap: 16 }}&gt;&#13;&#10;            &lt;FAIcon name='exclamation-circle' style={{ fill: '#3D7BD9', width: 24, height: 24 }} /&gt;&#13;&#10;            &lt;Text style={{ fontSize: 16, color: '#FFFFFF', lineHeight: 1.55 }}&gt;超时&lt;span style={{ color: '#FFC107', fontWeight: 'bold' }}&gt;不等于&lt;/span&gt;「没写入」：先按 operation receipt 查询对账，无法确认即转人工；所有循环受模型请求、Token、工具数与活动时长预算约束。&lt;/Text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1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733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关键技术</a:t>
            </a:r>
            <a:r>
              <a:rPr lang="en-US" sz="25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④ 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证据反思与故障恢复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381000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来源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71550" y="16287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数据出处可追溯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3267075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438525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实体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857625" y="1628775"/>
            <a:ext cx="1009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绑定订单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商品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153150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版本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743700" y="16287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状态版本可比对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9039225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210675" y="16192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时间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629775" y="1628775"/>
            <a:ext cx="1323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时效与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schema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381000" y="2171700"/>
            <a:ext cx="6858000" cy="3276600"/>
          </a:xfrm>
          <a:prstGeom prst="roundRect">
            <a:avLst>
              <a:gd name="adj" fmla="val 290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400300"/>
            <a:ext cx="209550" cy="209550"/>
          </a:xfrm>
          <a:prstGeom prst="rect">
            <a:avLst/>
          </a:prstGeom>
          <a:ln/>
        </p:spPr>
      </p:pic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14400" y="2362200"/>
            <a:ext cx="2514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观察包驱动的反思与恢复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证据反思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466850" y="2790825"/>
            <a:ext cx="5543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确定性证据与业务矛盾检查优先；模型建议只能缩小动作范围，不能扩大权限。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变化感知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466850" y="3162300"/>
            <a:ext cx="55435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状态变化触发证据刷新与提案失效，重新取证后必须重新确认。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写入幂等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466850" y="3533775"/>
            <a:ext cx="5543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唯一约束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合法状态迁移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事务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+ operation receipt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共同构成幂等边界。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4181475"/>
            <a:ext cx="723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故障接管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466850" y="4181475"/>
            <a:ext cx="5543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租约、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fencing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LangGraph checkpoint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保证未完成任务被接管，而不是被重复执行。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7429500" y="2171700"/>
            <a:ext cx="43815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658100" y="2362200"/>
            <a:ext cx="3924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实测对比（可恢复故障）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658100" y="2714625"/>
            <a:ext cx="3924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4FA8"/>
                </a:solidFill>
                <a:latin typeface="Microsoft YaHei"/>
                <a:ea typeface="Microsoft YaHei"/>
              </a:rPr>
              <a:t>144/144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58100" y="31718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本方案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100%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658100" y="3400425"/>
            <a:ext cx="3924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B97A8"/>
                </a:solidFill>
                <a:latin typeface="Microsoft YaHei"/>
                <a:ea typeface="Microsoft YaHei"/>
              </a:rPr>
              <a:t>48/144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58100" y="3743325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A-reflect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33.33%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658100" y="3990975"/>
            <a:ext cx="1114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534F"/>
                </a:solidFill>
                <a:latin typeface="Microsoft YaHei"/>
                <a:ea typeface="Microsoft YaHei"/>
              </a:rPr>
              <a:t>+66.67pp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867775" y="3990975"/>
            <a:ext cx="885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family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均衡差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7658100" y="4305300"/>
            <a:ext cx="3924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95% CI [+33.33, +100]pp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7658100" y="4552950"/>
            <a:ext cx="3924300" cy="704850"/>
          </a:xfrm>
          <a:prstGeom prst="roundRect">
            <a:avLst>
              <a:gd name="adj" fmla="val 1081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7791450" y="4648200"/>
            <a:ext cx="3657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永久故障的安全停止与无故障对照单独计分，不混入此分母。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381000" y="5562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5829300"/>
            <a:ext cx="228600" cy="22860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90600" y="5800725"/>
            <a:ext cx="955357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超时</a:t>
            </a:r>
            <a:r>
              <a:rPr lang="zh-CN" sz="1200" b="1">
                <a:solidFill>
                  <a:srgbClr val="FFC107"/>
                </a:solidFill>
                <a:latin typeface="Microsoft YaHei"/>
                <a:ea typeface="Microsoft YaHei"/>
              </a:rPr>
              <a:t>不等于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「没写入」：先按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operation receipt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查询对账，无法确认即转人工；所有循环受模型请求、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Token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、工具数与活动时长预算约束。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120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3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安全、权限与隔离体系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引导条 */}&#13;&#10;        &lt;Box style={{ height: 44, background: '#F0F5FC', border: '1px solid #C9DCF5', borderRadius: 8, padding: '0 22px', flexDirection: 'row', alignItems: 'center', gap: 12 }}&gt;&#13;&#10;            &lt;FAIcon name='lock' style={{ fill: '#1E4FA8', width: 18, height: 18 }} /&gt;&#13;&#10;            &lt;Text style={{ fontSize: 16, color: '#1A2230' }}&gt;四条防线：从&lt;span style={{ fontWeight: 'bold', color: '#1E4FA8' }}&gt;传输、授权、输入到执行环境&lt;/span&gt;逐层收窄模型可影响的面。&lt;/Text&gt;&#13;&#10;        &lt;/Box&gt;&#13;&#10;&#13;&#10;        {/* 四栏 */}&#13;&#10;        &lt;Box style={{ flexDirection: 'row', gap: 16, height: 368 }}&gt;&#13;&#10;            &lt;Box style={{ flex: 1, background: '#F7F9FC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key' style={{ fill: '#1E4FA8', width: 22, height: 22 }} /&gt;&#13;&#10;                &lt;/Box&gt;&#13;&#10;                &lt;Text style={{ fontSize: 20, fontWeight: 'bold', color: '#0E3F8C', marginTop: 12 }}&gt;会话与传输安全&lt;/Text&gt;&#13;&#10;                &lt;Text style={{ fontSize: 16, color: '#4A5568', lineHeight: 1.6, marginTop: 10 }}&gt;HttpOnly 会话 Cookie 与 CSRF 校验；服务端共享会话使 API 扩容仍保持登录；OIDC 校验 issuer、audience、nonce、state、签名与 PKCE。&lt;/Text&gt;&#13;&#10;                &lt;Box style={{ marginTop: 'auto', paddingTop: 12, borderTop: '1px solid #E5E7EB' }}&gt;&#13;&#10;                    &lt;Text style={{ fontSize: 15, fontWeight: 'bold', color: '#D9534F', lineHeight: 1.45 }}&gt;演示账户 ≠ 组织 IdP 已接入&lt;/Text&gt;&#13;&#10;                &lt;/Box&gt;&#13;&#10;            &lt;/Box&gt;&#13;&#10;&#13;&#10;            &lt;Box style={{ flex: 1, background: '#F7F9FC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user-shield' style={{ fill: '#1E4FA8', width: 22, height: 22 }} /&gt;&#13;&#10;                &lt;/Box&gt;&#13;&#10;                &lt;Text style={{ fontSize: 20, fontWeight: 'bold', color: '#0E3F8C', marginTop: 12 }}&gt;双层授权模型&lt;/Text&gt;&#13;&#10;                &lt;Text style={{ fontSize: 16, color: '#4A5568', lineHeight: 1.6, marginTop: 10 }}&gt;Casbin RBAC 管角色，资源拥有者 / 租户 ABAC 管数据范围；客户身份取自服务端会话，模型不能指定客户、租户或审批人。&lt;/Text&gt;&#13;&#10;                &lt;Box style={{ marginTop: 'auto', paddingTop: 12, borderTop: '1px solid #E5E7EB' }}&gt;&#13;&#10;                    &lt;Text style={{ fontSize: 15, fontWeight: 'bold', color: '#D9534F', lineHeight: 1.45 }}&gt;权限不来自模型输入&lt;/Text&gt;&#13;&#10;                &lt;/Box&gt;&#13;&#10;            &lt;/Box&gt;&#13;&#10;&#13;&#10;            &lt;Box style={{ flex: 1, background: '#F7F9FC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shield-alt' style={{ fill: '#1E4FA8', width: 22, height: 22 }} /&gt;&#13;&#10;                &lt;/Box&gt;&#13;&#10;                &lt;Text style={{ fontSize: 20, fontWeight: 'bold', color: '#0E3F8C', marginTop: 12 }}&gt;提示注入防护&lt;/Text&gt;&#13;&#10;                &lt;Text style={{ fontSize: 16, color: '#4A5568', lineHeight: 1.6, marginTop: 10 }}&gt;对话中检索到的文本仅作数据处理，不能升级为可信指令或绕过授权；日志、Trace 与护栏共同维护信任边界。&lt;/Text&gt;&#13;&#10;                &lt;Box style={{ marginTop: 'auto', paddingTop: 12, borderTop: '1px solid #E5E7EB' }}&gt;&#13;&#10;                    &lt;Text style={{ fontSize: 15, fontWeight: 'bold', color: '#D9534F', lineHeight: 1.45 }}&gt;不宣称对未知攻击全免疫&lt;/Text&gt;&#13;&#10;                &lt;/Box&gt;&#13;&#10;            &lt;/Box&gt;&#13;&#10;&#13;&#10;            &lt;Box style={{ flex: 1, background: '#FFFFFF', border: '1px solid #D6DCE5', borderRadius: 10, padding: '20px 20px', flexDirection: 'column' }}&gt;&#13;&#10;                &lt;Box style={{ width: 44, height: 44, borderRadius: 10, background: '#E8EFF8', justifyContent: 'center', alignItems: 'center' }}&gt;&#13;&#10;                    &lt;FAIcon name='microchip' style={{ fill: '#1E4FA8', width: 22, height: 22 }} /&gt;&#13;&#10;                &lt;/Box&gt;&#13;&#10;                &lt;Text style={{ fontSize: 20, fontWeight: 'bold', color: '#0E3F8C', marginTop: 12 }}&gt;隔离计算沙箱&lt;/Text&gt;&#13;&#10;                &lt;Text style={{ fontSize: 16, color: '#4A5568', lineHeight: 1.6, marginTop: 10 }}&gt;独立 Sandbox 容器：无网络、只读根文件系统、CPU / 内存 / PID 限额、Unix socket 通信；仅开放定额计算、CSV 摘要与文本统计。&lt;/Text&gt;&#13;&#10;                &lt;Box style={{ marginTop: 'auto', paddingTop: 12, borderTop: '1px solid #E5E7EB' }}&gt;&#13;&#10;                    &lt;Text style={{ fontSize: 15, fontWeight: 'bold', color: '#D9534F', lineHeight: 1.45 }}&gt;任意生成代码执行关闭&lt;/Text&gt;&#13;&#10;                &lt;/Box&gt;&#13;&#10;            &lt;/Box&gt;&#13;&#10;        &lt;/Box&gt;&#13;&#10;&#13;&#10;        {/* 边界条 */}&#13;&#10;        &lt;Box style={{ height: 84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info-circle' style={{ fill: '#FFFFFF', width: 22, height: 22 }} /&gt;&#13;&#10;            &lt;/Box&gt;&#13;&#10;            &lt;Box style={{ flex: 1 }}&gt;&#13;&#10;                &lt;Text style={{ fontSize: 18, fontWeight: 'bold', color: '#0E3F8C' }}&gt;边界声明&lt;/Text&gt;&#13;&#10;                &lt;Text style={{ fontSize: 16, color: '#1A2230', lineHeight: 1.55, marginTop: 2 }}&gt;本地演示账户与测试 OIDC issuer 不等于组织生产身份系统；组织 IdP、生产 TLS 与异地加密备份未在本机验收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2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安全、权限与隔离体系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381000" y="1371600"/>
            <a:ext cx="11430000" cy="419100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1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495425"/>
            <a:ext cx="171450" cy="171450"/>
          </a:xfrm>
          <a:prstGeom prst="rect">
            <a:avLst/>
          </a:prstGeom>
          <a:ln/>
        </p:spPr>
      </p:pic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76300" y="1485900"/>
            <a:ext cx="472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四条防线：从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传输、授权、输入到执行环境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逐层收窄模型可影响的面。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3810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5715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6275" y="2200275"/>
            <a:ext cx="209550" cy="2095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715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会话与传输安全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71500" y="2952750"/>
            <a:ext cx="236220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HttpOnly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会话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Cookie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CSRF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校验；服务端共享会话使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扩容仍保持登录；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OIDC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校验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issuer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audience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nonce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state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、签名与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PKCE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715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715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演示账户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组织</a:t>
            </a:r>
            <a:r>
              <a:rPr lang="en-US" sz="1125" b="1">
                <a:solidFill>
                  <a:srgbClr val="D9534F"/>
                </a:solidFill>
                <a:latin typeface="Microsoft YaHei"/>
                <a:ea typeface="Microsoft YaHei"/>
              </a:rPr>
              <a:t xml:space="preserve"> IdP </a:t>
            </a: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已接入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32766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9" name=""/>
          <p:cNvSpPr/>
          <p:nvPr/>
        </p:nvSpPr>
        <p:spPr>
          <a:xfrm rot="0" flipH="0" flipV="0">
            <a:off x="34671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571875" y="2200275"/>
            <a:ext cx="209550" cy="20955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4671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双层授权模型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467100" y="2952750"/>
            <a:ext cx="23622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Casbin RBAC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管角色，资源拥有者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租户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ABAC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管数据范围；客户身份取自服务端会话，模型不能指定客户、租户或审批人。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4671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4671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权限不来自模型输入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1722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63627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67475" y="2200275"/>
            <a:ext cx="209550" cy="20955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3627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提示注入防护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362700" y="2952750"/>
            <a:ext cx="23622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对话中检索到的文本仅作数据处理，不能升级为可信指令或绕过授权；日志、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Trace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与护栏共同维护信任边界。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3627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3627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不宣称对未知攻击全免疫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90678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92583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63075" y="2200275"/>
            <a:ext cx="209550" cy="209550"/>
          </a:xfrm>
          <a:prstGeom prst="rect">
            <a:avLst/>
          </a:prstGeom>
          <a:ln/>
        </p:spPr>
      </p:pic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9258300" y="2628900"/>
            <a:ext cx="2362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隔离计算沙箱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258300" y="2952750"/>
            <a:ext cx="23622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独立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Sandbox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容器：无网络、只读根文件系统、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CPU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内存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PID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限额、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Unix socket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通信；仅开放定额计算、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CSV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摘要与文本统计。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9258300" y="4838700"/>
            <a:ext cx="2362200" cy="390525"/>
          </a:xfrm>
          <a:custGeom>
            <a:pathLst>
              <a:path w="248" h="41">
                <a:moveTo>
                  <a:pt x="0" y="0"/>
                </a:moveTo>
                <a:lnTo>
                  <a:pt x="248" y="0"/>
                </a:lnTo>
                <a:lnTo>
                  <a:pt x="248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9258300" y="4962525"/>
            <a:ext cx="2362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任意生成代码执行关闭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边界声明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219200" y="58959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本地演示账户与测试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OIDC issuer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不等于组织生产身份系统；组织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IdP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、生产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TLS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与异地加密备份未在本机验收。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 r:embed="rId7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16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2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工程实现与部署&lt;/Text&gt;&#13;&#10;        &lt;Text style={{ fontSize: 15, color: '#8B97A8', marginLeft: 'auto' }}&gt;04 / 06&lt;/Text&gt;&#13;&#10;    &lt;/Box&gt;&#13;&#10;&#13;&#10;    {/* C 内容区 */}&#13;&#10;    &lt;Box style={{ flexDirection: 'column', gap: 12, marginTop: 16, height: 520 }}&gt;&#13;&#10;        {/* 部署组件条 */}&#13;&#10;        &lt;Box style={{ height: 76, background: '#0E3F8C', borderRadius: 10, padding: '0 22px', flexDirection: 'row', alignItems: 'center', gap: 10 }}&gt;&#13;&#10;            &lt;Text style={{ fontSize: 16, fontWeight: 'bold', color: '#3D7BD9', width: 96 }}&gt;Docker Compose&lt;/Text&gt;&#13;&#10;            &lt;Box style={{ padding: '6px 14px', background: '#FFFFFF', borderRadius: 14 }}&gt;&#13;&#10;                &lt;Text style={{ fontSize: 14, fontWeight: 'bold', color: '#0E3F8C', lineHeight: 1.2 }}&gt;Nginx + 前端&lt;/Text&gt;&#13;&#10;            &lt;/Box&gt;&#13;&#10;            &lt;Box style={{ padding: '6px 14px', background: '#FFFFFF', borderRadius: 14 }}&gt;&#13;&#10;                &lt;Text style={{ fontSize: 14, fontWeight: 'bold', color: '#0E3F8C', lineHeight: 1.2 }}&gt;FastAPI API&lt;/Text&gt;&#13;&#10;            &lt;/Box&gt;&#13;&#10;            &lt;Box style={{ padding: '6px 14px', background: '#FFFFFF', borderRadius: 14 }}&gt;&#13;&#10;                &lt;Text style={{ fontSize: 14, fontWeight: 'bold', color: '#0E3F8C', lineHeight: 1.2 }}&gt;LangGraph Worker&lt;/Text&gt;&#13;&#10;            &lt;/Box&gt;&#13;&#10;            &lt;Box style={{ padding: '6px 14px', background: '#FFFFFF', borderRadius: 14 }}&gt;&#13;&#10;                &lt;Text style={{ fontSize: 14, fontWeight: 'bold', color: '#0E3F8C', lineHeight: 1.2 }}&gt;MCP 商家服务&lt;/Text&gt;&#13;&#10;            &lt;/Box&gt;&#13;&#10;            &lt;Box style={{ padding: '6px 14px', background: '#FFFFFF', borderRadius: 14 }}&gt;&#13;&#10;                &lt;Text style={{ fontSize: 14, fontWeight: 'bold', color: '#0E3F8C', lineHeight: 1.2 }}&gt;计算 Sandbox&lt;/Text&gt;&#13;&#10;            &lt;/Box&gt;&#13;&#10;            &lt;Box style={{ padding: '6px 14px', background: '#FFFFFF', borderRadius: 14 }}&gt;&#13;&#10;                &lt;Text style={{ fontSize: 14, fontWeight: 'bold', color: '#0E3F8C', lineHeight: 1.2 }}&gt;PostgreSQL&lt;/Text&gt;&#13;&#10;            &lt;/Box&gt;&#13;&#10;            &lt;Box style={{ padding: '6px 14px', background: '#FFFFFF', borderRadius: 14 }}&gt;&#13;&#10;                &lt;Text style={{ fontSize: 14, fontWeight: 'bold', color: '#0E3F8C', lineHeight: 1.2 }}&gt;Redis&lt;/Text&gt;&#13;&#10;            &lt;/Box&gt;&#13;&#10;            &lt;Box style={{ padding: '6px 14px', background: '#3D7BD9', borderRadius: 14 }}&gt;&#13;&#10;                &lt;Text style={{ fontSize: 14, fontWeight: 'bold', color: '#FFFFFF', lineHeight: 1.2 }}&gt;ES / pgvector&lt;/Text&gt;&#13;&#10;            &lt;/Box&gt;&#13;&#10;        &lt;/Box&gt;&#13;&#10;&#13;&#10;        &lt;Box style={{ flexDirection: 'row', gap: 20, height: 320 }}&gt;&#13;&#10;            {/* 左：验收数据 */}&#13;&#10;            &lt;Box style={{ width: 700, background: '#F7F9FC', border: '1px solid #D6DCE5', borderRadius: 10, padding: '20px 24px', flexDirection: 'column' }}&gt;&#13;&#10;                &lt;Text style={{ fontSize: 23, fontWeight: 'bold', color: '#0E3F8C' }}&gt;工程验收实测&lt;/Text&gt;&#13;&#10;                &lt;Box style={{ flexDirection: 'row', gap: 16, marginTop: 16 }}&gt;&#13;&#10;                    &lt;Box style={{ flex: 1 }}&gt;&#13;&#10;                        &lt;Text style={{ fontSize: 40, fontWeight: 'bold', color: '#1E4FA8', lineHeight: 1 }}&gt;293&lt;/Text&gt;&#13;&#10;                        &lt;Text style={{ fontSize: 15, color: '#4A5568', marginTop: 6, lineHeight: 1.5 }}&gt;项后端测试&lt;br /&gt;Windows 21.23s · Linux Docker 6.24s&lt;/Text&gt;&#13;&#10;                    &lt;/Box&gt;&#13;&#10;                    &lt;Box style={{ flex: 1 }}&gt;&#13;&#10;                        &lt;Text style={{ fontSize: 40, fontWeight: 'bold', color: '#1E4FA8', lineHeight: 1 }}&gt;7200s&lt;/Text&gt;&#13;&#10;                        &lt;Text style={{ fontSize: 15, color: '#4A5568', marginTop: 6, lineHeight: 1.5 }}&gt;连续运行&lt;br /&gt;120/120 只读任务通过 · 0 失败&lt;/Text&gt;&#13;&#10;                    &lt;/Box&gt;&#13;&#10;                    &lt;Box style={{ flex: 1 }}&gt;&#13;&#10;                        &lt;Text style={{ fontSize: 40, fontWeight: 'bold', color: '#1E4FA8', lineHeight: 1 }}&gt;30.19s&lt;/Text&gt;&#13;&#10;                        &lt;Text style={{ fontSize: 15, color: '#4A5568', marginTop: 6, lineHeight: 1.5 }}&gt;Worker 故障接管&lt;br /&gt;fencing 1 → 2 · 28 条事件连续&lt;/Text&gt;&#13;&#10;                    &lt;/Box&gt;&#13;&#10;                &lt;/Box&gt;&#13;&#10;&#13;&#10;                &lt;Box style={{ marginTop: 'auto', background: '#FFFFFF', border: '1px solid #E5E7EB', borderRadius: 8, padding: '12px 16px' }}&gt;&#13;&#10;                    &lt;Text style={{ fontSize: 15, color: '#4A5568', lineHeight: 1.55 }}&gt;控制 API 压力（不触发 LLM）：10 并发 &lt;span style={{ fontWeight: 'bold', color: '#1E4FA8' }}&gt;174.37 RPS / P95≈79ms&lt;/span&gt;；50 并发 &lt;span style={{ fontWeight: 'bold', color: '#1E4FA8' }}&gt;158.75 RPS / P95≈563ms&lt;/span&gt;，全部 HTTP 200。&lt;/Text&gt;&#13;&#10;                &lt;/Box&gt;&#13;&#10;            &lt;/Box&gt;&#13;&#10;&#13;&#10;            {/* 右：可靠性机制 */}&#13;&#10;            &lt;Box style={{ width: 480, background: '#FFFFFF', border: '1px solid #D6DCE5', borderRadius: 10, padding: '20px 24px', flexDirection: 'column' }}&gt;&#13;&#10;                &lt;Text style={{ fontSize: 23, fontWeight: 'bold', color: '#0E3F8C' }}&gt;部署与数据可靠性&lt;/Text&gt;&#13;&#10;                &lt;Box style={{ flexDirection: 'column', gap: 6, marginTop: 10 }}&gt;&#13;&#10;                    &lt;Box style={{ flexDirection: 'row', gap: 12, alignItems: 'flex-start' }}&gt;&#13;&#10;                        &lt;Text style={{ fontSize: 15, fontWeight: 'bold', color: '#1E4FA8', width: 72 }}&gt;分容器&lt;/Text&gt;&#13;&#10;                        &lt;Text style={{ fontSize: 15, color: '#1A2230', lineHeight: 1.5, flex: 1 }}&gt;API / Worker / MCP / Sandbox / 数据库独立进程，uv 锁文件与镜像 digest 冻结。&lt;/Text&gt;&#13;&#10;                    &lt;/Box&gt;&#13;&#10;                    &lt;Box style={{ flexDirection: 'row', gap: 12, alignItems: 'flex-start' }}&gt;&#13;&#10;                        &lt;Text style={{ fontSize: 15, fontWeight: 'bold', color: '#1E4FA8', width: 72 }}&gt;权威存储&lt;/Text&gt;&#13;&#10;                        &lt;Text style={{ fontSize: 15, color: '#1A2230', lineHeight: 1.5, flex: 1 }}&gt;PostgreSQL 保存任务、事件、审批、幂等记录、业务账本与 Outbox。&lt;/Text&gt;&#13;&#10;                    &lt;/Box&gt;&#13;&#10;                    &lt;Box style={{ flexDirection: 'row', gap: 12, alignItems: 'flex-start' }}&gt;&#13;&#10;                        &lt;Text style={{ fontSize: 15, fontWeight: 'bold', color: '#1E4FA8', width: 72 }}&gt;通知兜底&lt;/Text&gt;&#13;&#10;                        &lt;Text style={{ fontSize: 15, color: '#1A2230', lineHeight: 1.5, flex: 1 }}&gt;Redis Pub/Sub 仅加速唤醒，通知丢失由 PostgreSQL 轮询发现任务。&lt;/Text&gt;&#13;&#10;                    &lt;/Box&gt;&#13;&#10;                    &lt;Box style={{ flexDirection: 'row', gap: 12, alignItems: 'flex-start' }}&gt;&#13;&#10;                        &lt;Text style={{ fontSize: 15, fontWeight: 'bold', color: '#1E4FA8', width: 72 }}&gt;可观测&lt;/Text&gt;&#13;&#10;                        &lt;Text style={{ fontSize: 15, color: '#1A2230', lineHeight: 1.5, flex: 1 }}&gt;OTel → Jaeger、Prometheus → Grafana，持久事件按 workflow_id 关联。&lt;/Text&gt;&#13;&#10;                    &lt;/Box&gt;&#13;&#10;                &lt;/Box&gt;&#13;&#10;            &lt;/Box&gt;&#13;&#10;        &lt;/Box&gt;&#13;&#10;&#13;&#10;        {/* 结论条 */}&#13;&#10;        &lt;Box style={{ height: 100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server' style={{ fill: '#FFFFFF', width: 22, height: 22 }} /&gt;&#13;&#10;            &lt;/Box&gt;&#13;&#10;            &lt;Box style={{ flex: 1 }}&gt;&#13;&#10;                &lt;Text style={{ fontSize: 18, fontWeight: 'bold', color: '#0E3F8C' }}&gt;验收范围与边界&lt;/Text&gt;&#13;&#10;                &lt;Text style={{ fontSize: 16, color: '#1A2230', lineHeight: 1.55, marginTop: 2 }}&gt;上述为本机工程验收结果，不等于生产 SLA；Docker Compose 是本地 / 单宿主交付，PostgreSQL、Redis、MCP 仍为单宿主单实例，同宿主进程接管不等于数据库 HA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3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工程实现与部署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04 / 06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381000" y="1371600"/>
            <a:ext cx="11430000" cy="723900"/>
          </a:xfrm>
          <a:prstGeom prst="roundRect">
            <a:avLst>
              <a:gd name="adj" fmla="val 1315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90550" y="1552575"/>
            <a:ext cx="91440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Microsoft YaHei"/>
                <a:ea typeface="Microsoft YaHei"/>
              </a:rPr>
              <a:t>Docker Compose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1600200" y="1581150"/>
            <a:ext cx="11239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733550" y="1638300"/>
            <a:ext cx="8572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Nginx +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2819400" y="1581150"/>
            <a:ext cx="10477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2952750" y="1638300"/>
            <a:ext cx="7810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FastAPI API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3962400" y="1581150"/>
            <a:ext cx="15430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095750" y="1638300"/>
            <a:ext cx="12763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LangGraph Worker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600700" y="1581150"/>
            <a:ext cx="11620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734050" y="1638300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商家服务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858000" y="1581150"/>
            <a:ext cx="11620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991350" y="1638300"/>
            <a:ext cx="8953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1050" b="1">
                <a:solidFill>
                  <a:srgbClr val="0E3F8C"/>
                </a:solidFill>
                <a:latin typeface="Microsoft YaHei"/>
                <a:ea typeface="Microsoft YaHei"/>
              </a:rPr>
              <a:t>计算</a:t>
            </a: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Sandbox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115300" y="1581150"/>
            <a:ext cx="10477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248650" y="1638300"/>
            <a:ext cx="7810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PostgreSQL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9258300" y="1581150"/>
            <a:ext cx="62865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391650" y="1638300"/>
            <a:ext cx="36195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Redis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9982200" y="1581150"/>
            <a:ext cx="1171575" cy="314325"/>
          </a:xfrm>
          <a:prstGeom prst="roundRect">
            <a:avLst>
              <a:gd name="adj" fmla="val 4242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0115550" y="1638300"/>
            <a:ext cx="904875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ES / pgvector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381000" y="2209800"/>
            <a:ext cx="666750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工程验收实测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609600" y="2819400"/>
            <a:ext cx="1971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293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09600" y="3333750"/>
            <a:ext cx="19716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项后端测试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Windows 21.23s · Linux Docker 6.24s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733675" y="2819400"/>
            <a:ext cx="19621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7200s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733675" y="3333750"/>
            <a:ext cx="196215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连续运行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120/120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只读任务通过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失败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848225" y="2819400"/>
            <a:ext cx="19716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1E4FA8"/>
                </a:solidFill>
                <a:latin typeface="Microsoft YaHei"/>
                <a:ea typeface="Microsoft YaHei"/>
              </a:rPr>
              <a:t>30.19s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848225" y="3333750"/>
            <a:ext cx="197167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Worker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故障接管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fencing 1 → 2 · 28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条事件连续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4305300"/>
            <a:ext cx="62103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2000" y="4419600"/>
            <a:ext cx="59055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控制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压力（不触发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LLM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并发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174.37 RPS / P95≈79ms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50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并发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25" b="1">
                <a:solidFill>
                  <a:srgbClr val="1E4FA8"/>
                </a:solidFill>
                <a:latin typeface="Microsoft YaHei"/>
                <a:ea typeface="Microsoft YaHei"/>
              </a:rPr>
              <a:t>158.75 RPS / P95≈563ms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，全部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HTTP 200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239000" y="2209800"/>
            <a:ext cx="45720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467600" y="2400300"/>
            <a:ext cx="4114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部署与数据可靠性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467600" y="27622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分容器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67700" y="27622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API / Worker / MCP / Sandbox /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数据库独立进程，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uv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锁文件与镜像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digest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冻结。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467600" y="33337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权威存储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67700" y="33337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PostgreSQL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保存任务、事件、审批、幂等记录、业务账本与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Outbox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467600" y="39052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通知兜底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267700" y="39052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Redis Pub/Sub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仅加速唤醒，通知丢失由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PostgreSQL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轮询发现任务。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467600" y="44767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可观测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267700" y="44767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OTel → Jaeger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Prometheus → Grafana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，持久事件按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workflow_id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关联。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62865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" y="5743575"/>
            <a:ext cx="209550" cy="20955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219200" y="544830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验收范围与边界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219200" y="5676900"/>
            <a:ext cx="10344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上述为本机工程验收结果，不等于生产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SLA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；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Docker Compose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是本地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单宿主交付，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PostgreSQL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Redis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仍为单宿主单实例，同宿主进程接管不等于数据库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225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8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实验方案与评测协议&lt;/Text&gt;&#13;&#10;        &lt;Text style={{ fontSize: 15, color: '#8B97A8', marginLeft: 'auto' }}&gt;05 / 06&lt;/Text&gt;&#13;&#10;    &lt;/Box&gt;&#13;&#10;&#13;&#10;    {/* C 内容区 */}&#13;&#10;    &lt;Box style={{ flexDirection: 'column', gap: 12, marginTop: 16, height: 520 }}&gt;&#13;&#10;        {/* 冻结协议条 */}&#13;&#10;        &lt;Box style={{ height: 72, background: '#F0F5FC', border: '1px solid #C9DCF5', borderRadius: 10, padding: '0 22px', flexDirection: 'row', alignItems: 'center', gap: 12 }}&gt;&#13;&#10;            &lt;FAIcon name='snowflake' style={{ fill: '#1E4FA8', width: 20, height: 20 }} /&gt;&#13;&#10;            &lt;Text style={{ fontSize: 16, fontWeight: 'bold', color: '#0E3F8C' }}&gt;冻结协议&lt;/Text&gt;&#13;&#10;            &lt;Text style={{ fontSize: 15, color: '#4A5568' }}&gt;模型&lt;/Text&gt;&#13;&#10;            &lt;Text style={{ fontSize: 15, color: '#1A2230', fontWeight: 'bold' }}&gt;deepseek-v4.1-flash&lt;/Text&gt;&#13;&#10;            &lt;Text style={{ fontSize: 15, color: '#4A5568' }}&gt;·&lt;/Text&gt;&#13;&#10;            &lt;Text style={{ fontSize: 15, color: '#1A2230', fontWeight: 'bold' }}&gt;temperature 0.3&lt;/Text&gt;&#13;&#10;            &lt;Text style={{ fontSize: 15, color: '#4A5568' }}&gt;·&lt;/Text&gt;&#13;&#10;            &lt;Text style={{ fontSize: 15, color: '#1A2230', fontWeight: 'bold' }}&gt;reasoning 关闭&lt;/Text&gt;&#13;&#10;            &lt;Text style={{ fontSize: 15, color: '#4A5568' }}&gt;·&lt;/Text&gt;&#13;&#10;            &lt;Text style={{ fontSize: 15, color: '#1A2230', fontWeight: 'bold' }}&gt;provider 白名单 + fallback&lt;/Text&gt;&#13;&#10;            &lt;Text style={{ fontSize: 15, color: '#4A5568' }}&gt;·&lt;/Text&gt;&#13;&#10;            &lt;Text style={{ fontSize: 15, color: '#1A2230', fontWeight: 'bold' }}&gt;schedule 与评分器冻结&lt;/Text&gt;&#13;&#10;        &lt;/Box&gt;&#13;&#10;&#13;&#10;        &lt;Box style={{ flexDirection: 'row', gap: 20, height: 320 }}&gt;&#13;&#10;            {/* 左：基线与消融 */}&#13;&#10;            &lt;Box style={{ width: 700, background: '#F7F9FC', border: '1px solid #D6DCE5', borderRadius: 10, padding: '20px 24px', flexDirection: 'column' }}&gt;&#13;&#10;                &lt;Text style={{ fontSize: 23, fontWeight: 'bold', color: '#0E3F8C' }}&gt;基线与消融设计&lt;/Text&gt;&#13;&#10;                &lt;Box style={{ flexDirection: 'column', gap: 8, marginTop: 14 }}&gt;&#13;&#10;                    &lt;Box style={{ flexDirection: 'row', gap: 12, alignItems: 'center', background: '#FFFFFF', border: '1px solid #E5E7EB', borderRadius: 6, padding: '8px 14px' }}&gt;&#13;&#10;                        &lt;Text style={{ fontSize: 16, fontWeight: 'bold', color: '#1E4FA8', width: 96 }}&gt;B2&lt;/Text&gt;&#13;&#10;                        &lt;Text style={{ fontSize: 15, color: '#1A2230', flex: 1 }}&gt;规划基线：原生 ReAct + BM25 / dense / RRF / reranker&lt;/Text&gt;&#13;&#10;                    &lt;/Box&gt;&#13;&#10;                    &lt;Box style={{ flexDirection: 'row', gap: 12, alignItems: 'center', background: '#FFFFFF', border: '1px solid #E5E7EB', borderRadius: 6, padding: '8px 14px' }}&gt;&#13;&#10;                        &lt;Text style={{ fontSize: 16, fontWeight: 'bold', color: '#1E4FA8', width: 96 }}&gt;R-hybrid&lt;/Text&gt;&#13;&#10;                        &lt;Text style={{ fontSize: 15, color: '#1A2230', flex: 1 }}&gt;路由基线：混合检索路由，用于 1000 项目录对照&lt;/Text&gt;&#13;&#10;                    &lt;/Box&gt;&#13;&#10;                    &lt;Box style={{ flexDirection: 'row', gap: 12, alignItems: 'center', background: '#FFFFFF', border: '1px solid #E5E7EB', borderRadius: 6, padding: '8px 14px' }}&gt;&#13;&#10;                        &lt;Text style={{ fontSize: 16, fontWeight: 'bold', color: '#1E4FA8', width: 96 }}&gt;M-vector&lt;/Text&gt;&#13;&#10;                        &lt;Text style={{ fontSize: 15, color: '#1A2230', flex: 1 }}&gt;记忆基线：最近 5 条对话 + 查询向量检索历史 Top8&lt;/Text&gt;&#13;&#10;                    &lt;/Box&gt;&#13;&#10;                    &lt;Box style={{ flexDirection: 'row', gap: 12, alignItems: 'center', background: '#FFFFFF', border: '1px solid #E5E7EB', borderRadius: 6, padding: '8px 14px' }}&gt;&#13;&#10;                        &lt;Text style={{ fontSize: 16, fontWeight: 'bold', color: '#1E4FA8', width: 96 }}&gt;A-reflect&lt;/Text&gt;&#13;&#10;                        &lt;Text style={{ fontSize: 15, color: '#1A2230', flex: 1 }}&gt;恢复基线：关闭证据反思，保留共享重试与 receipt 去重&lt;/Text&gt;&#13;&#10;                    &lt;/Box&gt;&#13;&#10;                    &lt;Box style={{ flexDirection: 'row', gap: 12, alignItems: 'center', background: '#FDF3F3', border: '1px solid #F3D6D6', borderRadius: 6, padding: '8px 14px' }}&gt;&#13;&#10;                        &lt;Text style={{ fontSize: 16, fontWeight: 'bold', color: '#C0392B', width: 96 }}&gt;A-plan&lt;/Text&gt;&#13;&#10;                        &lt;Text style={{ fontSize: 15, color: '#1A2230', flex: 1 }}&gt;规划消融：次级比较，用于分离机制贡献&lt;/Text&gt;&#13;&#10;                    &lt;/Box&gt;&#13;&#10;                &lt;/Box&gt;&#13;&#10;            &lt;/Box&gt;&#13;&#10;&#13;&#10;            {/* 右：评测口径 */}&#13;&#10;            &lt;Box style={{ width: 480, background: '#FFFFFF', border: '1px solid #D6DCE5', borderRadius: 10, padding: '20px 24px', flexDirection: 'column' }}&gt;&#13;&#10;                &lt;Text style={{ fontSize: 23, fontWeight: 'bold', color: '#0E3F8C' }}&gt;评测口径&lt;/Text&gt;&#13;&#10;                &lt;Box style={{ flexDirection: 'column', gap: 6, marginTop: 10 }}&gt;&#13;&#10;                    &lt;Box style={{ flexDirection: 'row', gap: 12, alignItems: 'flex-start' }}&gt;&#13;&#10;                        &lt;Text style={{ fontSize: 15, fontWeight: 'bold', color: '#1E4FA8', width: 72 }}&gt;严格成功&lt;/Text&gt;&#13;&#10;                        &lt;Text style={{ fontSize: 15, color: '#1A2230', lineHeight: 1.5, flex: 1 }}&gt;联合检查终态、订单作用域、当前证据、工具效果与回执等隐藏约束。&lt;/Text&gt;&#13;&#10;                    &lt;/Box&gt;&#13;&#10;                    &lt;Box style={{ flexDirection: 'row', gap: 12, alignItems: 'flex-start' }}&gt;&#13;&#10;                        &lt;Text style={{ fontSize: 15, fontWeight: 'bold', color: '#1E4FA8', width: 72 }}&gt;统计方法&lt;/Text&gt;&#13;&#10;                        &lt;Text style={{ fontSize: 15, color: '#1A2230', lineHeight: 1.5, flex: 1 }}&gt;family 均衡率 + family 配对聚类 bootstrap（4000 次，seed 10001）。&lt;/Text&gt;&#13;&#10;                    &lt;/Box&gt;&#13;&#10;                    &lt;Box style={{ flexDirection: 'row', gap: 12, alignItems: 'flex-start' }}&gt;&#13;&#10;                        &lt;Text style={{ fontSize: 15, fontWeight: 'bold', color: '#1E4FA8', width: 72 }}&gt;评测规模&lt;/Text&gt;&#13;&#10;                        &lt;Text style={{ fontSize: 15, color: '#1A2230', lineHeight: 1.5, flex: 1 }}&gt;七项冻结实验共 3762 个 schedule 单元，同一模型与参数。&lt;/Text&gt;&#13;&#10;                    &lt;/Box&gt;&#13;&#10;                    &lt;Box style={{ flexDirection: 'row', gap: 12, alignItems: 'flex-start' }}&gt;&#13;&#10;                        &lt;Text style={{ fontSize: 15, fontWeight: 'bold', color: '#D9534F', width: 72 }}&gt;失败处理&lt;/Text&gt;&#13;&#10;                        &lt;Text style={{ fontSize: 15, color: '#1A2230', lineHeight: 1.5, flex: 1 }}&gt;失败批次与旧供应商结果原样保留，不删除、不更换分母。&lt;/Text&gt;&#13;&#10;                    &lt;/Box&gt;&#13;&#10;                &lt;/Box&gt;&#13;&#10;            &lt;/Box&gt;&#13;&#10;        &lt;/Box&gt;&#13;&#10;&#13;&#10;        {/* 局限条 */}&#13;&#10;        &lt;Box style={{ height: 100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info-circle' style={{ fill: '#FFFFFF', width: 22, height: 22 }} /&gt;&#13;&#10;            &lt;/Box&gt;&#13;&#10;            &lt;Box style={{ flex: 1 }}&gt;&#13;&#10;                &lt;Text style={{ fontSize: 18, fontWeight: 'bold', color: '#0E3F8C' }}&gt;评测局限（如实披露）&lt;/Text&gt;&#13;&#10;                &lt;Text style={{ fontSize: 16, color: '#1A2230', lineHeight: 1.55, marginTop: 2 }}&gt;新题没有独立人工盲审；重复 trial 是同场景重复测量，不算新增独立样本；网关报告费用不是账单核对；外部模型 revision 不固定，不保证逐字一致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4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实验方案与评测协议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05 / 06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81000" y="1371600"/>
            <a:ext cx="11430000" cy="685800"/>
          </a:xfrm>
          <a:prstGeom prst="roundRect">
            <a:avLst>
              <a:gd name="adj" fmla="val 13889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2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619250"/>
            <a:ext cx="190500" cy="190500"/>
          </a:xfrm>
          <a:prstGeom prst="rect">
            <a:avLst/>
          </a:prstGeom>
          <a:ln/>
        </p:spPr>
      </p:pic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95350" y="16192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冻结协议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619250" y="16287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2019300" y="1628775"/>
            <a:ext cx="144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deepseek-v4.1-flash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3581400" y="1628775"/>
            <a:ext cx="3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4A556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733800" y="1628775"/>
            <a:ext cx="116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>temperature 0.3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010150" y="1628775"/>
            <a:ext cx="3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4A556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162550" y="1628775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reasoning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关闭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324600" y="1628775"/>
            <a:ext cx="3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4A556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477000" y="1628775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provider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白名单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fallback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429625" y="1628775"/>
            <a:ext cx="38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4A5568"/>
                </a:solidFill>
                <a:latin typeface="Microsoft YaHei"/>
                <a:ea typeface="Microsoft YaHei"/>
              </a:rPr>
              <a:t>·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582025" y="1628775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schedule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与评分器冻结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381000" y="2171700"/>
            <a:ext cx="666750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2362200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基线与消融设计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609600" y="2762250"/>
            <a:ext cx="62103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742950" y="28384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B2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1771650" y="2847975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规划基线：原生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ReAct + BM25 / dense / RRF / reranker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3181350"/>
            <a:ext cx="62103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42950" y="32575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R-hybrid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771650" y="3267075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路由基线：混合检索路由，用于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1000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项目录对照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3600450"/>
            <a:ext cx="62103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742950" y="36766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M-vector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771650" y="3686175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记忆基线：最近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条对话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查询向量检索历史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Top8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609600" y="4019550"/>
            <a:ext cx="621030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742950" y="40957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Microsoft YaHei"/>
                <a:ea typeface="Microsoft YaHei"/>
              </a:rPr>
              <a:t>A-reflect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771650" y="4105275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恢复基线：关闭证据反思，保留共享重试与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receipt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去重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4438650"/>
            <a:ext cx="6210300" cy="342900"/>
          </a:xfrm>
          <a:prstGeom prst="roundRect">
            <a:avLst>
              <a:gd name="adj" fmla="val 16667"/>
            </a:avLst>
          </a:prstGeom>
          <a:solidFill>
            <a:srgbClr val="FDF3F3"/>
          </a:solidFill>
          <a:ln w="12700">
            <a:solidFill>
              <a:srgbClr val="F3D6D6"/>
            </a:solidFill>
            <a:prstDash val="solid"/>
          </a:ln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42950" y="45148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C0392B"/>
                </a:solidFill>
                <a:latin typeface="Microsoft YaHei"/>
                <a:ea typeface="Microsoft YaHei"/>
              </a:rPr>
              <a:t>A-plan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771650" y="4524375"/>
            <a:ext cx="491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规划消融：次级比较，用于分离机制贡献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239000" y="2171700"/>
            <a:ext cx="45720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467600" y="2362200"/>
            <a:ext cx="4114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评测口径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467600" y="27241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严格成功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267700" y="27241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联合检查终态、订单作用域、当前证据、工具效果与回执等隐藏约束。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467600" y="32956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统计方法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267700" y="32956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family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均衡率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+ family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配对聚类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bootstrap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4000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次，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seed 10001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7467600" y="38671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评测规模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267700" y="38671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七项冻结实验共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3762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schedule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单元，同一模型与参数。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467600" y="4438650"/>
            <a:ext cx="685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534F"/>
                </a:solidFill>
                <a:latin typeface="Microsoft YaHei"/>
                <a:ea typeface="Microsoft YaHei"/>
              </a:rPr>
              <a:t>失败处理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267700" y="4438650"/>
            <a:ext cx="331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失败批次与旧供应商结果原样保留，不删除、不更换分母。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381000" y="53340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628650" y="56007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3425" y="5705475"/>
            <a:ext cx="209550" cy="209550"/>
          </a:xfrm>
          <a:prstGeom prst="rect">
            <a:avLst/>
          </a:prstGeom>
          <a:ln/>
        </p:spPr>
      </p:pic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219200" y="55530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评测局限（如实披露）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219200" y="57816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新题没有独立人工盲审；重复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trial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是同场景重复测量，不算新增独立样本；网关报告费用不是账单核对；外部模型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revision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不固定，不保证逐字一致。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82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283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286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量化结果与关键指标&lt;/Text&gt;&#13;&#10;        &lt;Text style={{ fontSize: 15, color: '#8B97A8', marginLeft: 'auto' }}&gt;05 / 06&lt;/Text&gt;&#13;&#10;    &lt;/Box&gt;&#13;&#10;&#13;&#10;    {/* C 内容区 */}&#13;&#10;    &lt;Box style={{ flexDirection: 'column', gap: 12, marginTop: 16, height: 520 }}&gt;&#13;&#10;        {/* 主表 */}&#13;&#10;        &lt;Box style={{ height: 312 }}&gt;&#13;&#10;            &lt;Table&#13;&#10;                style={{ width: '100%', height: '100%' }}&#13;&#10;                defaultTextStyle={{ fontSize: 16, textAlign: 'center', color: '#1A2230' }}&#13;&#10;                defaultCellStyle={{&#13;&#10;                    border: {&#13;&#10;                        left: { width: 1, color: '#E5E7EB' },&#13;&#10;                        right: { width: 1, color: '#E5E7EB' },&#13;&#10;                        top: { width: 1, color: '#E5E7EB' },&#13;&#10;                        bottom: { width: 1, color: '#E5E7EB' },&#13;&#10;                    },&#13;&#10;                }}&#13;&#10;                cells={[&#13;&#10;                    [&#13;&#10;                        { text: '技术与比较组', textStyle: { bold: true, color: '#FFFFFF', fontSize: 16 }, cellStyle: { background: { color: '#0E3F8C' } } },&#13;&#10;                        { text: '主集规模', textStyle: { bold: true, color: '#FFFFFF', fontSize: 16 }, cellStyle: { background: { color: '#0E3F8C' } } },&#13;&#10;                        { text: '基线严格成功', textStyle: { bold: true, color: '#FFFFFF', fontSize: 16 }, cellStyle: { background: { color: '#0E3F8C' } } },&#13;&#10;                        { text: '本方案 P', textStyle: { bold: true, color: '#FFFFFF', fontSize: 16 }, cellStyle: { background: { color: '#0E3F8C' } } },&#13;&#10;                        { text: 'family 均衡差 / 95% 区间', textStyle: { bold: true, color: '#FFFFFF', fontSize: 16 }, cellStyle: { background: { color: '#0E3F8C' } } },&#13;&#10;                        { text: '结论', textStyle: { bold: true, color: '#FFFFFF', fontSize: 16 }, cellStyle: { background: { color: '#0E3F8C' } } },&#13;&#10;                    ],&#13;&#10;                    [&#13;&#10;                        '可验证规划 P vs B2',&#13;&#10;                        '36 场景 × 5 = 180',&#13;&#10;                        '117/180（65.00%）',&#13;&#10;                        { text: '159/180（88.33%）', textStyle: { bold: true, color: '#1E4FA8' } },&#13;&#10;                        '+9.14pp [−4.66, +23.45]',&#13;&#10;                        { text: '未达 ≥90%', textStyle: { bold: true, color: '#D9534F' } },&#13;&#10;                    ],&#13;&#10;                    [&#13;&#10;                        { text: '工具路由 P vs R-hybrid', cellStyle: { background: { color: '#F7F9FC' } } },&#13;&#10;                        { text: '50 例 × 3 = 150', cellStyle: { background: { color: '#F7F9FC' } } },&#13;&#10;                        { text: '150/150（100%）', cellStyle: { background: { color: '#F7F9FC' } } },&#13;&#10;                        { text: '150/150（100%）', textStyle: { bold: true, color: '#1E4FA8' }, cellStyle: { background: { color: '#F7F9FC' } } },&#13;&#10;                        { text: '0pp [0, 0]', cellStyle: { background: { color: '#F7F9FC' } } },&#13;&#10;                        { text: '无回退，未达 +5pp', textStyle: { bold: true, color: '#D9534F' }, cellStyle: { background: { color: '#F7F9FC' } } },&#13;&#10;                    ],&#13;&#10;                    [&#13;&#10;                        '时效记忆 V4 P vs M-vector',&#13;&#10;                        '60 组合 × 3 = 180',&#13;&#10;                        '62/180（34.44%）',&#13;&#10;                        { text: '180/180（100%）', textStyle: { bold: true, color: '#1E4FA8' } },&#13;&#10;                        '+75.64pp [+55.13, +92.31]',&#13;&#10;                        { text: '达到登记门槛', textStyle: { bold: true, color: '#1E4FA8' } },&#13;&#10;                    ],&#13;&#10;                    [&#13;&#10;                        { text: '失败恢复 P vs A-reflect', cellStyle: { background: { color: '#F7F9FC' } } },&#13;&#10;                        { text: '48 场景 × 3 = 144', cellStyle: { background: { color: '#F7F9FC' } } },&#13;&#10;                        { text: '48/144（33.33%）', cellStyle: { background: { color: '#F7F9FC' } } },&#13;&#10;                        { text: '144/144（100%）', textStyle: { bold: true, color: '#1E4FA8' }, cellStyle: { background: { color: '#F7F9FC' } } },&#13;&#10;                        { text: '+66.67pp [+33.33, +100]', cellStyle: { background: { color: '#F7F9FC' } } },&#13;&#10;                        { text: '达到登记门槛', textStyle: { bold: true, color: '#1E4FA8' }, cellStyle: { background: { color: '#F7F9FC' } } },&#13;&#10;                    ],&#13;&#10;                ]}&#13;&#10;            /&gt;&#13;&#10;        &lt;/Box&gt;&#13;&#10;&#13;&#10;        {/* 概览条 */}&#13;&#10;        &lt;Box style={{ height: 84, background: '#F0F5FC', border: '1px solid #C9DCF5', borderRadius: 10, padding: '0 26px', flexDirection: 'row', alignItems: 'center', gap: 30 }}&gt;&#13;&#10;            &lt;Box style={{ flexDirection: 'row', alignItems: 'baseline', gap: 8 }}&gt;&#13;&#10;                &lt;Text style={{ fontSize: 30, fontWeight: 'bold', color: '#1E4FA8', lineHeight: 1 }}&gt;3762&lt;/Text&gt;&#13;&#10;                &lt;Text style={{ fontSize: 15, color: '#4A5568' }}&gt;个冻结评测单元&lt;/Text&gt;&#13;&#10;            &lt;/Box&gt;&#13;&#10;            &lt;Box style={{ flexDirection: 'row', alignItems: 'baseline', gap: 8 }}&gt;&#13;&#10;                &lt;Text style={{ fontSize: 30, fontWeight: 'bold', color: '#1E4FA8', lineHeight: 1 }}&gt;2 / 4&lt;/Text&gt;&#13;&#10;                &lt;Text style={{ fontSize: 15, color: '#4A5568' }}&gt;项主指标达到预登记门槛&lt;/Text&gt;&#13;&#10;            &lt;/Box&gt;&#13;&#10;            &lt;Box style={{ flexDirection: 'row', alignItems: 'baseline', gap: 8 }}&gt;&#13;&#10;                &lt;Text style={{ fontSize: 30, fontWeight: 'bold', color: '#D9534F', lineHeight: 1 }}&gt;2 / 4&lt;/Text&gt;&#13;&#10;                &lt;Text style={{ fontSize: 15, color: '#4A5568' }}&gt;项未达标（规划绝对值、路由差值）&lt;/Text&gt;&#13;&#10;            &lt;/Box&gt;&#13;&#10;        &lt;/Box&gt;&#13;&#10;&#13;&#10;        {/* 结论条 */}&#13;&#10;        &lt;Box style={{ height: 100, background: '#0E3F8C', borderRadius: 10, padding: '0 26px', flexDirection: 'row', alignItems: 'center', gap: 18 }}&gt;&#13;&#10;            &lt;FAIcon name='chart-line' style={{ fill: '#3D7BD9', width: 26, height: 26 }} /&gt;&#13;&#10;            &lt;Box style={{ flex: 1 }}&gt;&#13;&#10;                &lt;Text style={{ fontSize: 18, fontWeight: 'bold', color: '#FFFFFF' }}&gt;如实交付结论&lt;/Text&gt;&#13;&#10;                &lt;Text style={{ fontSize: 16, color: '#B9CDEA', lineHeight: 1.55, marginTop: 2 }}&gt;记忆与恢复两项达到预登记门槛且区间下界高于目标；规划与路由两项未达目标，区间含 0 或基线已触样本上限，一并交付、不作修饰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5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量化结果与关键指标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05 / 06</a:t>
            </a:r>
            <a:endParaRPr/>
          </a:p>
        </p:txBody>
      </p:sp>
      <p:graphicFrame>
        <p:nvGraphicFramePr>
          <p:cNvPr id="291" name=""/>
          <p:cNvGraphicFramePr/>
          <p:nvPr/>
        </p:nvGraphicFramePr>
        <p:xfrm rot="0" flipH="0" flipV="0">
          <a:off x="381000" y="1371600"/>
          <a:ext cx="11430000" cy="2971800"/>
        </p:xfrm>
        <a:graphic>
          <a:graphicData uri="http://schemas.openxmlformats.org/drawingml/2006/table">
            <a:tbl>
              <a:tblGrid>
                <a:gridCol w="2267305">
                  <a:extLst>
                    <a:ext uri="{9D8B030D-6E8A-4147-A177-3AD203B41FA5}">
                      <a16:colId val="1"/>
                    </a:ext>
                  </a:extLst>
                </a:gridCol>
                <a:gridCol w="1582548">
                  <a:extLst>
                    <a:ext uri="{9D8B030D-6E8A-4147-A177-3AD203B41FA5}">
                      <a16:colId val="2"/>
                    </a:ext>
                  </a:extLst>
                </a:gridCol>
                <a:gridCol w="1745586">
                  <a:extLst>
                    <a:ext uri="{9D8B030D-6E8A-4147-A177-3AD203B41FA5}">
                      <a16:colId val="3"/>
                    </a:ext>
                  </a:extLst>
                </a:gridCol>
                <a:gridCol w="1821670">
                  <a:extLst>
                    <a:ext uri="{9D8B030D-6E8A-4147-A177-3AD203B41FA5}">
                      <a16:colId val="4"/>
                    </a:ext>
                  </a:extLst>
                </a:gridCol>
                <a:gridCol w="2332520">
                  <a:extLst>
                    <a:ext uri="{9D8B030D-6E8A-4147-A177-3AD203B41FA5}">
                      <a16:colId val="5"/>
                    </a:ext>
                  </a:extLst>
                </a:gridCol>
                <a:gridCol w="1680371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5943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技术与比较组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主集规模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基线严格成功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本方案 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family 均衡差 / 95% 区间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943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可验证规划 P vs B2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36 场景 × 5 = 180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117/180（65.00%）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159/180（88.33%）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+9.14pp [−4.66, +23.45]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未达 ≥90%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943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工具路由 P vs R-hybrid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50 例 × 3 = 150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150/150（100%）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150/150（100%）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0pp [0, 0]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无回退，未达 +5pp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943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时效记忆 V4 P vs M-vector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60 组合 × 3 = 180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62/180（34.44%）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180/180（100%）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+75.64pp [+55.13, +92.31]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达到登记门槛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9436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失败恢复 P vs A-reflect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48 场景 × 3 = 144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48/144（33.33%）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144/144（100%）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+66.67pp [+33.33, +100]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达到登记门槛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92" name=""/>
          <p:cNvSpPr/>
          <p:nvPr/>
        </p:nvSpPr>
        <p:spPr>
          <a:xfrm rot="0" flipH="0" flipV="0">
            <a:off x="381000" y="44577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28650" y="468630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3762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419225" y="4686300"/>
            <a:ext cx="10001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个冻结评测单元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2705100" y="4686300"/>
            <a:ext cx="666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E4FA8"/>
                </a:solidFill>
                <a:latin typeface="Microsoft YaHei"/>
                <a:ea typeface="Microsoft YaHei"/>
              </a:rPr>
              <a:t>2 / 4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448050" y="4686300"/>
            <a:ext cx="15716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项主指标达到预登记门槛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305425" y="4686300"/>
            <a:ext cx="666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D9534F"/>
                </a:solidFill>
                <a:latin typeface="Microsoft YaHei"/>
                <a:ea typeface="Microsoft YaHei"/>
              </a:rPr>
              <a:t>2 / 4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48375" y="4686300"/>
            <a:ext cx="2286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项未达标（规划绝对值、路由差值）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5724525"/>
            <a:ext cx="247650" cy="24765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047750" y="5591175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如实交付结论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47750" y="5819775"/>
            <a:ext cx="1051560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B9CDEA"/>
                </a:solidFill>
                <a:latin typeface="Microsoft YaHei"/>
                <a:ea typeface="Microsoft YaHei"/>
              </a:rPr>
              <a:t>记忆与恢复两项达到预登记门槛且区间下界高于目标；规划与路由两项未达目标，区间含</a:t>
            </a:r>
            <a:r>
              <a:rPr lang="en-US" sz="1200">
                <a:solidFill>
                  <a:srgbClr val="B9CDEA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200">
                <a:solidFill>
                  <a:srgbClr val="B9CDEA"/>
                </a:solidFill>
                <a:latin typeface="Microsoft YaHei"/>
                <a:ea typeface="Microsoft YaHei"/>
              </a:rPr>
              <a:t>或基线已触样本上限，一并交付、不作修饰。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07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30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11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可行性分析&lt;/Text&gt;&#13;&#10;        &lt;Text style={{ fontSize: 15, color: '#8B97A8', marginLeft: 'auto' }}&gt;06 / 06&lt;/Text&gt;&#13;&#10;    &lt;/Box&gt;&#13;&#10;&#13;&#10;    {/* C 内容区 */}&#13;&#10;    &lt;Box style={{ flexDirection: 'column', gap: 12, marginTop: 16, height: 520 }}&gt;&#13;&#10;        {/* 两栏可行性 */}&#13;&#10;        &lt;Box style={{ flexDirection: 'row', gap: 20, height: 216 }}&gt;&#13;&#10;            &lt;Box style={{ width: 590, background: '#F7F9FC', border: '1px solid #D6DCE5', borderRadius: 10, padding: '20px 24px', flexDirection: 'column' }}&gt;&#13;&#10;                &lt;Box style={{ flexDirection: 'row', alignItems: 'center', gap: 12 }}&gt;&#13;&#10;                    &lt;Box style={{ width: 40, height: 40, borderRadius: 10, background: '#E8EFF8', justifyContent: 'center', alignItems: 'center' }}&gt;&#13;&#10;                        &lt;FAIcon name='cogs' style={{ fill: '#1E4FA8', width: 20, height: 20 }} /&gt;&#13;&#10;                    &lt;/Box&gt;&#13;&#10;                    &lt;Text style={{ fontSize: 23, fontWeight: 'bold', color: '#0E3F8C' }}&gt;技术可行性&lt;/Text&gt;&#13;&#10;                &lt;/Box&gt;&#13;&#10;                &lt;Text style={{ fontSize: 16, color: '#4A5568', lineHeight: 1.6, marginTop: 12 }}&gt;四项机制均已落地为可运行代码并留有验收证据；模型、Embedding 与 Reranker 使用真实 API，订单 / 仓库 / 财务为可审计的商家模拟系统。&lt;/Text&gt;&#13;&#10;                &lt;Text style={{ fontSize: 15, fontWeight: 'bold', color: '#1E4FA8', marginTop: 'auto' }}&gt;结论：技术路径已验证，非纸面设计&lt;/Text&gt;&#13;&#10;            &lt;/Box&gt;&#13;&#10;&#13;&#10;            &lt;Box style={{ width: 590, background: '#F7F9FC', border: '1px solid #D6DCE5', borderRadius: 10, padding: '20px 24px', flexDirection: 'column' }}&gt;&#13;&#10;                &lt;Box style={{ flexDirection: 'row', alignItems: 'center', gap: 12 }}&gt;&#13;&#10;                    &lt;Box style={{ width: 40, height: 40, borderRadius: 10, background: '#E8EFF8', justifyContent: 'center', alignItems: 'center' }}&gt;&#13;&#10;                        &lt;FAIcon name='database' style={{ fill: '#1E4FA8', width: 20, height: 20 }} /&gt;&#13;&#10;                    &lt;/Box&gt;&#13;&#10;                    &lt;Text style={{ fontSize: 23, fontWeight: 'bold', color: '#0E3F8C' }}&gt;资源可行性&lt;/Text&gt;&#13;&#10;                &lt;/Box&gt;&#13;&#10;                &lt;Text style={{ fontSize: 16, color: '#4A5568', lineHeight: 1.6, marginTop: 12 }}&gt;单机 Docker Compose 即可完整复现；依赖锁文件与镜像 digest 冻结；模型推理在远端，本机无需 GPU，3050 未承担 LLM 计算。&lt;/Text&gt;&#13;&#10;                &lt;Text style={{ fontSize: 15, fontWeight: 'bold', color: '#1E4FA8', marginTop: 'auto' }}&gt;结论：单机可复现，无专用硬件门槛&lt;/Text&gt;&#13;&#10;            &lt;/Box&gt;&#13;&#10;        &lt;/Box&gt;&#13;&#10;&#13;&#10;        {/* 风险与缓解表 */}&#13;&#10;        &lt;Box style={{ height: 196 }}&gt;&#13;&#10;            &lt;Table&#13;&#10;                style={{ width: '100%', height: '100%' }}&#13;&#10;                defaultTextStyle={{ fontSize: 15, textAlign: 'left', color: '#1A2230' }}&#13;&#10;                defaultCellStyle={{&#13;&#10;                    border: {&#13;&#10;                        left: { width: 1, color: '#E5E7EB' },&#13;&#10;                        right: { width: 1, color: '#E5E7EB' },&#13;&#10;                        top: { width: 1, color: '#E5E7EB' },&#13;&#10;                        bottom: { width: 1, color: '#E5E7EB' },&#13;&#10;                    },&#13;&#10;                }}&#13;&#10;                cells={[&#13;&#10;                    [&#13;&#10;                        { text: '主要风险', textStyle: { bold: true, color: '#FFFFFF', fontSize: 16 }, cellStyle: { background: { color: '#0E3F8C' } } },&#13;&#10;                        { text: '影响', textStyle: { bold: true, color: '#FFFFFF', fontSize: 16 }, cellStyle: { background: { color: '#0E3F8C' } } },&#13;&#10;                        { text: '缓解措施', textStyle: { bold: true, color: '#FFFFFF', fontSize: 16 }, cellStyle: { background: { color: '#0E3F8C' } } },&#13;&#10;                    ],&#13;&#10;                    ['外部模型 revision 漂移', '结果不可逐字复现', 'provider 白名单 + fallback；冻结 schedule 与评分器；披露 provider mix 差异'],&#13;&#10;                    [&#13;&#10;                        { text: '评测无独立人工盲审', cellStyle: { background: { color: '#F7F9FC' } } },&#13;&#10;                        { text: '结论强度受限', cellStyle: { background: { color: '#F7F9FC' } } },&#13;&#10;                        { text: '标注为探索性证据，未达标项如实交付、不修饰', cellStyle: { background: { color: '#F7F9FC' } } },&#13;&#10;                    ],&#13;&#10;                    ['单宿主单实例部署', '无跨故障域 HA', '明确交付边界；同宿主接管仅作工程演练，不外推为 HA'],&#13;&#10;                    [&#13;&#10;                        { text: '商家账本为模拟系统', cellStyle: { background: { color: '#F7F9FC' } } },&#13;&#10;                        { text: '不能外推生产效果', cellStyle: { background: { color: '#F7F9FC' } } },&#13;&#10;                        { text: '不宣称生产商家 SLA，真实商家接入列为后续项', cellStyle: { background: { color: '#F7F9FC' } } },&#13;&#10;                    ],&#13;&#10;                ]}&#13;&#10;            /&gt;&#13;&#10;        &lt;/Box&gt;&#13;&#10;&#13;&#10;        {/* 结论条 */}&#13;&#10;        &lt;Box style={{ height: 84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balance-scale' style={{ fill: '#FFFFFF', width: 22, height: 22 }} /&gt;&#13;&#10;            &lt;/Box&gt;&#13;&#10;            &lt;Box style={{ flex: 1 }}&gt;&#13;&#10;                &lt;Text style={{ fontSize: 18, fontWeight: 'bold', color: '#0E3F8C' }}&gt;可行性判断&lt;/Text&gt;&#13;&#10;                &lt;Text style={{ fontSize: 16, color: '#1A2230', lineHeight: 1.55, marginTop: 2 }}&gt;技术上已实现并有证据链；资源上单机可复现；主要风险集中在外部模型漂移与评测强度，均已给出缓解手段与披露方式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6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1619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可行性分析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06 / 06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81000" y="1371600"/>
            <a:ext cx="5619750" cy="2057400"/>
          </a:xfrm>
          <a:prstGeom prst="roundRect">
            <a:avLst>
              <a:gd name="adj" fmla="val 46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609600" y="1562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657350"/>
            <a:ext cx="190500" cy="190500"/>
          </a:xfrm>
          <a:prstGeom prst="rect">
            <a:avLst/>
          </a:prstGeom>
          <a:ln/>
        </p:spPr>
      </p:pic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04900" y="1619250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技术可行性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09600" y="2057400"/>
            <a:ext cx="5162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四项机制均已落地为可运行代码并留有验收证据；模型、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Reranker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使用真实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，订单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仓库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财务为可审计的商家模拟系统。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609600" y="306705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结论：技术路径已验证，非纸面设计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6191250" y="1371600"/>
            <a:ext cx="5619750" cy="2057400"/>
          </a:xfrm>
          <a:prstGeom prst="roundRect">
            <a:avLst>
              <a:gd name="adj" fmla="val 463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419850" y="1562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15100" y="1657350"/>
            <a:ext cx="190500" cy="190500"/>
          </a:xfrm>
          <a:prstGeom prst="rect">
            <a:avLst/>
          </a:pr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915150" y="1619250"/>
            <a:ext cx="1095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E3F8C"/>
                </a:solidFill>
                <a:latin typeface="Microsoft YaHei"/>
                <a:ea typeface="Microsoft YaHei"/>
              </a:rPr>
              <a:t>资源可行性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419850" y="2057400"/>
            <a:ext cx="51625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单机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Docker Compose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即可完整复现；依赖锁文件与镜像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digest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冻结；模型推理在远端，本机无需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GPU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3050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未承担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LLM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计算。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419850" y="306705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E4FA8"/>
                </a:solidFill>
                <a:latin typeface="Microsoft YaHei"/>
                <a:ea typeface="Microsoft YaHei"/>
              </a:rPr>
              <a:t>结论：单机可复现，无专用硬件门槛</a:t>
            </a:r>
            <a:endParaRPr/>
          </a:p>
        </p:txBody>
      </p:sp>
      <p:graphicFrame>
        <p:nvGraphicFramePr>
          <p:cNvPr id="328" name=""/>
          <p:cNvGraphicFramePr/>
          <p:nvPr/>
        </p:nvGraphicFramePr>
        <p:xfrm rot="0" flipH="0" flipV="0">
          <a:off x="381000" y="3543300"/>
          <a:ext cx="11430000" cy="1866900"/>
        </p:xfrm>
        <a:graphic>
          <a:graphicData uri="http://schemas.openxmlformats.org/drawingml/2006/table">
            <a:tbl>
              <a:tblGrid>
                <a:gridCol w="2237605">
                  <a:extLst>
                    <a:ext uri="{9D8B030D-6E8A-4147-A177-3AD203B41FA5}">
                      <a16:colId val="1"/>
                    </a:ext>
                  </a:extLst>
                </a:gridCol>
                <a:gridCol w="1761808">
                  <a:extLst>
                    <a:ext uri="{9D8B030D-6E8A-4147-A177-3AD203B41FA5}">
                      <a16:colId val="2"/>
                    </a:ext>
                  </a:extLst>
                </a:gridCol>
                <a:gridCol w="7430588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9204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主要风险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影响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缓解措施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外部模型 revision 漂移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结果不可逐字复现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provider 白名单 + fallback；冻结 schedule 与评分器；披露 provider mix 差异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评测无独立人工盲审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结论强度受限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标注为探索性证据，未达标项如实交付、不修饰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单宿主单实例部署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无跨故障域 HA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明确交付边界；同宿主接管仅作工程演练，不外推为 HA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6871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商家账本为模拟系统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不能外推生产效果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不宣称生产商家 SLA，真实商家接入列为后续项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29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可行性判断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219200" y="58959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技术上已实现并有证据链；资源上单机可复现；主要风险集中在外部模型漂移与评测强度，均已给出缓解手段与披露方式。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38" name=""/>
          <p:cNvPicPr>
            <a:picLocks noChangeAspect="1"/>
          </p:cNvPicPr>
          <p:nvPr/>
        </p:nvPicPr>
        <p:blipFill>
          <a:blip r:embed="rId4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33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42" name="" descr="&lt;Slide style={{ width: 1280, height: 720, background: '#FFFFFF', position: 'relative', fontFamily: 'Microsoft YaHei', padding: '88px 40px 56px 40px' }}&gt;&#13;&#10;    {/* A 页眉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B 标题块 */}&#13;&#10;    &lt;Box style={{ flexDirection: 'row', alignItems: 'center', height: 40 }}&gt;&#13;&#10;        &lt;Box style={{ width: 6, height: 34, background: '#1E4FA8', borderRadius: 3, marginRight: 12 }} /&gt;&#13;&#10;        &lt;Text style={{ fontSize: 34, fontWeight: 'bold', color: '#0E3F8C' }}&gt;进度安排与预期成果&lt;/Text&gt;&#13;&#10;        &lt;Text style={{ fontSize: 15, color: '#8B97A8', marginLeft: 'auto' }}&gt;06 / 06&lt;/Text&gt;&#13;&#10;    &lt;/Box&gt;&#13;&#10;&#13;&#10;    {/* C 内容区 */}&#13;&#10;    &lt;Box style={{ flexDirection: 'column', gap: 12, marginTop: 16, height: 520 }}&gt;&#13;&#10;        {/* 十步时间轴 */}&#13;&#10;        &lt;Box style={{ flexDirection: 'column', gap: 12, height: 156 }}&gt;&#13;&#10;            &lt;Box style={{ flexDirection: 'row', gap: 12, height: 72 }}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1&lt;/Text&gt;&#13;&#10;                        &lt;/Box&gt;&#13;&#10;                        &lt;Text style={{ fontSize: 15, fontWeight: 'bold', color: '#0E3F8C' }}&gt;基础设施与安全基线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2&lt;/Text&gt;&#13;&#10;                        &lt;/Box&gt;&#13;&#10;                        &lt;Text style={{ fontSize: 15, fontWeight: 'bold', color: '#0E3F8C' }}&gt;Agent 核心与契约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3&lt;/Text&gt;&#13;&#10;                        &lt;/Box&gt;&#13;&#10;                        &lt;Text style={{ fontSize: 15, fontWeight: 'bold', color: '#0E3F8C' }}&gt;工具与业务效果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4&lt;/Text&gt;&#13;&#10;                        &lt;/Box&gt;&#13;&#10;                        &lt;Text style={{ fontSize: 15, fontWeight: 'bold', color: '#0E3F8C' }}&gt;上下文与记忆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5&lt;/Text&gt;&#13;&#10;                        &lt;/Box&gt;&#13;&#10;                        &lt;Text style={{ fontSize: 15, fontWeight: 'bold', color: '#0E3F8C' }}&gt;安全与沙箱&lt;/Text&gt;&#13;&#10;                    &lt;/Box&gt;&#13;&#10;                    &lt;Text style={{ fontSize: 13, color: '#1E4FA8', marginTop: 6 }}&gt;已完成&lt;/Text&gt;&#13;&#10;                &lt;/Box&gt;&#13;&#10;            &lt;/Box&gt;&#13;&#10;&#13;&#10;            &lt;Box style={{ flexDirection: 'row', gap: 12, height: 72 }}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6&lt;/Text&gt;&#13;&#10;                        &lt;/Box&gt;&#13;&#10;                        &lt;Text style={{ fontSize: 15, fontWeight: 'bold', color: '#0E3F8C' }}&gt;React 工作台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7&lt;/Text&gt;&#13;&#10;                        &lt;/Box&gt;&#13;&#10;                        &lt;Text style={{ fontSize: 15, fontWeight: 'bold', color: '#0E3F8C' }}&gt;评测协议与黄金集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8&lt;/Text&gt;&#13;&#10;                        &lt;/Box&gt;&#13;&#10;                        &lt;Text style={{ fontSize: 15, fontWeight: 'bold', color: '#0E3F8C' }}&gt;真实模型对比实验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F0F5FC', border: '1px solid #C9DCF5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9&lt;/Text&gt;&#13;&#10;                        &lt;/Box&gt;&#13;&#10;                        &lt;Text style={{ fontSize: 15, fontWeight: 'bold', color: '#0E3F8C' }}&gt;四项深化技术&lt;/Text&gt;&#13;&#10;                    &lt;/Box&gt;&#13;&#10;                    &lt;Text style={{ fontSize: 13, color: '#1E4FA8', marginTop: 6 }}&gt;已完成&lt;/Text&gt;&#13;&#10;                &lt;/Box&gt;&#13;&#10;                &lt;Box style={{ width: 230, background: '#E8EFF8', border: '1px solid #1E4FA8', borderRadius: 8, padding: '10px 14px', flexDirection: 'column' }}&gt;&#13;&#10;                    &lt;Box style={{ flexDirection: 'row', alignItems: 'center', gap: 8 }}&gt;&#13;&#10;                        &lt;Box style={{ width: 22, height: 22, borderRadius: 11, background: '#1E4FA8', justifyContent: 'center', alignItems: 'center' }}&gt;&#13;&#10;                            &lt;Text style={{ fontSize: 12, fontWeight: 'bold', color: '#FFFFFF', lineHeight: 1.2 }}&gt;10&lt;/Text&gt;&#13;&#10;                        &lt;/Box&gt;&#13;&#10;                        &lt;Text style={{ fontSize: 15, fontWeight: 'bold', color: '#0E3F8C' }}&gt;交付验收与连续运行&lt;/Text&gt;&#13;&#10;                    &lt;/Box&gt;&#13;&#10;                    &lt;Text style={{ fontSize: 13, color: '#1E4FA8', marginTop: 6 }}&gt;已完成&lt;/Text&gt;&#13;&#10;                &lt;/Box&gt;&#13;&#10;            &lt;/Box&gt;&#13;&#10;        &lt;/Box&gt;&#13;&#10;&#13;&#10;        {/* 预期成果 / 交付边界 */}&#13;&#10;        &lt;Box style={{ flexDirection: 'row', gap: 20, height: 256 }}&gt;&#13;&#10;            &lt;Box style={{ width: 700, background: '#F7F9FC', border: '1px solid #D6DCE5', borderRadius: 10, padding: '20px 24px', flexDirection: 'column' }}&gt;&#13;&#10;                &lt;Text style={{ fontSize: 22, fontWeight: 'bold', color: '#0E3F8C' }}&gt;预期成果&lt;/Text&gt;&#13;&#10;                &lt;Box style={{ flexDirection: 'column', gap: 6, marginTop: 12 }}&gt;&#13;&#10;                    &lt;Box style={{ flexDirection: 'row', gap: 12, alignItems: 'center' }}&gt;&#13;&#10;                        &lt;FAIcon name='check-circle' style={{ fill: '#1E4FA8', width: 18, height: 18 }} /&gt;&#13;&#10;                        &lt;Text style={{ fontSize: 16, color: '#1A2230' }}&gt;可运行的全栈 MVP 与本地部署 / 运维手册&lt;/Text&gt;&#13;&#10;                    &lt;/Box&gt;&#13;&#10;                    &lt;Box style={{ flexDirection: 'row', gap: 12, alignItems: 'center' }}&gt;&#13;&#10;                        &lt;FAIcon name='check-circle' style={{ fill: '#1E4FA8', width: 18, height: 18 }} /&gt;&#13;&#10;                        &lt;Text style={{ fontSize: 16, color: '#1A2230' }}&gt;四项深化机制的实现代码与逐项验收证据&lt;/Text&gt;&#13;&#10;                    &lt;/Box&gt;&#13;&#10;                    &lt;Box style={{ flexDirection: 'row', gap: 12, alignItems: 'center' }}&gt;&#13;&#10;                        &lt;FAIcon name='check-circle' style={{ fill: '#1E4FA8', width: 18, height: 18 }} /&gt;&#13;&#10;                        &lt;Text style={{ fontSize: 16, color: '#1A2230' }}&gt;冻结评测协议、黄金集与可复现实验脚本&lt;/Text&gt;&#13;&#10;                    &lt;/Box&gt;&#13;&#10;                    &lt;Box style={{ flexDirection: 'row', gap: 12, alignItems: 'center' }}&gt;&#13;&#10;                        &lt;FAIcon name='check-circle' style={{ fill: '#1E4FA8', width: 18, height: 18 }} /&gt;&#13;&#10;                        &lt;Text style={{ fontSize: 16, color: '#1A2230' }}&gt;量化效果结论（含未达标项）与交付边界说明&lt;/Text&gt;&#13;&#10;                    &lt;/Box&gt;&#13;&#10;                &lt;/Box&gt;&#13;&#10;            &lt;/Box&gt;&#13;&#10;&#13;&#10;            &lt;Box style={{ width: 480, background: '#FFFFFF', border: '1px solid #D6DCE5', borderRadius: 10, padding: '20px 24px', flexDirection: 'column' }}&gt;&#13;&#10;                &lt;Text style={{ fontSize: 22, fontWeight: 'bold', color: '#0E3F8C' }}&gt;交付边界&lt;/Text&gt;&#13;&#10;                &lt;Box style={{ flexDirection: 'column', gap: 6, marginTop: 12 }}&gt;&#13;&#10;                    &lt;Box style={{ flexDirection: 'row', gap: 12, alignItems: 'center' }}&gt;&#13;&#10;                        &lt;FAIcon name='minus-circle' style={{ fill: '#D9534F', width: 18, height: 18 }} /&gt;&#13;&#10;                        &lt;Text style={{ fontSize: 16, color: '#1A2230' }}&gt;商家订单 / 仓库 / 财务为模拟系统&lt;/Text&gt;&#13;&#10;                    &lt;/Box&gt;&#13;&#10;                    &lt;Box style={{ flexDirection: 'row', gap: 12, alignItems: 'center' }}&gt;&#13;&#10;                        &lt;FAIcon name='minus-circle' style={{ fill: '#D9534F', width: 18, height: 18 }} /&gt;&#13;&#10;                        &lt;Text style={{ fontSize: 16, color: '#1A2230' }}&gt;组织 IdP、生产 TLS 与异地备份未验收&lt;/Text&gt;&#13;&#10;                    &lt;/Box&gt;&#13;&#10;                    &lt;Box style={{ flexDirection: 'row', gap: 12, alignItems: 'center' }}&gt;&#13;&#10;                        &lt;FAIcon name='minus-circle' style={{ fill: '#D9534F', width: 18, height: 18 }} /&gt;&#13;&#10;                        &lt;Text style={{ fontSize: 16, color: '#1A2230' }}&gt;单宿主单实例，非跨故障域 HA&lt;/Text&gt;&#13;&#10;                    &lt;/Box&gt;&#13;&#10;                    &lt;Box style={{ flexDirection: 'row', gap: 12, alignItems: 'center' }}&gt;&#13;&#10;                        &lt;FAIcon name='minus-circle' style={{ fill: '#D9534F', width: 18, height: 18 }} /&gt;&#13;&#10;                        &lt;Text style={{ fontSize: 16, color: '#1A2230' }}&gt;知识库仅支持 UTF-8 TXT / Markdown&lt;/Text&gt;&#13;&#10;                    &lt;/Box&gt;&#13;&#10;                &lt;/Box&gt;&#13;&#10;            &lt;/Box&gt;&#13;&#10;        &lt;/Box&gt;&#13;&#10;&#13;&#10;        {/* 下一步 */}&#13;&#10;        &lt;Box style={{ height: 84, background: '#F0F5FC', border: '1px solid #C9DCF5', borderRadius: 10, padding: '0 26px', flexDirection: 'row', alignItems: 'center', gap: 18 }}&gt;&#13;&#10;            &lt;Box style={{ width: 44, height: 44, borderRadius: 10, background: '#1E4FA8', justifyContent: 'center', alignItems: 'center' }}&gt;&#13;&#10;                &lt;FAIcon name='arrow-right' style={{ fill: '#FFFFFF', width: 22, height: 22 }} /&gt;&#13;&#10;            &lt;/Box&gt;&#13;&#10;            &lt;Box style={{ flex: 1 }}&gt;&#13;&#10;                &lt;Text style={{ fontSize: 18, fontWeight: 'bold', color: '#0E3F8C' }}&gt;后续升级项（由明确需求触发）&lt;/Text&gt;&#13;&#10;                &lt;Text style={{ fontSize: 16, color: '#1A2230', lineHeight: 1.55, marginTop: 2 }}&gt;真实商家接入、组织 IdP 与生产 TLS、多机数据库 HA 与异地加密备份、PDF / DOCX 解析，以及独立人工盲审。&lt;/Text&gt;&#13;&#10;            &lt;/Box&gt;&#13;&#10;        &lt;/Box&gt;&#13;&#10;    &lt;/Box&gt;&#13;&#10;&#13;&#10;    {/* D 页脚 */}&#13;&#10;    &lt;Box style={{ position: 'absolute', bottom: 0, left: 0, width: 1280, height: 56, padding: '0 40px', flexDirection: 'row', alignItems: 'center', justifyContent: 'space-between', borderTop: '1px solid #E5E7EB' }}&gt;&#13;&#10;        &lt;Text style={{ fontSize: 14, color: '#8B97A8' }}&gt;北京交通大学 · 软件工程（专硕）&lt;/Text&gt;&#13;&#10;        &lt;Text style={{ fontSize: 14, color: '#0E3F8C', fontWeight: 'bold' }}&gt;17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进度安排与预期成果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325225" y="9429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Microsoft YaHei"/>
                <a:ea typeface="Microsoft YaHei"/>
              </a:rPr>
              <a:t>06 / 06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381000" y="13716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48" name=""/>
          <p:cNvSpPr/>
          <p:nvPr/>
        </p:nvSpPr>
        <p:spPr>
          <a:xfrm rot="0" flipH="0" flipV="0">
            <a:off x="5143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58102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00100" y="14859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基础设施与安全基线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514350" y="17335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2686050" y="13716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281940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288607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105150" y="1485900"/>
            <a:ext cx="1200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Agent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核心与契约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2819400" y="17335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4991100" y="13716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51244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19112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5410200" y="1485900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工具与业务效果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5124450" y="17335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7296150" y="13716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63" name=""/>
          <p:cNvSpPr/>
          <p:nvPr/>
        </p:nvSpPr>
        <p:spPr>
          <a:xfrm rot="0" flipH="0" flipV="0">
            <a:off x="742950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749617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7715250" y="14859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上下文与记忆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7429500" y="17335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9601200" y="13716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97345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9801225" y="14859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0020300" y="148590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安全与沙箱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9734550" y="17335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381000" y="21717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5143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58102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866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React </a:t>
            </a: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工作台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14350" y="25336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2686050" y="21717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281940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88607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105150" y="22860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评测协议与黄金集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2819400" y="25336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991100" y="21717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51244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19112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410200" y="2286000"/>
            <a:ext cx="114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真实模型对比实验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5124450" y="25336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296150" y="21717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88" name=""/>
          <p:cNvSpPr/>
          <p:nvPr/>
        </p:nvSpPr>
        <p:spPr>
          <a:xfrm rot="0" flipH="0" flipV="0">
            <a:off x="742950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496175" y="2286000"/>
            <a:ext cx="76200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715250" y="22860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四项深化技术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429500" y="25336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9601200" y="2171700"/>
            <a:ext cx="219075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97345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9772650" y="2286000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0020300" y="2286000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E3F8C"/>
                </a:solidFill>
                <a:latin typeface="Microsoft YaHei"/>
                <a:ea typeface="Microsoft YaHei"/>
              </a:rPr>
              <a:t>交付验收与连续运行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9734550" y="2533650"/>
            <a:ext cx="1924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381000" y="2971800"/>
            <a:ext cx="6667500" cy="2438400"/>
          </a:xfrm>
          <a:prstGeom prst="roundRect">
            <a:avLst>
              <a:gd name="adj" fmla="val 390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预期成果</a:t>
            </a:r>
            <a:endParaRPr/>
          </a:p>
        </p:txBody>
      </p:sp>
      <p:pic>
        <p:nvPicPr>
          <p:cNvPr id="3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3543300"/>
            <a:ext cx="171450" cy="171450"/>
          </a:xfrm>
          <a:prstGeom prst="rect">
            <a:avLst/>
          </a:prstGeom>
          <a:ln/>
        </p:spPr>
      </p:pic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95350" y="3533775"/>
            <a:ext cx="2886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可运行的全栈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MVP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与本地部署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运维手册</a:t>
            </a:r>
            <a:endParaRPr/>
          </a:p>
        </p:txBody>
      </p:sp>
      <p:pic>
        <p:nvPicPr>
          <p:cNvPr id="4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3790950"/>
            <a:ext cx="171450" cy="171450"/>
          </a:xfrm>
          <a:prstGeom prst="rect">
            <a:avLst/>
          </a:prstGeom>
          <a:ln/>
        </p:spPr>
      </p:pic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95350" y="378142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四项深化机制的实现代码与逐项验收证据</a:t>
            </a:r>
            <a:endParaRPr/>
          </a:p>
        </p:txBody>
      </p:sp>
      <p:pic>
        <p:nvPicPr>
          <p:cNvPr id="4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038600"/>
            <a:ext cx="171450" cy="171450"/>
          </a:xfrm>
          <a:prstGeom prst="rect">
            <a:avLst/>
          </a:prstGeom>
          <a:ln/>
        </p:spPr>
      </p:pic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95350" y="4029075"/>
            <a:ext cx="2743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冻结评测协议、黄金集与可复现实验脚本</a:t>
            </a:r>
            <a:endParaRPr/>
          </a:p>
        </p:txBody>
      </p:sp>
      <p:pic>
        <p:nvPicPr>
          <p:cNvPr id="4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286250"/>
            <a:ext cx="171450" cy="171450"/>
          </a:xfrm>
          <a:prstGeom prst="rect">
            <a:avLst/>
          </a:prstGeom>
          <a:ln/>
        </p:spPr>
      </p:pic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95350" y="4276725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量化效果结论（含未达标项）与交付边界说明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7239000" y="2971800"/>
            <a:ext cx="4572000" cy="24384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467600" y="3162300"/>
            <a:ext cx="411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交付边界</a:t>
            </a:r>
            <a:endParaRPr/>
          </a:p>
        </p:txBody>
      </p:sp>
      <p:pic>
        <p:nvPicPr>
          <p:cNvPr id="4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67600" y="3543300"/>
            <a:ext cx="171450" cy="171450"/>
          </a:xfrm>
          <a:prstGeom prst="rect">
            <a:avLst/>
          </a:prstGeom>
          <a:ln/>
        </p:spPr>
      </p:pic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753350" y="3533775"/>
            <a:ext cx="2295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商家订单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仓库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财务为模拟系统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67600" y="3790950"/>
            <a:ext cx="171450" cy="171450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7753350" y="3781425"/>
            <a:ext cx="2609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组织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IdP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、生产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TLS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与异地备份未验收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67600" y="4038600"/>
            <a:ext cx="171450" cy="17145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753350" y="4029075"/>
            <a:ext cx="210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单宿主单实例，非跨故障域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</a:t>
            </a:r>
            <a:endParaRPr/>
          </a:p>
        </p:txBody>
      </p:sp>
      <p:pic>
        <p:nvPicPr>
          <p:cNvPr id="4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67600" y="4286250"/>
            <a:ext cx="171450" cy="171450"/>
          </a:xfrm>
          <a:prstGeom prst="rect">
            <a:avLst/>
          </a:prstGeom>
          <a:ln/>
        </p:spPr>
      </p:pic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753350" y="4276725"/>
            <a:ext cx="2657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知识库仅支持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UTF-8 TXT / Markdown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4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后续升级项（由明确需求触发）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219200" y="5895975"/>
            <a:ext cx="10344150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真实商家接入、组织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IdP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与生产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TLS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、多机数据库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 HA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与异地加密备份、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 xml:space="preserve">PDF / DOCX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解析，以及独立人工盲审。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6" name=""/>
          <p:cNvPicPr>
            <a:picLocks noChangeAspect="1"/>
          </p:cNvPicPr>
          <p:nvPr/>
        </p:nvPicPr>
        <p:blipFill>
          <a:blip r:embed="rId4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42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1334750" y="65151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30" name="" descr="&lt;Slide style={{ width: 1280, height: 720, background: '#FFFFFF', position: 'relative', fontFamily: 'Microsoft YaHei', padding: '64px 0 72px 0' }}&gt;&#13;&#10;    {/* 顶部深蓝条 */}&#13;&#10;    &lt;Box style={{ position: 'absolute', top: 0, left: 0, width: 1280, height: 64, background: '#0E3F8C', flexDirection: 'row', alignItems: 'center', justifyContent: 'space-between', padding: '0 0 0 40px' }}&gt;&#13;&#10;        &lt;Text style={{ fontSize: 16, color: '#FFFFFF', letterSpacing: 2 }}&gt;网络计算与边缘智能 · 开题答辩&lt;/Text&gt;&#13;&#10;        &lt;Box style={{ flexDirection: 'row', alignItems: 'center' }}&gt;&#13;&#10;            &lt;Text style={{ fontSize: 14, color: '#B9CDEA', marginRight: 22 }}&gt;电商 L4 级智能客服 Agent 系统&lt;/Text&gt;&#13;&#10;            &lt;Box style={{ width: 190, height: 64, background: '#FFFFFF', justifyContent: 'center', alignItems: 'center' }}&gt;&#13;&#10;                &lt;Image src=&quot;assets/bjtu_logo.png&quot; style={{ width: 166, height: 48, objectFit: 'contain' }} /&gt;&#13;&#10;            &lt;/Box&gt;&#13;&#10;        &lt;/Box&gt;&#13;&#10;    &lt;/Box&gt;&#13;&#10;&#13;&#10;    {/* 主体 */}&#13;&#10;    &lt;Box style={{ flexDirection: 'column', alignItems: 'center', padding: '52px 120px 0 120px' }}&gt;&#13;&#10;        &lt;Text style={{ fontSize: 46, fontWeight: 'bold', color: '#0E3F8C', letterSpacing: 5 }}&gt;敬请各位老师批评指正&lt;/Text&gt;&#13;&#10;        &lt;Text style={{ fontFamily: 'Times New Roman', fontSize: 20, color: '#3D7BD9', letterSpacing: 2, marginTop: 12 }}&gt;Thank you — questions and comments are welcome&lt;/Text&gt;&#13;&#10;        &lt;Box style={{ width: 120, height: 5, background: '#1E4FA8', borderRadius: 3, marginTop: 26 }} /&gt;&#13;&#10;        &lt;Text style={{ fontSize: 18, color: '#4A5568', lineHeight: 1.8, marginTop: 24, textAlign: 'center' }}&gt;感谢高博老师的悉心指导，感谢王富祥、曹树桐两位同学的协作，也感谢课程组提供的学习机会。&lt;/Text&gt;&#13;&#10;&#13;&#10;        &lt;Box style={{ width: 1040, background: '#F7F9FC', border: '1px solid #D6DCE5', borderRadius: 10, padding: '18px 24px', marginTop: 24, flexDirection: 'column', gap: 6 }}&gt;&#13;&#10;            &lt;Text style={{ fontSize: 17, fontWeight: 'bold', color: '#0E3F8C' }}&gt;主要参考来源&lt;/Text&gt;&#13;&#10;            &lt;Text style={{ fontSize: 15, color: '#4A5568', lineHeight: 1.6 }}&gt;1. 项目仓库文档：README.md、docs/architecture/step10-delivered-system.md、docs/evaluation/step10-final-v6-quantitative-review.md（2026-10-11）。&lt;/Text&gt;&#13;&#10;            &lt;Text style={{ fontSize: 15, color: '#4A5568', lineHeight: 1.6 }}&gt;2. IDC 数据：2025 年中国企业级智能客服市场规模 71.9 亿元、同比增长 55.3%（2026 年报道）。&lt;/Text&gt;&#13;&#10;            &lt;Text style={{ fontSize: 15, color: '#4A5568', lineHeight: 1.6 }}&gt;3. 中国信通院《智能体技术和应用研究报告（2025 年）》：认知规划能力、场景创新与安全治理仍待解决。&lt;/Text&gt;&#13;&#10;            &lt;Text style={{ fontSize: 15, color: '#4A5568', lineHeight: 1.6 }}&gt;4. LangGraph、MCP（Model Context Protocol）与 AG-UI 官方文档及协议规范。&lt;/Text&gt;&#13;&#10;            &lt;Text style={{ fontSize: 15, color: '#4A5568', lineHeight: 1.6 }}&gt;5. 模型与检索 API：OpenRouter deepseek/deepseek-v4.1-flash；阿里云百炼 text-embedding-v4 与 qwen3-rerank。&lt;/Text&gt;&#13;&#10;        &lt;/Box&gt;&#13;&#10;    &lt;/Box&gt;&#13;&#10;&#13;&#10;    {/* 底部信息条 */}&#13;&#10;    &lt;Box style={{ position: 'absolute', bottom: 0, left: 0, width: 1280, height: 72, background: '#F7F9FC', borderTop: '1px solid #D6DCE5', flexDirection: 'row', alignItems: 'center', justifyContent: 'space-between', padding: '0 44px' }}&gt;&#13;&#10;        &lt;Text style={{ fontSize: 16, color: '#4A5568', letterSpacing: 1 }}&gt;北京交通大学 · 软件工程（专硕）&lt;/Text&gt;&#13;&#10;        &lt;Text style={{ fontSize: 16, color: '#0E3F8C', fontWeight: 'bold', letterSpacing: 1 }}&gt;2026 年 10 月&lt;/Text&gt;&#13;&#10;        &lt;Text style={{ fontSize: 15, color: '#0E3F8C', fontWeight: 'bold' }}&gt;18 / 18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3667125" y="1104900"/>
            <a:ext cx="48577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375">
                <a:solidFill>
                  <a:srgbClr val="0E3F8C"/>
                </a:solidFill>
                <a:latin typeface="Microsoft YaHei"/>
                <a:ea typeface="Microsoft YaHei"/>
              </a:rPr>
              <a:t>敬请各位老师批评指正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3657600" y="17526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3D7BD9"/>
                </a:solidFill>
                <a:latin typeface="Times New Roman"/>
                <a:ea typeface="Times New Roman"/>
              </a:rPr>
              <a:t>Thank you — questions and comments are welcome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5524500" y="2228850"/>
            <a:ext cx="1143000" cy="47625"/>
          </a:xfrm>
          <a:prstGeom prst="roundRect">
            <a:avLst>
              <a:gd name="adj" fmla="val 6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2409825" y="2505075"/>
            <a:ext cx="737235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8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感谢高博老师的悉心指导，感谢王富祥、曹树桐两位同学的协作，也感谢课程组提供的学习机会。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1143000" y="3105150"/>
            <a:ext cx="9906000" cy="2486025"/>
          </a:xfrm>
          <a:prstGeom prst="roundRect">
            <a:avLst>
              <a:gd name="adj" fmla="val 383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371600" y="3276600"/>
            <a:ext cx="944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主要参考来源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371600" y="3533775"/>
            <a:ext cx="9448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项目仓库文档：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README.md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docs/architecture/step10-delivered-system.md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docs/evaluation/step10-final-v6-quantitative-review.md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2026-10-11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1371600" y="414337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2. IDC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年中国企业级智能客服市场规模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71.9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亿元、同比增长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55.3%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年报道）。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371600" y="447675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3.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中国信通院《智能体技术和应用研究报告（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2025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年）》：认知规划能力、场景创新与安全治理仍待解决。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1371600" y="481012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4. LangGraph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MCP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Model Context Protocol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）与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AG-UI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官方文档及协议规范。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371600" y="514350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5.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模型与检索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OpenRouter deepseek/deepseek-v4.1-flash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；阿里云百炼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text-embedding-v4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qwen3-rerank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2419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网络计算与边缘智能</a:t>
            </a:r>
            <a:r>
              <a:rPr lang="en-US" sz="1200" spc="15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150">
                <a:solidFill>
                  <a:srgbClr val="FFFFFF"/>
                </a:solidFill>
                <a:latin typeface="Microsoft YaHei"/>
                <a:ea typeface="Microsoft YaHei"/>
              </a:rPr>
              <a:t>开题答辩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277225" y="2286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电商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L4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级智能客服</a:t>
            </a:r>
            <a:r>
              <a:rPr lang="en-US" sz="1050">
                <a:solidFill>
                  <a:srgbClr val="B9CDEA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B9CDEA"/>
                </a:solidFill>
                <a:latin typeface="Microsoft YaHei"/>
                <a:ea typeface="Microsoft YaHei"/>
              </a:rPr>
              <a:t>系统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4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448" name=""/>
          <p:cNvSpPr/>
          <p:nvPr/>
        </p:nvSpPr>
        <p:spPr>
          <a:xfrm rot="0" flipH="0" flipV="0">
            <a:off x="0" y="6181725"/>
            <a:ext cx="12192000" cy="676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0" y="6172200"/>
            <a:ext cx="12192000" cy="685800"/>
          </a:xfrm>
          <a:custGeom>
            <a:pathLst>
              <a:path w="1280" h="7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19100" y="6429375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4A5568"/>
                </a:solidFill>
                <a:latin typeface="Microsoft YaHei"/>
                <a:ea typeface="Microsoft YaHei"/>
              </a:rPr>
              <a:t>北京交通大学</a:t>
            </a:r>
            <a:r>
              <a:rPr lang="en-US" sz="1200" spc="7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4A5568"/>
                </a:solidFill>
                <a:latin typeface="Microsoft YaHei"/>
                <a:ea typeface="Microsoft YaHei"/>
              </a:rPr>
              <a:t>软件工程（专硕）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6496050" y="6429375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200" b="1" spc="75">
                <a:solidFill>
                  <a:srgbClr val="0E3F8C"/>
                </a:solidFill>
                <a:latin typeface="Microsoft YaHei"/>
                <a:ea typeface="Microsoft YaHei"/>
              </a:rPr>
              <a:t>年</a:t>
            </a:r>
            <a:r>
              <a:rPr lang="en-US" sz="1200" b="1" spc="75">
                <a:solidFill>
                  <a:srgbClr val="0E3F8C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 b="1" spc="75">
                <a:solidFill>
                  <a:srgbClr val="0E3F8C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11258550" y="6438900"/>
            <a:ext cx="514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2026-10-13T22:43:45Z</dcterms:created>
  <dcterms:modified xsi:type="dcterms:W3CDTF">2026-10-13T22:43:45Z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{"AIGC":{"Label":"1","ContentProducer":"00119111010856365494821B355","ProduceID":"01a13585d3cd78b6b03351f483a2ebe0","ReservedCode1":"","ContentPropagator":"00119111010856365494821B355","PropagateID":"01a13585d3cd78b6b03351f483a2ebe0","ReservedCode2":""}}</vt:lpwstr>
  </property>
</Properties>
</file>